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7 — this is the session you have been climbing toward all camp. Before we start, drop your Week 6 deliverable in the chat: the AI literature map plus your verification log. Got it? Good. Now here is what today is. For six weeks you have been a consumer of research. You learned probability, then regression, then two full weeks of causal design, and then you learned to read the frontier — first by hand, then with AI. Today you stop consuming and start producing. By two o'clock, every one of you walks out with a one-page design for your own study. Not results — we are not running anything today. A design. And here is the bar we hold it to: a plan honest enough that even a null result, a finding of nothing, would still teach us something. That is what separates a real study from fishing. Let's go build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find ourselves on the map. Weeks one through four built your toolkit — probability, the OLS engine, and two full weeks of causal design. Weeks five and six taught you to read the frontier, first by hand and then with AI as an accelerant. Every one of those weeks was about consuming what other people made. Today, Week 7, the arrow flips. This is Research Project One, where you take the topic and the literature map you have been building and turn them into your own empirical design. Next week, Week 8, you execute it. So notice the tagline on the slide: you have read the frontier — now you plant your flag on it. Everything you have learned was preparation for exactly this moment. The skills weeks are behind you. From here on you are the researcher, and the work on the screen is your work, not somebody else's.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pivot in one picture. On the left, six weeks of input. You consumed — the toolkit, the paper teardown, the verified literature map. That was you learning to judge other people's research. Today, in the middle, the arrow turns: you produce. You take all of that judgment and point it at a question of your own. And on the right is the bar, the single standard I want you to hold your design to all day: it has to be honest enough that a null result — finding nothing — would still be informative. Think about what that means. If the only way your project is interesting is if you get a big, significant effect, then you are not doing science, you are hoping. A good design tells us something whether the effect is there or not. That is the target. Everything in the next two hours is about getting your project to clear that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Block A. Before you can plan a study, you have to turn a vague interest into a sharp, answerable question — and then into a design. This is where most projects quietly live or die, and it happens in the first ten minutes of thinking, not the last. I am going to give you four tools. A filter that kills weak questions in ninety seconds. A two-by-two that tells you which surviving questions are actually worth your two weeks. A map that takes your question down to a real dataset. And then the single most important sentence you will write all camp — your identifying assumption. The goal is not a perfect question. It is a researchable one you can actually build in the time you have. Let's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tool: the so-what filter. Most research ideas are bad, and that is fine — the skill is killing the bad ones fast so you can spend your energy on a good one. Run every idea through three questions. One: is the answer already known? If a quick search shows five papers already nailed it, move on. Two: would anyone actually change a decision if they knew the answer? If nobody — no investor, regulator, manager, nobody — would do anything differently, it is trivia, not research. Three: can you actually measure both the cause and the effect? A beautiful question about something you cannot observe is a dead end. An idea that survives all three questions is worth your two weeks. An idea that fails any one of them, you drop right now, in ninety seconds, with no regret. Be ruthless here — it is the cheapest place in the whole project to say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tool: the feasibility-by-novelty two-by-two. Put novelty on one axis — is this a fresh question or a done question — and feasibility on the other — can you actually get the data. That gives four boxes. Top right is where you want to live: feasible and fresh. A new question you can actually answer with data you can actually get. Top left is been-done: clean, easy data, but no new question — you would just be re-running someone's paper. Bottom right is the trap that catches ambitious students: heroic data. A gorgeous, important question that needs data no undergraduate can get in two weeks. And the bottom left you just skip. Your job today is to move your idea into that top-right box. Sometimes that means shrinking a heroic question down to a feasible slice of it. A smaller question you can actually answer beats a grand one you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tool: the cast-to-dataset map. Take your question and pull out three things — who or what is it about, what is the outcome you care about, and when does the action happen. Then, for each one, name the actual dataset. Who: firms, individuals, municipalities — that is your unit and your identifier. What: the outcome variable, and which source has it. When: the event or the timing, and where those dates live. Watch how this works on Rainbow. Who: municipal bond issuers. What: their borrowing costs, from bond pricing data. When: the dates states adopted same-sex-marriage bans, from legislative and court records. Here is the hard rule that makes this tool bite: if you cannot name the dataset — the actual file, the actual source — you do not yet have a project. You have a wish. Naming the data is what turns a topic into something you can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most important sentence you will write all camp — your identifying assumption. Every credible empirical paper has one, stated or not, and today you make yours explicit. Here is the template on the screen, and I want you to fill in every blank. Comparing my treated units to my controls, my estimate of the effect is causal if this assumption holds — which is plausible because of this design feature. Read that again. It names who you compare, what you are estimating, the one assumption the whole causal claim rests on, and the concrete reason a skeptic should believe that assumption. If you cannot fill in the blank after because, you do not have identification — you have a correlation with a hopeful label. This sentence is not decoration. It is the load-bearing wall of your entire project. Everything else — the data, the regression, the robustness checks — exists to defend this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fill in that sentence live, on Rainbow of Municipal Credit. Watch each blank. Comparing states that adopted a same-sex-marriage ban to states that had not yet adopted one, our estimate of the effect of the ban on municipal borrowing costs is causal if the two groups' borrowing costs would have moved in parallel absent the ban — which is plausible because the timing of adoption was driven by court and legislative calendars, not by a state's credit trajectory. Notice what the because clause is doing. The whole worry with a policy study is that states adopt the policy precisely when their economy is already changing. The defense here is that the ban timing was set by unrelated legal and political calendars, so it is not lining up with credit conditions. That is a real, checkable argument — not a hope. This is exactly the sentence each of you will write for your own project by two o'clock.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threats-and-responses table, and I want you to take this one seriously, because this table is literally the first page a referee reads. For every threat to your causal story, you write the design response — how your design already handles it. Confounding trend: some other shock hits your treated group at the same time. Response: check pre-trends and control for time-varying covariates. Reverse causality: maybe the outcome drives the treatment, not the other way around. Response, on Rainbow: the timing is set by legal calendars, not credit. Selection: treated and control groups differ systematically. Response: difference-in-differences differences out fixed group differences, and you use not-yet-treated units as controls. Measurement error: your outcome is noisy. Response: use the cleanest source you have. Here is the point — when you build this table yourself, before anyone else does, you are refereeing your own paper. You catch the objections while they are still cheap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B. You have a sharp question, an identifying assumption, and a threats table. Now we do two things that turn that design into something real and defensible. First, the pre-analysis plan: you write down exactly what you are going to test, and how, before you look at a single outcome. That is what makes a null result believable and an effect trustworthy. Second, the data: how to pick the right source and pull it so cleanly that anyone — including you, six months from now — could reproduce every number. By the end of this block you will have the recipe for both the plan and the pull. This is the unglamorous machinery that separates a study people believe from a story people wave away.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bother pre-registering — writing down your plan before you see the data? Because of the garden of forking paths. Here is the trap. When you analyze data, you make dozens of small choices — which controls, which sample, which cutoff, which outcome. If you make those choices after you have seen what gives you a significant result, you can turn pure noise into a beautiful, publishable finding, and you will not even feel like you are cheating. Every fork felt reasonable at the time. The fix is simple and it is a commitment device: you write down your one primary specification before you look at any outcomes. Then, whatever the data says, you report it. That is what makes a null result informative — because everyone knows you did not just keep digging until nothing was left. Pre-registration does not make your result positive. It makes your result credible. And credible is the whole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actually goes in a pre-analysis plan? You do not need a fifty-page document — you need Olken's short form, six items, one to two pages total. One: directional hypotheses. Not just there is an effect, but which sign you expect and why. Two: your one primary specification — the single regression that is the headline test. Three: secondary and heterogeneity analyses — the follow-up questions, clearly labeled as secondary. Four: a multiple-testing correction. If you test several outcomes, you use Benjamini-Hochberg to control the false-discovery rate, so you do not get to celebrate the one lucky star out of twenty. Five: falsification and placebo tests — checks that should come back empty if your design is clean. Six: what would falsify your main hypothesis — state, in advance, the result that would prove you wrong. That last one is the tell of a serious researcher. The value here is commitment, not length. Keep it tight, and file it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build the piece that everything hinges on: the primary specification. The rule is that you can name every single part out loud. Look at the Rainbow equation on the screen. The outcome is the municipal offering spread — what it costs the issuer to borrow. The treatment is the ban indicator, switching on after a state adopts. The controls are issue and issuer characteristics. The fixed effects are issuer and year, soaking up fixed differences and common time shocks. The standard errors are clustered by state, because that is the level the policy varies at. And the estimator is a staggered difference-in-differences done properly — the Callaway and Sant'Anna approach from 2021, which handles the fact that states adopt at different times without the bias a naive two-way regression can produce. Every part has a name and a reason. When you can recite yours like this, from outcome to estimator, you have a specification — not a vague intention to run some regressions.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Falsification and placebo tests — this is the move that turns a skeptic into a believer, so design at least one. The idea is beautifully simple: build a test that should return nothing if your design is clean. If it returns nothing, great, your story survives a real attempt to break it. If it lights up, you just caught your own problem before a referee did. Three flavors. Pre-trend test: check that treated and control groups were moving in parallel before the treatment — if they were already diverging, your parallel-trends assumption is in trouble. Placebo date: pretend the policy happened two years earlier than it did and re-run it — you should find no effect at the fake date. Unaffected group: run the same design on a group the policy should not have touched — again, you want nothing. A design that passes tests that were genuinely capable of failing is a design people believe.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data — where do you actually get it? Pick the right source for your question. WRDS is your gateway to CRSP for stock prices and returns, and Compustat for accounting fundamentals — the workhorses of finance. EDGAR gives you the raw SEC filings themselves. FRED is the home of macro and interest-rate series. HMDA is loan-level mortgage data — that is exactly the source behind the Gao and Sun fair-lending work in PNAS. Thirteen-F filings give you institutional holdings. PatentsView is your source for innovation and patent data. And yfinance is a quick, free way to pull market prices when you do not need the heavy machinery. The skill is not knowing all seven cold — it is matching your outcome variable to the one source that actually has it, cleanly, at the frequency you need. Name your source before you write a line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the data is not enough — you have to pull it reproducibly, so that every number in your paper can be regenerated from scratch. Four habits. One: cache-or-fetch. Your code checks for a local copy first and only downloads if it is missing, so you are not hammering the server and your results do not change under you. Two: pin a data vintage. Databases get revised — write down exactly which version, which download date, you used, so your numbers are frozen in time. Three: keep an audit log. Record what you pulled, when, and how, so future-you can retrace every step. Four, and this is the big one: never hand-edit a downloaded file. The moment you open a spreadsheet and fix a value by hand, your pipeline is broken and no one can reproduce you. Every change happens in code. If you cannot rerun your whole project from raw data with one command, it is not reproducible — and reproducible is the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build the analysis dataset, and this is where silent, deadly bugs live. Four traps. First, identifier crosswalks. Firms carry different IDs in different databases — PERMNO in CRSP, GVKEY in Compustat, CIK in EDGAR — and you have to join on the right crosswalk or you will silently merge the wrong companies. Second, survivorship and look-ahead bias. If you only keep firms that survived to today, or you accidentally use information that was not known yet at the time, you bake the answer in. The fix is an as-of merge — join on what was actually knowable at each date, not a naive join. Third, winsorizing. Outliers can hijack a regression, so trim them by a stated rule — say, at the first and ninety-ninth percentile — and write the rule down. Fourth, missing data: handle it on purpose, with a stated choice, not by silently dropping rows and hoping. Clean data, built deliberately, is half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one rule from all of Block B I most want you to carry out the door. File your pre-analysis plan as a tagged commit before you run your first outcome regression. Let me say why that specific mechanic matters. A tagged commit in your repository carries a timestamp that you cannot fake after the fact. So when you later report your result, the timestamp is your evidence that you committed to the plan before you saw the answer — that you did not fish, did not fork, did not tune the specification to the result. It is the difference between saying trust me, I planned this and being able to prove it. Two minutes of work — write the plan, commit it, tag it — and you have converted your honesty into something checkable. Do it before the first outcome regression. Not after you peek.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C — the workshop. This is the payoff, so we protect the time. You have the so-what filter, the identifying-assumption sentence, the threats table, the pre-analysis plan, and the reproducible data pull. Now you stop watching me do it on Rainbow and you do it on your own project. In the next half hour you are going to draft one page for your study — the assumption sentence, a threats table, and your primary specification line — and then you are going to read it out loud and let the room stress-test it. This is the moment a generic design becomes your design, not a copy of mine on Rainbow. Two crisp minutes each, and the room's whole job is to find the threat you couldn't see from the inside. Keep it moving, and let's lock your project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your one page — three things, and only three, for your own project. Part A: the identifying-assumption sentence. Fill in every blank from slide eight — treated, controls, effect, the assumption, and the because. Part B: a three-row threats-and-responses table. Pick your three biggest threats and write the design response to each. Part C: the primary-specification line. Outcome, tilde, treatment, plus controls, plus fixed effects, clustered by something, estimated by something — every part named, like we did for Rainbow. That is the whole deliverable for the next twenty minutes. One page. If you get all three of these down honestly, you have the design half of your capstone paper, and everything in Week 8 is just execution. Do not polish the prose. Get the logic right. Start now, and I will come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Round-robin — your turn, out loud, and this is the single most valuable two minutes you will spend today. Each of you reads your identifying-assumption sentence to the room. Just that one sentence — who you compare, what you estimate, the assumption, and the because. Then the room does its job: everyone else names one threat you missed. Not to tear you down — to save you. Catching a fatal flaw here, in this room, in August, is free. Catching it after you have pulled the data and run the regressions is not — that is a week of your life. So when it is your turn, say it clearly and then actually listen. And when it is someone else's turn, be the person who spots the confounder they did not see. The best thing that can happen to you today is that a classmate finds the hole in your design while it is still cheap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and set the assignment. This week you write the Pre-Analysis Plan plus Identification Memo for your own project — the identifying assumption, the threats table, the primary specification, the falsification tests, and a reproducible data-pull plan. Keep it tight: one to two pages. The value is commitment, not length. This is due before the Week 8 session, Friday, August 14. And understand what it is: this is the design half of your capstone paper, the one due August 15. Week 8 is where you take this exact plan and execute it — pull the data, run the primary specification, run the falsification tests, and write up whatever you find, effect or null. So the more honest and complete your plan is this week, the smoother next week goes. Everything has been pointing here. Go plant your flag, commit your plan before you peek, and bring me a design you would defend to a skeptic.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the line that runs through this whole session. A good design is one you would defend to a skeptic — and one you filed before you saw the answer. That is the standard, whether your result comes back as a big effect or as a flat null. The tools on the honest references list are the ones behind everything we did today. Olken's 2015 piece in the Journal of Economic Perspectives on the promises and perils of pre-analysis plans. Callaway and Sant'Anna's 2021 method for difference-in-differences with staggered timing. And the running anchors from Prof. Gao's own work — the Rainbow of Municipal Credit, Gao and Sun's 2019 fair-lending study in PNAS, and Deng, Gao and Kim's 2020 Reg SHO natural experiment in the Journal of Corporate Finance. Bring your Pre-Analysis Plan and Identification Memo next Friday, August 14, and come ready to execute. You have read the frontier. Now go plant your flag. See you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5239"/>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FFC733"/>
          </a:solidFill>
          <a:ln/>
        </p:spPr>
      </p:sp>
      <p:sp>
        <p:nvSpPr>
          <p:cNvPr id="3" name="Shape 1"/>
          <p:cNvSpPr/>
          <p:nvPr/>
        </p:nvSpPr>
        <p:spPr>
          <a:xfrm>
            <a:off x="8915400" y="1554480"/>
            <a:ext cx="2148840" cy="2606040"/>
          </a:xfrm>
          <a:prstGeom prst="rect">
            <a:avLst/>
          </a:prstGeom>
          <a:solidFill>
            <a:srgbClr val="12352A"/>
          </a:solidFill>
          <a:ln w="19050">
            <a:solidFill>
              <a:srgbClr val="004F71"/>
            </a:solidFill>
            <a:prstDash val="solid"/>
          </a:ln>
        </p:spPr>
      </p:sp>
      <p:sp>
        <p:nvSpPr>
          <p:cNvPr id="4" name="Shape 2"/>
          <p:cNvSpPr/>
          <p:nvPr/>
        </p:nvSpPr>
        <p:spPr>
          <a:xfrm>
            <a:off x="9208008" y="1965960"/>
            <a:ext cx="902513" cy="100584"/>
          </a:xfrm>
          <a:prstGeom prst="rect">
            <a:avLst/>
          </a:prstGeom>
          <a:solidFill>
            <a:srgbClr val="FFC733"/>
          </a:solidFill>
          <a:ln/>
        </p:spPr>
      </p:sp>
      <p:sp>
        <p:nvSpPr>
          <p:cNvPr id="5" name="Shape 3"/>
          <p:cNvSpPr/>
          <p:nvPr/>
        </p:nvSpPr>
        <p:spPr>
          <a:xfrm>
            <a:off x="9208008" y="2331720"/>
            <a:ext cx="1547165" cy="100584"/>
          </a:xfrm>
          <a:prstGeom prst="rect">
            <a:avLst/>
          </a:prstGeom>
          <a:solidFill>
            <a:srgbClr val="3A5E52"/>
          </a:solidFill>
          <a:ln/>
        </p:spPr>
      </p:sp>
      <p:sp>
        <p:nvSpPr>
          <p:cNvPr id="6" name="Shape 4"/>
          <p:cNvSpPr/>
          <p:nvPr/>
        </p:nvSpPr>
        <p:spPr>
          <a:xfrm>
            <a:off x="9208008" y="2697480"/>
            <a:ext cx="1547165" cy="100584"/>
          </a:xfrm>
          <a:prstGeom prst="rect">
            <a:avLst/>
          </a:prstGeom>
          <a:solidFill>
            <a:srgbClr val="3A5E52"/>
          </a:solidFill>
          <a:ln/>
        </p:spPr>
      </p:sp>
      <p:sp>
        <p:nvSpPr>
          <p:cNvPr id="7" name="Shape 5"/>
          <p:cNvSpPr/>
          <p:nvPr/>
        </p:nvSpPr>
        <p:spPr>
          <a:xfrm>
            <a:off x="9208008" y="3063240"/>
            <a:ext cx="1547165" cy="100584"/>
          </a:xfrm>
          <a:prstGeom prst="rect">
            <a:avLst/>
          </a:prstGeom>
          <a:solidFill>
            <a:srgbClr val="3A5E52"/>
          </a:solidFill>
          <a:ln/>
        </p:spPr>
      </p:sp>
      <p:sp>
        <p:nvSpPr>
          <p:cNvPr id="8" name="Shape 6"/>
          <p:cNvSpPr/>
          <p:nvPr/>
        </p:nvSpPr>
        <p:spPr>
          <a:xfrm>
            <a:off x="9208008" y="3429000"/>
            <a:ext cx="1074420" cy="100584"/>
          </a:xfrm>
          <a:prstGeom prst="rect">
            <a:avLst/>
          </a:prstGeom>
          <a:solidFill>
            <a:srgbClr val="3A5E52"/>
          </a:solidFill>
          <a:ln/>
        </p:spPr>
      </p:sp>
      <p:sp>
        <p:nvSpPr>
          <p:cNvPr id="9" name="Shape 7"/>
          <p:cNvSpPr/>
          <p:nvPr/>
        </p:nvSpPr>
        <p:spPr>
          <a:xfrm>
            <a:off x="10405872" y="3502152"/>
            <a:ext cx="822960" cy="822960"/>
          </a:xfrm>
          <a:prstGeom prst="ellipse">
            <a:avLst/>
          </a:prstGeom>
          <a:solidFill>
            <a:srgbClr val="FFC733"/>
          </a:solidFill>
          <a:ln w="25400">
            <a:solidFill>
              <a:srgbClr val="005239"/>
            </a:solidFill>
            <a:prstDash val="solid"/>
          </a:ln>
        </p:spPr>
      </p:sp>
      <p:sp>
        <p:nvSpPr>
          <p:cNvPr id="10" name="Text 8"/>
          <p:cNvSpPr/>
          <p:nvPr/>
        </p:nvSpPr>
        <p:spPr>
          <a:xfrm>
            <a:off x="10405872" y="3474720"/>
            <a:ext cx="822960" cy="822960"/>
          </a:xfrm>
          <a:prstGeom prst="rect">
            <a:avLst/>
          </a:prstGeom>
          <a:noFill/>
          <a:ln/>
        </p:spPr>
        <p:txBody>
          <a:bodyPr wrap="square" lIns="0" tIns="0" rIns="0" bIns="0" rtlCol="0" anchor="ctr"/>
          <a:lstStyle/>
          <a:p>
            <a:pPr algn="ctr" indent="0" marL="0">
              <a:buNone/>
            </a:pPr>
            <a:r>
              <a:rPr lang="en-US" sz="2800" b="1" dirty="0">
                <a:solidFill>
                  <a:srgbClr val="005239"/>
                </a:solidFill>
                <a:latin typeface="Poppins" pitchFamily="34" charset="0"/>
                <a:ea typeface="Poppins" pitchFamily="34" charset="-122"/>
                <a:cs typeface="Poppins" pitchFamily="34" charset="-120"/>
              </a:rPr>
              <a:t>✓</a:t>
            </a:r>
            <a:endParaRPr lang="en-US" sz="2800" dirty="0"/>
          </a:p>
        </p:txBody>
      </p:sp>
      <p:sp>
        <p:nvSpPr>
          <p:cNvPr id="11" name="Text 9"/>
          <p:cNvSpPr/>
          <p:nvPr/>
        </p:nvSpPr>
        <p:spPr>
          <a:xfrm>
            <a:off x="1005840" y="1783080"/>
            <a:ext cx="10515600" cy="365760"/>
          </a:xfrm>
          <a:prstGeom prst="rect">
            <a:avLst/>
          </a:prstGeom>
          <a:noFill/>
          <a:ln/>
        </p:spPr>
        <p:txBody>
          <a:bodyPr wrap="square" lIns="0" tIns="0" rIns="0" bIns="0" rtlCol="0" anchor="ctr"/>
          <a:lstStyle/>
          <a:p>
            <a:pPr indent="0" marL="0">
              <a:buNone/>
            </a:pPr>
            <a:r>
              <a:rPr lang="en-US" sz="1400" b="1" spc="300" kern="0" dirty="0">
                <a:solidFill>
                  <a:srgbClr val="FFC733"/>
                </a:solidFill>
                <a:latin typeface="Open Sans" pitchFamily="34" charset="0"/>
                <a:ea typeface="Open Sans" pitchFamily="34" charset="-122"/>
                <a:cs typeface="Open Sans" pitchFamily="34" charset="-120"/>
              </a:rPr>
              <a:t>NEXTGEN EMPIRICAL FINANCE RESEARCH CAMP  ·  WEEK 7</a:t>
            </a:r>
            <a:endParaRPr lang="en-US" sz="1400" dirty="0"/>
          </a:p>
        </p:txBody>
      </p:sp>
      <p:sp>
        <p:nvSpPr>
          <p:cNvPr id="12" name="Text 10"/>
          <p:cNvSpPr/>
          <p:nvPr/>
        </p:nvSpPr>
        <p:spPr>
          <a:xfrm>
            <a:off x="987552" y="2240280"/>
            <a:ext cx="7772400" cy="1463040"/>
          </a:xfrm>
          <a:prstGeom prst="rect">
            <a:avLst/>
          </a:prstGeom>
          <a:noFill/>
          <a:ln/>
        </p:spPr>
        <p:txBody>
          <a:bodyPr wrap="square" lIns="0" tIns="0" rIns="0" bIns="0" rtlCol="0" anchor="t"/>
          <a:lstStyle/>
          <a:p>
            <a:pPr indent="0" marL="0">
              <a:lnSpc>
                <a:spcPct val="98000"/>
              </a:lnSpc>
              <a:buNone/>
            </a:pPr>
            <a:r>
              <a:rPr lang="en-US" sz="4600" b="1" dirty="0">
                <a:solidFill>
                  <a:srgbClr val="FFFFFF"/>
                </a:solidFill>
                <a:latin typeface="Poppins" pitchFamily="34" charset="0"/>
                <a:ea typeface="Poppins" pitchFamily="34" charset="-122"/>
                <a:cs typeface="Poppins" pitchFamily="34" charset="-120"/>
              </a:rPr>
              <a:t>Independent Research Project I</a:t>
            </a:r>
            <a:endParaRPr lang="en-US" sz="4600" dirty="0"/>
          </a:p>
        </p:txBody>
      </p:sp>
      <p:sp>
        <p:nvSpPr>
          <p:cNvPr id="13" name="Text 11"/>
          <p:cNvSpPr/>
          <p:nvPr/>
        </p:nvSpPr>
        <p:spPr>
          <a:xfrm>
            <a:off x="1005840" y="3611880"/>
            <a:ext cx="7680960" cy="548640"/>
          </a:xfrm>
          <a:prstGeom prst="rect">
            <a:avLst/>
          </a:prstGeom>
          <a:noFill/>
          <a:ln/>
        </p:spPr>
        <p:txBody>
          <a:bodyPr wrap="square" lIns="0" tIns="0" rIns="0" bIns="0" rtlCol="0" anchor="ctr"/>
          <a:lstStyle/>
          <a:p>
            <a:pPr indent="0" marL="0">
              <a:buNone/>
            </a:pPr>
            <a:r>
              <a:rPr lang="en-US" sz="2100" i="1" dirty="0">
                <a:solidFill>
                  <a:srgbClr val="CFE0D8"/>
                </a:solidFill>
                <a:latin typeface="Poppins" pitchFamily="34" charset="0"/>
                <a:ea typeface="Poppins" pitchFamily="34" charset="-122"/>
                <a:cs typeface="Poppins" pitchFamily="34" charset="-120"/>
              </a:rPr>
              <a:t>From a question to a pre-analysis plan</a:t>
            </a:r>
            <a:endParaRPr lang="en-US" sz="2100" dirty="0"/>
          </a:p>
        </p:txBody>
      </p:sp>
      <p:sp>
        <p:nvSpPr>
          <p:cNvPr id="14" name="Shape 12"/>
          <p:cNvSpPr/>
          <p:nvPr/>
        </p:nvSpPr>
        <p:spPr>
          <a:xfrm>
            <a:off x="1024128" y="4407408"/>
            <a:ext cx="3108960" cy="0"/>
          </a:xfrm>
          <a:prstGeom prst="line">
            <a:avLst/>
          </a:prstGeom>
          <a:noFill/>
          <a:ln w="19050">
            <a:solidFill>
              <a:srgbClr val="004F71"/>
            </a:solidFill>
            <a:prstDash val="solid"/>
          </a:ln>
        </p:spPr>
      </p:sp>
      <p:sp>
        <p:nvSpPr>
          <p:cNvPr id="15" name="Text 13"/>
          <p:cNvSpPr/>
          <p:nvPr/>
        </p:nvSpPr>
        <p:spPr>
          <a:xfrm>
            <a:off x="1005840" y="4590288"/>
            <a:ext cx="10058400" cy="365760"/>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Friday, August 7, 2026</a:t>
            </a:r>
            <a:pPr indent="0" marL="0">
              <a:buNone/>
            </a:pPr>
            <a:r>
              <a:rPr lang="en-US" sz="1500" dirty="0">
                <a:solidFill>
                  <a:srgbClr val="CFE0D8"/>
                </a:solidFill>
                <a:latin typeface="Open Sans" pitchFamily="34" charset="0"/>
                <a:ea typeface="Open Sans" pitchFamily="34" charset="-122"/>
                <a:cs typeface="Open Sans" pitchFamily="34" charset="-120"/>
              </a:rPr>
              <a:t>   ·   12:00 – 2:00 p.m. ET   ·   Zoom</a:t>
            </a:r>
            <a:endParaRPr lang="en-US" sz="1500" dirty="0"/>
          </a:p>
        </p:txBody>
      </p:sp>
      <p:sp>
        <p:nvSpPr>
          <p:cNvPr id="16" name="Text 14"/>
          <p:cNvSpPr/>
          <p:nvPr/>
        </p:nvSpPr>
        <p:spPr>
          <a:xfrm>
            <a:off x="1005840" y="5001768"/>
            <a:ext cx="10058400" cy="365760"/>
          </a:xfrm>
          <a:prstGeom prst="rect">
            <a:avLst/>
          </a:prstGeom>
          <a:noFill/>
          <a:ln/>
        </p:spPr>
        <p:txBody>
          <a:bodyPr wrap="square" lIns="0" tIns="0" rIns="0" bIns="0" rtlCol="0" anchor="ctr"/>
          <a:lstStyle/>
          <a:p>
            <a:pPr indent="0" marL="0">
              <a:buNone/>
            </a:pPr>
            <a:r>
              <a:rPr lang="en-US" sz="1300" dirty="0">
                <a:solidFill>
                  <a:srgbClr val="8AA396"/>
                </a:solidFill>
                <a:latin typeface="Open Sans" pitchFamily="34" charset="0"/>
                <a:ea typeface="Open Sans" pitchFamily="34" charset="-122"/>
                <a:cs typeface="Open Sans" pitchFamily="34" charset="-120"/>
              </a:rPr>
              <a:t>Prof. Lei Gao   ·   George Mason University</a:t>
            </a:r>
            <a:endParaRPr lang="en-US" sz="1300" dirty="0"/>
          </a:p>
        </p:txBody>
      </p:sp>
      <p:sp>
        <p:nvSpPr>
          <p:cNvPr id="17" name="Text 15"/>
          <p:cNvSpPr/>
          <p:nvPr/>
        </p:nvSpPr>
        <p:spPr>
          <a:xfrm>
            <a:off x="1005840" y="5532120"/>
            <a:ext cx="10058400" cy="365760"/>
          </a:xfrm>
          <a:prstGeom prst="rect">
            <a:avLst/>
          </a:prstGeom>
          <a:noFill/>
          <a:ln/>
        </p:spPr>
        <p:txBody>
          <a:bodyPr wrap="square" lIns="0" tIns="0" rIns="0" bIns="0" rtlCol="0" anchor="ctr"/>
          <a:lstStyle/>
          <a:p>
            <a:pPr indent="0" marL="0">
              <a:buNone/>
            </a:pPr>
            <a:r>
              <a:rPr lang="en-US" sz="1250" i="1" dirty="0">
                <a:solidFill>
                  <a:srgbClr val="FFC733"/>
                </a:solidFill>
                <a:latin typeface="Open Sans" pitchFamily="34" charset="0"/>
                <a:ea typeface="Open Sans" pitchFamily="34" charset="-122"/>
                <a:cs typeface="Open Sans" pitchFamily="34" charset="-120"/>
              </a:rPr>
              <a:t>By 2 p.m. you leave with a one-page design a null result could still make informative.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4F71"/>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4F71"/>
                </a:solidFill>
                <a:latin typeface="Open Sans" pitchFamily="34" charset="0"/>
                <a:ea typeface="Open Sans" pitchFamily="34" charset="-122"/>
                <a:cs typeface="Open Sans" pitchFamily="34" charset="-120"/>
              </a:rPr>
              <a:t>THE 8-WEEK MAP</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Where we are today</a:t>
            </a:r>
            <a:endParaRPr lang="en-US" sz="3000" dirty="0"/>
          </a:p>
        </p:txBody>
      </p:sp>
      <p:sp>
        <p:nvSpPr>
          <p:cNvPr id="5" name="Shape 3"/>
          <p:cNvSpPr/>
          <p:nvPr/>
        </p:nvSpPr>
        <p:spPr>
          <a:xfrm>
            <a:off x="777240" y="2148840"/>
            <a:ext cx="1153630"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2148840"/>
            <a:ext cx="1153630" cy="91440"/>
          </a:xfrm>
          <a:prstGeom prst="rect">
            <a:avLst/>
          </a:prstGeom>
          <a:solidFill>
            <a:srgbClr val="004F71"/>
          </a:solidFill>
          <a:ln/>
        </p:spPr>
      </p:sp>
      <p:sp>
        <p:nvSpPr>
          <p:cNvPr id="7" name="Text 5"/>
          <p:cNvSpPr/>
          <p:nvPr/>
        </p:nvSpPr>
        <p:spPr>
          <a:xfrm>
            <a:off x="777240"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727579"/>
                </a:solidFill>
                <a:latin typeface="Open Sans" pitchFamily="34" charset="0"/>
                <a:ea typeface="Open Sans" pitchFamily="34" charset="-122"/>
                <a:cs typeface="Open Sans" pitchFamily="34" charset="-120"/>
              </a:rPr>
              <a:t>WEEK</a:t>
            </a:r>
            <a:endParaRPr lang="en-US" sz="900" dirty="0"/>
          </a:p>
        </p:txBody>
      </p:sp>
      <p:sp>
        <p:nvSpPr>
          <p:cNvPr id="8" name="Text 6"/>
          <p:cNvSpPr/>
          <p:nvPr/>
        </p:nvSpPr>
        <p:spPr>
          <a:xfrm>
            <a:off x="777240" y="2606040"/>
            <a:ext cx="1153630" cy="640080"/>
          </a:xfrm>
          <a:prstGeom prst="rect">
            <a:avLst/>
          </a:prstGeom>
          <a:noFill/>
          <a:ln/>
        </p:spPr>
        <p:txBody>
          <a:bodyPr wrap="square" lIns="0" tIns="0" rIns="0" bIns="0" rtlCol="0" anchor="ctr"/>
          <a:lstStyle/>
          <a:p>
            <a:pPr algn="ctr" indent="0" marL="0">
              <a:buNone/>
            </a:pPr>
            <a:r>
              <a:rPr lang="en-US" sz="3400" b="1" dirty="0">
                <a:solidFill>
                  <a:srgbClr val="004F71"/>
                </a:solidFill>
                <a:latin typeface="Poppins" pitchFamily="34" charset="0"/>
                <a:ea typeface="Poppins" pitchFamily="34" charset="-122"/>
                <a:cs typeface="Poppins" pitchFamily="34" charset="-120"/>
              </a:rPr>
              <a:t>1</a:t>
            </a:r>
            <a:endParaRPr lang="en-US" sz="3400" dirty="0"/>
          </a:p>
        </p:txBody>
      </p:sp>
      <p:sp>
        <p:nvSpPr>
          <p:cNvPr id="9" name="Text 7"/>
          <p:cNvSpPr/>
          <p:nvPr/>
        </p:nvSpPr>
        <p:spPr>
          <a:xfrm>
            <a:off x="822960"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Probability &amp;</a:t>
            </a:r>
            <a:endParaRPr lang="en-US" sz="1050" dirty="0"/>
          </a:p>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Inference</a:t>
            </a:r>
            <a:endParaRPr lang="en-US" sz="1050" dirty="0"/>
          </a:p>
        </p:txBody>
      </p:sp>
      <p:sp>
        <p:nvSpPr>
          <p:cNvPr id="10" name="Text 8"/>
          <p:cNvSpPr/>
          <p:nvPr/>
        </p:nvSpPr>
        <p:spPr>
          <a:xfrm>
            <a:off x="777240"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727579"/>
                </a:solidFill>
                <a:latin typeface="Open Sans" pitchFamily="34" charset="0"/>
                <a:ea typeface="Open Sans" pitchFamily="34" charset="-122"/>
                <a:cs typeface="Open Sans" pitchFamily="34" charset="-120"/>
              </a:rPr>
              <a:t>DONE</a:t>
            </a:r>
            <a:endParaRPr lang="en-US" sz="850" dirty="0"/>
          </a:p>
        </p:txBody>
      </p:sp>
      <p:sp>
        <p:nvSpPr>
          <p:cNvPr id="11" name="Shape 9"/>
          <p:cNvSpPr/>
          <p:nvPr/>
        </p:nvSpPr>
        <p:spPr>
          <a:xfrm>
            <a:off x="2132038" y="2148840"/>
            <a:ext cx="1153630"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2" name="Shape 10"/>
          <p:cNvSpPr/>
          <p:nvPr/>
        </p:nvSpPr>
        <p:spPr>
          <a:xfrm>
            <a:off x="2132038" y="2148840"/>
            <a:ext cx="1153630" cy="91440"/>
          </a:xfrm>
          <a:prstGeom prst="rect">
            <a:avLst/>
          </a:prstGeom>
          <a:solidFill>
            <a:srgbClr val="004F71"/>
          </a:solidFill>
          <a:ln/>
        </p:spPr>
      </p:sp>
      <p:sp>
        <p:nvSpPr>
          <p:cNvPr id="13" name="Text 11"/>
          <p:cNvSpPr/>
          <p:nvPr/>
        </p:nvSpPr>
        <p:spPr>
          <a:xfrm>
            <a:off x="2132038"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727579"/>
                </a:solidFill>
                <a:latin typeface="Open Sans" pitchFamily="34" charset="0"/>
                <a:ea typeface="Open Sans" pitchFamily="34" charset="-122"/>
                <a:cs typeface="Open Sans" pitchFamily="34" charset="-120"/>
              </a:rPr>
              <a:t>WEEK</a:t>
            </a:r>
            <a:endParaRPr lang="en-US" sz="900" dirty="0"/>
          </a:p>
        </p:txBody>
      </p:sp>
      <p:sp>
        <p:nvSpPr>
          <p:cNvPr id="14" name="Text 12"/>
          <p:cNvSpPr/>
          <p:nvPr/>
        </p:nvSpPr>
        <p:spPr>
          <a:xfrm>
            <a:off x="2132038" y="2606040"/>
            <a:ext cx="1153630" cy="640080"/>
          </a:xfrm>
          <a:prstGeom prst="rect">
            <a:avLst/>
          </a:prstGeom>
          <a:noFill/>
          <a:ln/>
        </p:spPr>
        <p:txBody>
          <a:bodyPr wrap="square" lIns="0" tIns="0" rIns="0" bIns="0" rtlCol="0" anchor="ctr"/>
          <a:lstStyle/>
          <a:p>
            <a:pPr algn="ctr" indent="0" marL="0">
              <a:buNone/>
            </a:pPr>
            <a:r>
              <a:rPr lang="en-US" sz="3400" b="1" dirty="0">
                <a:solidFill>
                  <a:srgbClr val="004F71"/>
                </a:solidFill>
                <a:latin typeface="Poppins" pitchFamily="34" charset="0"/>
                <a:ea typeface="Poppins" pitchFamily="34" charset="-122"/>
                <a:cs typeface="Poppins" pitchFamily="34" charset="-120"/>
              </a:rPr>
              <a:t>2</a:t>
            </a:r>
            <a:endParaRPr lang="en-US" sz="3400" dirty="0"/>
          </a:p>
        </p:txBody>
      </p:sp>
      <p:sp>
        <p:nvSpPr>
          <p:cNvPr id="15" name="Text 13"/>
          <p:cNvSpPr/>
          <p:nvPr/>
        </p:nvSpPr>
        <p:spPr>
          <a:xfrm>
            <a:off x="2177758"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The OLS Engine</a:t>
            </a:r>
            <a:endParaRPr lang="en-US" sz="1050" dirty="0"/>
          </a:p>
        </p:txBody>
      </p:sp>
      <p:sp>
        <p:nvSpPr>
          <p:cNvPr id="16" name="Text 14"/>
          <p:cNvSpPr/>
          <p:nvPr/>
        </p:nvSpPr>
        <p:spPr>
          <a:xfrm>
            <a:off x="2132038"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CC4824"/>
                </a:solidFill>
                <a:latin typeface="Open Sans" pitchFamily="34" charset="0"/>
                <a:ea typeface="Open Sans" pitchFamily="34" charset="-122"/>
                <a:cs typeface="Open Sans" pitchFamily="34" charset="-120"/>
              </a:rPr>
              <a:t>SELF-STUDY</a:t>
            </a:r>
            <a:endParaRPr lang="en-US" sz="850" dirty="0"/>
          </a:p>
        </p:txBody>
      </p:sp>
      <p:sp>
        <p:nvSpPr>
          <p:cNvPr id="17" name="Shape 15"/>
          <p:cNvSpPr/>
          <p:nvPr/>
        </p:nvSpPr>
        <p:spPr>
          <a:xfrm>
            <a:off x="3486836" y="2148840"/>
            <a:ext cx="1153630"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8" name="Shape 16"/>
          <p:cNvSpPr/>
          <p:nvPr/>
        </p:nvSpPr>
        <p:spPr>
          <a:xfrm>
            <a:off x="3486836" y="2148840"/>
            <a:ext cx="1153630" cy="91440"/>
          </a:xfrm>
          <a:prstGeom prst="rect">
            <a:avLst/>
          </a:prstGeom>
          <a:solidFill>
            <a:srgbClr val="004F71"/>
          </a:solidFill>
          <a:ln/>
        </p:spPr>
      </p:sp>
      <p:sp>
        <p:nvSpPr>
          <p:cNvPr id="19" name="Text 17"/>
          <p:cNvSpPr/>
          <p:nvPr/>
        </p:nvSpPr>
        <p:spPr>
          <a:xfrm>
            <a:off x="3486836"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727579"/>
                </a:solidFill>
                <a:latin typeface="Open Sans" pitchFamily="34" charset="0"/>
                <a:ea typeface="Open Sans" pitchFamily="34" charset="-122"/>
                <a:cs typeface="Open Sans" pitchFamily="34" charset="-120"/>
              </a:rPr>
              <a:t>WEEK</a:t>
            </a:r>
            <a:endParaRPr lang="en-US" sz="900" dirty="0"/>
          </a:p>
        </p:txBody>
      </p:sp>
      <p:sp>
        <p:nvSpPr>
          <p:cNvPr id="20" name="Text 18"/>
          <p:cNvSpPr/>
          <p:nvPr/>
        </p:nvSpPr>
        <p:spPr>
          <a:xfrm>
            <a:off x="3486836" y="2606040"/>
            <a:ext cx="1153630" cy="640080"/>
          </a:xfrm>
          <a:prstGeom prst="rect">
            <a:avLst/>
          </a:prstGeom>
          <a:noFill/>
          <a:ln/>
        </p:spPr>
        <p:txBody>
          <a:bodyPr wrap="square" lIns="0" tIns="0" rIns="0" bIns="0" rtlCol="0" anchor="ctr"/>
          <a:lstStyle/>
          <a:p>
            <a:pPr algn="ctr" indent="0" marL="0">
              <a:buNone/>
            </a:pPr>
            <a:r>
              <a:rPr lang="en-US" sz="3400" b="1" dirty="0">
                <a:solidFill>
                  <a:srgbClr val="004F71"/>
                </a:solidFill>
                <a:latin typeface="Poppins" pitchFamily="34" charset="0"/>
                <a:ea typeface="Poppins" pitchFamily="34" charset="-122"/>
                <a:cs typeface="Poppins" pitchFamily="34" charset="-120"/>
              </a:rPr>
              <a:t>3</a:t>
            </a:r>
            <a:endParaRPr lang="en-US" sz="3400" dirty="0"/>
          </a:p>
        </p:txBody>
      </p:sp>
      <p:sp>
        <p:nvSpPr>
          <p:cNvPr id="21" name="Text 19"/>
          <p:cNvSpPr/>
          <p:nvPr/>
        </p:nvSpPr>
        <p:spPr>
          <a:xfrm>
            <a:off x="3532556"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Causal Inference I</a:t>
            </a:r>
            <a:endParaRPr lang="en-US" sz="1050" dirty="0"/>
          </a:p>
        </p:txBody>
      </p:sp>
      <p:sp>
        <p:nvSpPr>
          <p:cNvPr id="22" name="Text 20"/>
          <p:cNvSpPr/>
          <p:nvPr/>
        </p:nvSpPr>
        <p:spPr>
          <a:xfrm>
            <a:off x="3486836"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727579"/>
                </a:solidFill>
                <a:latin typeface="Open Sans" pitchFamily="34" charset="0"/>
                <a:ea typeface="Open Sans" pitchFamily="34" charset="-122"/>
                <a:cs typeface="Open Sans" pitchFamily="34" charset="-120"/>
              </a:rPr>
              <a:t>DONE</a:t>
            </a:r>
            <a:endParaRPr lang="en-US" sz="850" dirty="0"/>
          </a:p>
        </p:txBody>
      </p:sp>
      <p:sp>
        <p:nvSpPr>
          <p:cNvPr id="23" name="Shape 21"/>
          <p:cNvSpPr/>
          <p:nvPr/>
        </p:nvSpPr>
        <p:spPr>
          <a:xfrm>
            <a:off x="4841634" y="2148840"/>
            <a:ext cx="1153630"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4" name="Shape 22"/>
          <p:cNvSpPr/>
          <p:nvPr/>
        </p:nvSpPr>
        <p:spPr>
          <a:xfrm>
            <a:off x="4841634" y="2148840"/>
            <a:ext cx="1153630" cy="91440"/>
          </a:xfrm>
          <a:prstGeom prst="rect">
            <a:avLst/>
          </a:prstGeom>
          <a:solidFill>
            <a:srgbClr val="004F71"/>
          </a:solidFill>
          <a:ln/>
        </p:spPr>
      </p:sp>
      <p:sp>
        <p:nvSpPr>
          <p:cNvPr id="25" name="Text 23"/>
          <p:cNvSpPr/>
          <p:nvPr/>
        </p:nvSpPr>
        <p:spPr>
          <a:xfrm>
            <a:off x="4841634"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727579"/>
                </a:solidFill>
                <a:latin typeface="Open Sans" pitchFamily="34" charset="0"/>
                <a:ea typeface="Open Sans" pitchFamily="34" charset="-122"/>
                <a:cs typeface="Open Sans" pitchFamily="34" charset="-120"/>
              </a:rPr>
              <a:t>WEEK</a:t>
            </a:r>
            <a:endParaRPr lang="en-US" sz="900" dirty="0"/>
          </a:p>
        </p:txBody>
      </p:sp>
      <p:sp>
        <p:nvSpPr>
          <p:cNvPr id="26" name="Text 24"/>
          <p:cNvSpPr/>
          <p:nvPr/>
        </p:nvSpPr>
        <p:spPr>
          <a:xfrm>
            <a:off x="4841634" y="2606040"/>
            <a:ext cx="1153630" cy="640080"/>
          </a:xfrm>
          <a:prstGeom prst="rect">
            <a:avLst/>
          </a:prstGeom>
          <a:noFill/>
          <a:ln/>
        </p:spPr>
        <p:txBody>
          <a:bodyPr wrap="square" lIns="0" tIns="0" rIns="0" bIns="0" rtlCol="0" anchor="ctr"/>
          <a:lstStyle/>
          <a:p>
            <a:pPr algn="ctr" indent="0" marL="0">
              <a:buNone/>
            </a:pPr>
            <a:r>
              <a:rPr lang="en-US" sz="3400" b="1" dirty="0">
                <a:solidFill>
                  <a:srgbClr val="004F71"/>
                </a:solidFill>
                <a:latin typeface="Poppins" pitchFamily="34" charset="0"/>
                <a:ea typeface="Poppins" pitchFamily="34" charset="-122"/>
                <a:cs typeface="Poppins" pitchFamily="34" charset="-120"/>
              </a:rPr>
              <a:t>4</a:t>
            </a:r>
            <a:endParaRPr lang="en-US" sz="3400" dirty="0"/>
          </a:p>
        </p:txBody>
      </p:sp>
      <p:sp>
        <p:nvSpPr>
          <p:cNvPr id="27" name="Text 25"/>
          <p:cNvSpPr/>
          <p:nvPr/>
        </p:nvSpPr>
        <p:spPr>
          <a:xfrm>
            <a:off x="4887354"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Causal Inference II</a:t>
            </a:r>
            <a:endParaRPr lang="en-US" sz="1050" dirty="0"/>
          </a:p>
        </p:txBody>
      </p:sp>
      <p:sp>
        <p:nvSpPr>
          <p:cNvPr id="28" name="Text 26"/>
          <p:cNvSpPr/>
          <p:nvPr/>
        </p:nvSpPr>
        <p:spPr>
          <a:xfrm>
            <a:off x="4841634"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727579"/>
                </a:solidFill>
                <a:latin typeface="Open Sans" pitchFamily="34" charset="0"/>
                <a:ea typeface="Open Sans" pitchFamily="34" charset="-122"/>
                <a:cs typeface="Open Sans" pitchFamily="34" charset="-120"/>
              </a:rPr>
              <a:t>DONE</a:t>
            </a:r>
            <a:endParaRPr lang="en-US" sz="850" dirty="0"/>
          </a:p>
        </p:txBody>
      </p:sp>
      <p:sp>
        <p:nvSpPr>
          <p:cNvPr id="29" name="Shape 27"/>
          <p:cNvSpPr/>
          <p:nvPr/>
        </p:nvSpPr>
        <p:spPr>
          <a:xfrm>
            <a:off x="6196432" y="2148840"/>
            <a:ext cx="1153630"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30" name="Shape 28"/>
          <p:cNvSpPr/>
          <p:nvPr/>
        </p:nvSpPr>
        <p:spPr>
          <a:xfrm>
            <a:off x="6196432" y="2148840"/>
            <a:ext cx="1153630" cy="91440"/>
          </a:xfrm>
          <a:prstGeom prst="rect">
            <a:avLst/>
          </a:prstGeom>
          <a:solidFill>
            <a:srgbClr val="004F71"/>
          </a:solidFill>
          <a:ln/>
        </p:spPr>
      </p:sp>
      <p:sp>
        <p:nvSpPr>
          <p:cNvPr id="31" name="Text 29"/>
          <p:cNvSpPr/>
          <p:nvPr/>
        </p:nvSpPr>
        <p:spPr>
          <a:xfrm>
            <a:off x="6196432"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727579"/>
                </a:solidFill>
                <a:latin typeface="Open Sans" pitchFamily="34" charset="0"/>
                <a:ea typeface="Open Sans" pitchFamily="34" charset="-122"/>
                <a:cs typeface="Open Sans" pitchFamily="34" charset="-120"/>
              </a:rPr>
              <a:t>WEEK</a:t>
            </a:r>
            <a:endParaRPr lang="en-US" sz="900" dirty="0"/>
          </a:p>
        </p:txBody>
      </p:sp>
      <p:sp>
        <p:nvSpPr>
          <p:cNvPr id="32" name="Text 30"/>
          <p:cNvSpPr/>
          <p:nvPr/>
        </p:nvSpPr>
        <p:spPr>
          <a:xfrm>
            <a:off x="6196432" y="2606040"/>
            <a:ext cx="1153630" cy="640080"/>
          </a:xfrm>
          <a:prstGeom prst="rect">
            <a:avLst/>
          </a:prstGeom>
          <a:noFill/>
          <a:ln/>
        </p:spPr>
        <p:txBody>
          <a:bodyPr wrap="square" lIns="0" tIns="0" rIns="0" bIns="0" rtlCol="0" anchor="ctr"/>
          <a:lstStyle/>
          <a:p>
            <a:pPr algn="ctr" indent="0" marL="0">
              <a:buNone/>
            </a:pPr>
            <a:r>
              <a:rPr lang="en-US" sz="3400" b="1" dirty="0">
                <a:solidFill>
                  <a:srgbClr val="004F71"/>
                </a:solidFill>
                <a:latin typeface="Poppins" pitchFamily="34" charset="0"/>
                <a:ea typeface="Poppins" pitchFamily="34" charset="-122"/>
                <a:cs typeface="Poppins" pitchFamily="34" charset="-120"/>
              </a:rPr>
              <a:t>5</a:t>
            </a:r>
            <a:endParaRPr lang="en-US" sz="3400" dirty="0"/>
          </a:p>
        </p:txBody>
      </p:sp>
      <p:sp>
        <p:nvSpPr>
          <p:cNvPr id="33" name="Text 31"/>
          <p:cNvSpPr/>
          <p:nvPr/>
        </p:nvSpPr>
        <p:spPr>
          <a:xfrm>
            <a:off x="6242152"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Reading the</a:t>
            </a:r>
            <a:endParaRPr lang="en-US" sz="1050" dirty="0"/>
          </a:p>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Frontier I</a:t>
            </a:r>
            <a:endParaRPr lang="en-US" sz="1050" dirty="0"/>
          </a:p>
        </p:txBody>
      </p:sp>
      <p:sp>
        <p:nvSpPr>
          <p:cNvPr id="34" name="Text 32"/>
          <p:cNvSpPr/>
          <p:nvPr/>
        </p:nvSpPr>
        <p:spPr>
          <a:xfrm>
            <a:off x="6196432"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727579"/>
                </a:solidFill>
                <a:latin typeface="Open Sans" pitchFamily="34" charset="0"/>
                <a:ea typeface="Open Sans" pitchFamily="34" charset="-122"/>
                <a:cs typeface="Open Sans" pitchFamily="34" charset="-120"/>
              </a:rPr>
              <a:t>DONE</a:t>
            </a:r>
            <a:endParaRPr lang="en-US" sz="850" dirty="0"/>
          </a:p>
        </p:txBody>
      </p:sp>
      <p:sp>
        <p:nvSpPr>
          <p:cNvPr id="35" name="Shape 33"/>
          <p:cNvSpPr/>
          <p:nvPr/>
        </p:nvSpPr>
        <p:spPr>
          <a:xfrm>
            <a:off x="7551230" y="2148840"/>
            <a:ext cx="1153630"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36" name="Shape 34"/>
          <p:cNvSpPr/>
          <p:nvPr/>
        </p:nvSpPr>
        <p:spPr>
          <a:xfrm>
            <a:off x="7551230" y="2148840"/>
            <a:ext cx="1153630" cy="91440"/>
          </a:xfrm>
          <a:prstGeom prst="rect">
            <a:avLst/>
          </a:prstGeom>
          <a:solidFill>
            <a:srgbClr val="004F71"/>
          </a:solidFill>
          <a:ln/>
        </p:spPr>
      </p:sp>
      <p:sp>
        <p:nvSpPr>
          <p:cNvPr id="37" name="Text 35"/>
          <p:cNvSpPr/>
          <p:nvPr/>
        </p:nvSpPr>
        <p:spPr>
          <a:xfrm>
            <a:off x="7551230"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727579"/>
                </a:solidFill>
                <a:latin typeface="Open Sans" pitchFamily="34" charset="0"/>
                <a:ea typeface="Open Sans" pitchFamily="34" charset="-122"/>
                <a:cs typeface="Open Sans" pitchFamily="34" charset="-120"/>
              </a:rPr>
              <a:t>WEEK</a:t>
            </a:r>
            <a:endParaRPr lang="en-US" sz="900" dirty="0"/>
          </a:p>
        </p:txBody>
      </p:sp>
      <p:sp>
        <p:nvSpPr>
          <p:cNvPr id="38" name="Text 36"/>
          <p:cNvSpPr/>
          <p:nvPr/>
        </p:nvSpPr>
        <p:spPr>
          <a:xfrm>
            <a:off x="7551230" y="2606040"/>
            <a:ext cx="1153630" cy="640080"/>
          </a:xfrm>
          <a:prstGeom prst="rect">
            <a:avLst/>
          </a:prstGeom>
          <a:noFill/>
          <a:ln/>
        </p:spPr>
        <p:txBody>
          <a:bodyPr wrap="square" lIns="0" tIns="0" rIns="0" bIns="0" rtlCol="0" anchor="ctr"/>
          <a:lstStyle/>
          <a:p>
            <a:pPr algn="ctr" indent="0" marL="0">
              <a:buNone/>
            </a:pPr>
            <a:r>
              <a:rPr lang="en-US" sz="3400" b="1" dirty="0">
                <a:solidFill>
                  <a:srgbClr val="004F71"/>
                </a:solidFill>
                <a:latin typeface="Poppins" pitchFamily="34" charset="0"/>
                <a:ea typeface="Poppins" pitchFamily="34" charset="-122"/>
                <a:cs typeface="Poppins" pitchFamily="34" charset="-120"/>
              </a:rPr>
              <a:t>6</a:t>
            </a:r>
            <a:endParaRPr lang="en-US" sz="3400" dirty="0"/>
          </a:p>
        </p:txBody>
      </p:sp>
      <p:sp>
        <p:nvSpPr>
          <p:cNvPr id="39" name="Text 37"/>
          <p:cNvSpPr/>
          <p:nvPr/>
        </p:nvSpPr>
        <p:spPr>
          <a:xfrm>
            <a:off x="7596950"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Reading the</a:t>
            </a:r>
            <a:endParaRPr lang="en-US" sz="1050" dirty="0"/>
          </a:p>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Frontier II + AI</a:t>
            </a:r>
            <a:endParaRPr lang="en-US" sz="1050" dirty="0"/>
          </a:p>
        </p:txBody>
      </p:sp>
      <p:sp>
        <p:nvSpPr>
          <p:cNvPr id="40" name="Text 38"/>
          <p:cNvSpPr/>
          <p:nvPr/>
        </p:nvSpPr>
        <p:spPr>
          <a:xfrm>
            <a:off x="7551230"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727579"/>
                </a:solidFill>
                <a:latin typeface="Open Sans" pitchFamily="34" charset="0"/>
                <a:ea typeface="Open Sans" pitchFamily="34" charset="-122"/>
                <a:cs typeface="Open Sans" pitchFamily="34" charset="-120"/>
              </a:rPr>
              <a:t>DONE</a:t>
            </a:r>
            <a:endParaRPr lang="en-US" sz="850" dirty="0"/>
          </a:p>
        </p:txBody>
      </p:sp>
      <p:sp>
        <p:nvSpPr>
          <p:cNvPr id="41" name="Shape 39"/>
          <p:cNvSpPr/>
          <p:nvPr/>
        </p:nvSpPr>
        <p:spPr>
          <a:xfrm>
            <a:off x="8906027" y="2148840"/>
            <a:ext cx="1153630" cy="2286000"/>
          </a:xfrm>
          <a:prstGeom prst="rect">
            <a:avLst/>
          </a:prstGeom>
          <a:solidFill>
            <a:srgbClr val="005239"/>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42" name="Shape 40"/>
          <p:cNvSpPr/>
          <p:nvPr/>
        </p:nvSpPr>
        <p:spPr>
          <a:xfrm>
            <a:off x="8906027" y="2148840"/>
            <a:ext cx="1153630" cy="91440"/>
          </a:xfrm>
          <a:prstGeom prst="rect">
            <a:avLst/>
          </a:prstGeom>
          <a:solidFill>
            <a:srgbClr val="FFC733"/>
          </a:solidFill>
          <a:ln/>
        </p:spPr>
      </p:sp>
      <p:sp>
        <p:nvSpPr>
          <p:cNvPr id="43" name="Text 41"/>
          <p:cNvSpPr/>
          <p:nvPr/>
        </p:nvSpPr>
        <p:spPr>
          <a:xfrm>
            <a:off x="8906027"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8AA396"/>
                </a:solidFill>
                <a:latin typeface="Open Sans" pitchFamily="34" charset="0"/>
                <a:ea typeface="Open Sans" pitchFamily="34" charset="-122"/>
                <a:cs typeface="Open Sans" pitchFamily="34" charset="-120"/>
              </a:rPr>
              <a:t>WEEK</a:t>
            </a:r>
            <a:endParaRPr lang="en-US" sz="900" dirty="0"/>
          </a:p>
        </p:txBody>
      </p:sp>
      <p:sp>
        <p:nvSpPr>
          <p:cNvPr id="44" name="Text 42"/>
          <p:cNvSpPr/>
          <p:nvPr/>
        </p:nvSpPr>
        <p:spPr>
          <a:xfrm>
            <a:off x="8906027" y="2606040"/>
            <a:ext cx="1153630" cy="640080"/>
          </a:xfrm>
          <a:prstGeom prst="rect">
            <a:avLst/>
          </a:prstGeom>
          <a:noFill/>
          <a:ln/>
        </p:spPr>
        <p:txBody>
          <a:bodyPr wrap="square" lIns="0" tIns="0" rIns="0" bIns="0" rtlCol="0" anchor="ctr"/>
          <a:lstStyle/>
          <a:p>
            <a:pPr algn="ctr" indent="0" marL="0">
              <a:buNone/>
            </a:pPr>
            <a:r>
              <a:rPr lang="en-US" sz="3400" b="1" dirty="0">
                <a:solidFill>
                  <a:srgbClr val="FFC733"/>
                </a:solidFill>
                <a:latin typeface="Poppins" pitchFamily="34" charset="0"/>
                <a:ea typeface="Poppins" pitchFamily="34" charset="-122"/>
                <a:cs typeface="Poppins" pitchFamily="34" charset="-120"/>
              </a:rPr>
              <a:t>7</a:t>
            </a:r>
            <a:endParaRPr lang="en-US" sz="3400" dirty="0"/>
          </a:p>
        </p:txBody>
      </p:sp>
      <p:sp>
        <p:nvSpPr>
          <p:cNvPr id="45" name="Text 43"/>
          <p:cNvSpPr/>
          <p:nvPr/>
        </p:nvSpPr>
        <p:spPr>
          <a:xfrm>
            <a:off x="8951747"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FFFFFF"/>
                </a:solidFill>
                <a:latin typeface="Open Sans" pitchFamily="34" charset="0"/>
                <a:ea typeface="Open Sans" pitchFamily="34" charset="-122"/>
                <a:cs typeface="Open Sans" pitchFamily="34" charset="-120"/>
              </a:rPr>
              <a:t>Research</a:t>
            </a:r>
            <a:endParaRPr lang="en-US" sz="1050" dirty="0"/>
          </a:p>
          <a:p>
            <a:pPr algn="ctr" indent="0" marL="0">
              <a:lnSpc>
                <a:spcPct val="95000"/>
              </a:lnSpc>
              <a:buNone/>
            </a:pPr>
            <a:r>
              <a:rPr lang="en-US" sz="1050" b="1" dirty="0">
                <a:solidFill>
                  <a:srgbClr val="FFFFFF"/>
                </a:solidFill>
                <a:latin typeface="Open Sans" pitchFamily="34" charset="0"/>
                <a:ea typeface="Open Sans" pitchFamily="34" charset="-122"/>
                <a:cs typeface="Open Sans" pitchFamily="34" charset="-120"/>
              </a:rPr>
              <a:t>Project I</a:t>
            </a:r>
            <a:endParaRPr lang="en-US" sz="1050" dirty="0"/>
          </a:p>
        </p:txBody>
      </p:sp>
      <p:sp>
        <p:nvSpPr>
          <p:cNvPr id="46" name="Text 44"/>
          <p:cNvSpPr/>
          <p:nvPr/>
        </p:nvSpPr>
        <p:spPr>
          <a:xfrm>
            <a:off x="8906027"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FFC733"/>
                </a:solidFill>
                <a:latin typeface="Open Sans" pitchFamily="34" charset="0"/>
                <a:ea typeface="Open Sans" pitchFamily="34" charset="-122"/>
                <a:cs typeface="Open Sans" pitchFamily="34" charset="-120"/>
              </a:rPr>
              <a:t>TODAY</a:t>
            </a:r>
            <a:endParaRPr lang="en-US" sz="850" dirty="0"/>
          </a:p>
        </p:txBody>
      </p:sp>
      <p:sp>
        <p:nvSpPr>
          <p:cNvPr id="47" name="Shape 45"/>
          <p:cNvSpPr/>
          <p:nvPr/>
        </p:nvSpPr>
        <p:spPr>
          <a:xfrm>
            <a:off x="10260825" y="2148840"/>
            <a:ext cx="1153630"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48" name="Shape 46"/>
          <p:cNvSpPr/>
          <p:nvPr/>
        </p:nvSpPr>
        <p:spPr>
          <a:xfrm>
            <a:off x="10260825" y="2148840"/>
            <a:ext cx="1153630" cy="91440"/>
          </a:xfrm>
          <a:prstGeom prst="rect">
            <a:avLst/>
          </a:prstGeom>
          <a:solidFill>
            <a:srgbClr val="008285"/>
          </a:solidFill>
          <a:ln/>
        </p:spPr>
      </p:sp>
      <p:sp>
        <p:nvSpPr>
          <p:cNvPr id="49" name="Text 47"/>
          <p:cNvSpPr/>
          <p:nvPr/>
        </p:nvSpPr>
        <p:spPr>
          <a:xfrm>
            <a:off x="10260825" y="2404872"/>
            <a:ext cx="1153630" cy="219456"/>
          </a:xfrm>
          <a:prstGeom prst="rect">
            <a:avLst/>
          </a:prstGeom>
          <a:noFill/>
          <a:ln/>
        </p:spPr>
        <p:txBody>
          <a:bodyPr wrap="square" lIns="0" tIns="0" rIns="0" bIns="0" rtlCol="0" anchor="ctr"/>
          <a:lstStyle/>
          <a:p>
            <a:pPr algn="ctr" indent="0" marL="0">
              <a:buNone/>
            </a:pPr>
            <a:r>
              <a:rPr lang="en-US" sz="900" b="1" spc="200" kern="0" dirty="0">
                <a:solidFill>
                  <a:srgbClr val="727579"/>
                </a:solidFill>
                <a:latin typeface="Open Sans" pitchFamily="34" charset="0"/>
                <a:ea typeface="Open Sans" pitchFamily="34" charset="-122"/>
                <a:cs typeface="Open Sans" pitchFamily="34" charset="-120"/>
              </a:rPr>
              <a:t>WEEK</a:t>
            </a:r>
            <a:endParaRPr lang="en-US" sz="900" dirty="0"/>
          </a:p>
        </p:txBody>
      </p:sp>
      <p:sp>
        <p:nvSpPr>
          <p:cNvPr id="50" name="Text 48"/>
          <p:cNvSpPr/>
          <p:nvPr/>
        </p:nvSpPr>
        <p:spPr>
          <a:xfrm>
            <a:off x="10260825" y="2606040"/>
            <a:ext cx="1153630" cy="640080"/>
          </a:xfrm>
          <a:prstGeom prst="rect">
            <a:avLst/>
          </a:prstGeom>
          <a:noFill/>
          <a:ln/>
        </p:spPr>
        <p:txBody>
          <a:bodyPr wrap="square" lIns="0" tIns="0" rIns="0" bIns="0" rtlCol="0" anchor="ctr"/>
          <a:lstStyle/>
          <a:p>
            <a:pPr algn="ctr" indent="0" marL="0">
              <a:buNone/>
            </a:pPr>
            <a:r>
              <a:rPr lang="en-US" sz="3400" b="1" dirty="0">
                <a:solidFill>
                  <a:srgbClr val="008285"/>
                </a:solidFill>
                <a:latin typeface="Poppins" pitchFamily="34" charset="0"/>
                <a:ea typeface="Poppins" pitchFamily="34" charset="-122"/>
                <a:cs typeface="Poppins" pitchFamily="34" charset="-120"/>
              </a:rPr>
              <a:t>8</a:t>
            </a:r>
            <a:endParaRPr lang="en-US" sz="3400" dirty="0"/>
          </a:p>
        </p:txBody>
      </p:sp>
      <p:sp>
        <p:nvSpPr>
          <p:cNvPr id="51" name="Text 49"/>
          <p:cNvSpPr/>
          <p:nvPr/>
        </p:nvSpPr>
        <p:spPr>
          <a:xfrm>
            <a:off x="10306545" y="3291840"/>
            <a:ext cx="1062190" cy="685800"/>
          </a:xfrm>
          <a:prstGeom prst="rect">
            <a:avLst/>
          </a:prstGeom>
          <a:noFill/>
          <a:ln/>
        </p:spPr>
        <p:txBody>
          <a:bodyPr wrap="square" lIns="0" tIns="0" rIns="0" bIns="0" rtlCol="0" anchor="t"/>
          <a:lstStyle/>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Research</a:t>
            </a:r>
            <a:endParaRPr lang="en-US" sz="1050" dirty="0"/>
          </a:p>
          <a:p>
            <a:pPr algn="ctr" indent="0" marL="0">
              <a:lnSpc>
                <a:spcPct val="95000"/>
              </a:lnSpc>
              <a:buNone/>
            </a:pPr>
            <a:r>
              <a:rPr lang="en-US" sz="1050" b="1" dirty="0">
                <a:solidFill>
                  <a:srgbClr val="333333"/>
                </a:solidFill>
                <a:latin typeface="Open Sans" pitchFamily="34" charset="0"/>
                <a:ea typeface="Open Sans" pitchFamily="34" charset="-122"/>
                <a:cs typeface="Open Sans" pitchFamily="34" charset="-120"/>
              </a:rPr>
              <a:t>Project II</a:t>
            </a:r>
            <a:endParaRPr lang="en-US" sz="1050" dirty="0"/>
          </a:p>
        </p:txBody>
      </p:sp>
      <p:sp>
        <p:nvSpPr>
          <p:cNvPr id="52" name="Text 50"/>
          <p:cNvSpPr/>
          <p:nvPr/>
        </p:nvSpPr>
        <p:spPr>
          <a:xfrm>
            <a:off x="10260825" y="4105656"/>
            <a:ext cx="1153630" cy="256032"/>
          </a:xfrm>
          <a:prstGeom prst="rect">
            <a:avLst/>
          </a:prstGeom>
          <a:noFill/>
          <a:ln/>
        </p:spPr>
        <p:txBody>
          <a:bodyPr wrap="square" lIns="0" tIns="0" rIns="0" bIns="0" rtlCol="0" anchor="ctr"/>
          <a:lstStyle/>
          <a:p>
            <a:pPr algn="ctr" indent="0" marL="0">
              <a:buNone/>
            </a:pPr>
            <a:r>
              <a:rPr lang="en-US" sz="850" b="1" spc="150" kern="0" dirty="0">
                <a:solidFill>
                  <a:srgbClr val="008285"/>
                </a:solidFill>
                <a:latin typeface="Open Sans" pitchFamily="34" charset="0"/>
                <a:ea typeface="Open Sans" pitchFamily="34" charset="-122"/>
                <a:cs typeface="Open Sans" pitchFamily="34" charset="-120"/>
              </a:rPr>
              <a:t>NEXT</a:t>
            </a:r>
            <a:endParaRPr lang="en-US" sz="850" dirty="0"/>
          </a:p>
        </p:txBody>
      </p:sp>
      <p:sp>
        <p:nvSpPr>
          <p:cNvPr id="53" name="Text 51"/>
          <p:cNvSpPr/>
          <p:nvPr/>
        </p:nvSpPr>
        <p:spPr>
          <a:xfrm>
            <a:off x="777240" y="4892040"/>
            <a:ext cx="10637215" cy="822960"/>
          </a:xfrm>
          <a:prstGeom prst="rect">
            <a:avLst/>
          </a:prstGeom>
          <a:noFill/>
          <a:ln/>
        </p:spPr>
        <p:txBody>
          <a:bodyPr wrap="square" lIns="0" tIns="0" rIns="0" bIns="0" rtlCol="0" anchor="t"/>
          <a:lstStyle/>
          <a:p>
            <a:pPr indent="0" marL="0">
              <a:lnSpc>
                <a:spcPct val="105000"/>
              </a:lnSpc>
              <a:buNone/>
            </a:pPr>
            <a:r>
              <a:rPr lang="en-US" sz="1450" dirty="0">
                <a:solidFill>
                  <a:srgbClr val="333333"/>
                </a:solidFill>
                <a:latin typeface="Open Sans" pitchFamily="34" charset="0"/>
                <a:ea typeface="Open Sans" pitchFamily="34" charset="-122"/>
                <a:cs typeface="Open Sans" pitchFamily="34" charset="-120"/>
              </a:rPr>
              <a:t>Weeks 1–6 built the toolkit and taught you to </a:t>
            </a:r>
            <a:pPr indent="0" marL="0">
              <a:lnSpc>
                <a:spcPct val="105000"/>
              </a:lnSpc>
              <a:buNone/>
            </a:pPr>
            <a:r>
              <a:rPr lang="en-US" sz="1450" b="1" dirty="0">
                <a:solidFill>
                  <a:srgbClr val="004F71"/>
                </a:solidFill>
                <a:latin typeface="Open Sans" pitchFamily="34" charset="0"/>
                <a:ea typeface="Open Sans" pitchFamily="34" charset="-122"/>
                <a:cs typeface="Open Sans" pitchFamily="34" charset="-120"/>
              </a:rPr>
              <a:t>read the frontier</a:t>
            </a:r>
            <a:pPr indent="0" marL="0">
              <a:lnSpc>
                <a:spcPct val="105000"/>
              </a:lnSpc>
              <a:buNone/>
            </a:pPr>
            <a:r>
              <a:rPr lang="en-US" sz="1450" dirty="0">
                <a:solidFill>
                  <a:srgbClr val="333333"/>
                </a:solidFill>
                <a:latin typeface="Open Sans" pitchFamily="34" charset="0"/>
                <a:ea typeface="Open Sans" pitchFamily="34" charset="-122"/>
                <a:cs typeface="Open Sans" pitchFamily="34" charset="-120"/>
              </a:rPr>
              <a:t>.  Today the arrow flips: you </a:t>
            </a:r>
            <a:pPr indent="0" marL="0">
              <a:lnSpc>
                <a:spcPct val="105000"/>
              </a:lnSpc>
              <a:buNone/>
            </a:pPr>
            <a:r>
              <a:rPr lang="en-US" sz="1450" b="1" dirty="0">
                <a:solidFill>
                  <a:srgbClr val="008285"/>
                </a:solidFill>
                <a:latin typeface="Open Sans" pitchFamily="34" charset="0"/>
                <a:ea typeface="Open Sans" pitchFamily="34" charset="-122"/>
                <a:cs typeface="Open Sans" pitchFamily="34" charset="-120"/>
              </a:rPr>
              <a:t>produce your own design. </a:t>
            </a:r>
            <a:pPr indent="0" marL="0">
              <a:lnSpc>
                <a:spcPct val="105000"/>
              </a:lnSpc>
              <a:buNone/>
            </a:pPr>
            <a:r>
              <a:rPr lang="en-US" sz="1450" i="1" dirty="0">
                <a:solidFill>
                  <a:srgbClr val="727579"/>
                </a:solidFill>
                <a:latin typeface="Open Sans" pitchFamily="34" charset="0"/>
                <a:ea typeface="Open Sans" pitchFamily="34" charset="-122"/>
                <a:cs typeface="Open Sans" pitchFamily="34" charset="-120"/>
              </a:rPr>
              <a:t>You've read the frontier — now you plant your flag on it.</a:t>
            </a:r>
            <a:endParaRPr lang="en-US" sz="1450" dirty="0"/>
          </a:p>
        </p:txBody>
      </p:sp>
      <p:sp>
        <p:nvSpPr>
          <p:cNvPr id="54" name="Text 52"/>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55" name="Text 53"/>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CC8A00"/>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CC8A00"/>
                </a:solidFill>
                <a:latin typeface="Open Sans" pitchFamily="34" charset="0"/>
                <a:ea typeface="Open Sans" pitchFamily="34" charset="-122"/>
                <a:cs typeface="Open Sans" pitchFamily="34" charset="-120"/>
              </a:rPr>
              <a:t>TODAY IN ONE PICTURE</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pivot: from consuming research to producing it</a:t>
            </a:r>
            <a:endParaRPr lang="en-US" sz="3000" dirty="0"/>
          </a:p>
        </p:txBody>
      </p:sp>
      <p:sp>
        <p:nvSpPr>
          <p:cNvPr id="5" name="Shape 3"/>
          <p:cNvSpPr/>
          <p:nvPr/>
        </p:nvSpPr>
        <p:spPr>
          <a:xfrm>
            <a:off x="777240" y="2194560"/>
            <a:ext cx="3210458" cy="32004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2194560"/>
            <a:ext cx="3210458" cy="128016"/>
          </a:xfrm>
          <a:prstGeom prst="rect">
            <a:avLst/>
          </a:prstGeom>
          <a:solidFill>
            <a:srgbClr val="004F71"/>
          </a:solidFill>
          <a:ln/>
        </p:spPr>
      </p:sp>
      <p:sp>
        <p:nvSpPr>
          <p:cNvPr id="7" name="Shape 5"/>
          <p:cNvSpPr/>
          <p:nvPr/>
        </p:nvSpPr>
        <p:spPr>
          <a:xfrm>
            <a:off x="1188720" y="2606040"/>
            <a:ext cx="868680" cy="868680"/>
          </a:xfrm>
          <a:prstGeom prst="ellipse">
            <a:avLst/>
          </a:prstGeom>
          <a:solidFill>
            <a:srgbClr val="004F71"/>
          </a:solidFill>
          <a:ln/>
        </p:spPr>
      </p:sp>
      <p:pic>
        <p:nvPicPr>
          <p:cNvPr id="8" name="Image 0" descr="preencoded.png">    </p:cNvPr>
          <p:cNvPicPr>
            <a:picLocks noChangeAspect="1"/>
          </p:cNvPicPr>
          <p:nvPr/>
        </p:nvPicPr>
        <p:blipFill>
          <a:blip r:embed="rId1"/>
          <a:stretch>
            <a:fillRect/>
          </a:stretch>
        </p:blipFill>
        <p:spPr>
          <a:xfrm>
            <a:off x="1414577" y="2831897"/>
            <a:ext cx="416966" cy="416966"/>
          </a:xfrm>
          <a:prstGeom prst="rect">
            <a:avLst/>
          </a:prstGeom>
        </p:spPr>
      </p:pic>
      <p:sp>
        <p:nvSpPr>
          <p:cNvPr id="9" name="Text 6"/>
          <p:cNvSpPr/>
          <p:nvPr/>
        </p:nvSpPr>
        <p:spPr>
          <a:xfrm>
            <a:off x="1188720" y="3566160"/>
            <a:ext cx="2387498" cy="256032"/>
          </a:xfrm>
          <a:prstGeom prst="rect">
            <a:avLst/>
          </a:prstGeom>
          <a:noFill/>
          <a:ln/>
        </p:spPr>
        <p:txBody>
          <a:bodyPr wrap="square" lIns="0" tIns="0" rIns="0" bIns="0" rtlCol="0" anchor="t"/>
          <a:lstStyle/>
          <a:p>
            <a:pPr indent="0" marL="0">
              <a:buNone/>
            </a:pPr>
            <a:r>
              <a:rPr lang="en-US" sz="1100" b="1" spc="200" kern="0" dirty="0">
                <a:solidFill>
                  <a:srgbClr val="004F71"/>
                </a:solidFill>
                <a:latin typeface="Open Sans" pitchFamily="34" charset="0"/>
                <a:ea typeface="Open Sans" pitchFamily="34" charset="-122"/>
                <a:cs typeface="Open Sans" pitchFamily="34" charset="-120"/>
              </a:rPr>
              <a:t>SIX WEEKS OF INPUT</a:t>
            </a:r>
            <a:endParaRPr lang="en-US" sz="1100" dirty="0"/>
          </a:p>
        </p:txBody>
      </p:sp>
      <p:sp>
        <p:nvSpPr>
          <p:cNvPr id="10" name="Text 7"/>
          <p:cNvSpPr/>
          <p:nvPr/>
        </p:nvSpPr>
        <p:spPr>
          <a:xfrm>
            <a:off x="1188720" y="3840480"/>
            <a:ext cx="2387498" cy="658368"/>
          </a:xfrm>
          <a:prstGeom prst="rect">
            <a:avLst/>
          </a:prstGeom>
          <a:noFill/>
          <a:ln/>
        </p:spPr>
        <p:txBody>
          <a:bodyPr wrap="square" lIns="0" tIns="0" rIns="0" bIns="0" rtlCol="0" anchor="t"/>
          <a:lstStyle/>
          <a:p>
            <a:pPr indent="0" marL="0">
              <a:lnSpc>
                <a:spcPct val="98000"/>
              </a:lnSpc>
              <a:buNone/>
            </a:pPr>
            <a:r>
              <a:rPr lang="en-US" sz="1900" b="1" dirty="0">
                <a:solidFill>
                  <a:srgbClr val="005239"/>
                </a:solidFill>
                <a:latin typeface="Poppins" pitchFamily="34" charset="0"/>
                <a:ea typeface="Poppins" pitchFamily="34" charset="-122"/>
                <a:cs typeface="Poppins" pitchFamily="34" charset="-120"/>
              </a:rPr>
              <a:t>You consumed</a:t>
            </a:r>
            <a:endParaRPr lang="en-US" sz="1900" dirty="0"/>
          </a:p>
        </p:txBody>
      </p:sp>
      <p:sp>
        <p:nvSpPr>
          <p:cNvPr id="11" name="Text 8"/>
          <p:cNvSpPr/>
          <p:nvPr/>
        </p:nvSpPr>
        <p:spPr>
          <a:xfrm>
            <a:off x="1188720" y="4526280"/>
            <a:ext cx="2387498" cy="822960"/>
          </a:xfrm>
          <a:prstGeom prst="rect">
            <a:avLst/>
          </a:prstGeom>
          <a:noFill/>
          <a:ln/>
        </p:spPr>
        <p:txBody>
          <a:bodyPr wrap="square" lIns="0" tIns="0" rIns="0" bIns="0" rtlCol="0" anchor="t"/>
          <a:lstStyle/>
          <a:p>
            <a:pPr indent="0" marL="0">
              <a:lnSpc>
                <a:spcPct val="102000"/>
              </a:lnSpc>
              <a:buNone/>
            </a:pPr>
            <a:r>
              <a:rPr lang="en-US" sz="1200" dirty="0">
                <a:solidFill>
                  <a:srgbClr val="333333"/>
                </a:solidFill>
                <a:latin typeface="Open Sans" pitchFamily="34" charset="0"/>
                <a:ea typeface="Open Sans" pitchFamily="34" charset="-122"/>
                <a:cs typeface="Open Sans" pitchFamily="34" charset="-120"/>
              </a:rPr>
              <a:t>The toolkit, the paper teardown, the verified AI literature map — you learned to judge what others made.</a:t>
            </a:r>
            <a:endParaRPr lang="en-US" sz="1200" dirty="0"/>
          </a:p>
        </p:txBody>
      </p:sp>
      <p:sp>
        <p:nvSpPr>
          <p:cNvPr id="12" name="Shape 9"/>
          <p:cNvSpPr/>
          <p:nvPr/>
        </p:nvSpPr>
        <p:spPr>
          <a:xfrm>
            <a:off x="4490618" y="2194560"/>
            <a:ext cx="3210458" cy="32004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3" name="Shape 10"/>
          <p:cNvSpPr/>
          <p:nvPr/>
        </p:nvSpPr>
        <p:spPr>
          <a:xfrm>
            <a:off x="4490618" y="2194560"/>
            <a:ext cx="3210458" cy="128016"/>
          </a:xfrm>
          <a:prstGeom prst="rect">
            <a:avLst/>
          </a:prstGeom>
          <a:solidFill>
            <a:srgbClr val="CC8A00"/>
          </a:solidFill>
          <a:ln/>
        </p:spPr>
      </p:sp>
      <p:sp>
        <p:nvSpPr>
          <p:cNvPr id="14" name="Shape 11"/>
          <p:cNvSpPr/>
          <p:nvPr/>
        </p:nvSpPr>
        <p:spPr>
          <a:xfrm>
            <a:off x="4902098" y="2606040"/>
            <a:ext cx="868680" cy="868680"/>
          </a:xfrm>
          <a:prstGeom prst="ellipse">
            <a:avLst/>
          </a:prstGeom>
          <a:solidFill>
            <a:srgbClr val="CC8A00"/>
          </a:solidFill>
          <a:ln/>
        </p:spPr>
      </p:sp>
      <p:pic>
        <p:nvPicPr>
          <p:cNvPr id="15" name="Image 1" descr="preencoded.png">    </p:cNvPr>
          <p:cNvPicPr>
            <a:picLocks noChangeAspect="1"/>
          </p:cNvPicPr>
          <p:nvPr/>
        </p:nvPicPr>
        <p:blipFill>
          <a:blip r:embed="rId2"/>
          <a:stretch>
            <a:fillRect/>
          </a:stretch>
        </p:blipFill>
        <p:spPr>
          <a:xfrm>
            <a:off x="5127955" y="2831897"/>
            <a:ext cx="416966" cy="416966"/>
          </a:xfrm>
          <a:prstGeom prst="rect">
            <a:avLst/>
          </a:prstGeom>
        </p:spPr>
      </p:pic>
      <p:sp>
        <p:nvSpPr>
          <p:cNvPr id="16" name="Text 12"/>
          <p:cNvSpPr/>
          <p:nvPr/>
        </p:nvSpPr>
        <p:spPr>
          <a:xfrm>
            <a:off x="4902098" y="3566160"/>
            <a:ext cx="2387498" cy="256032"/>
          </a:xfrm>
          <a:prstGeom prst="rect">
            <a:avLst/>
          </a:prstGeom>
          <a:noFill/>
          <a:ln/>
        </p:spPr>
        <p:txBody>
          <a:bodyPr wrap="square" lIns="0" tIns="0" rIns="0" bIns="0" rtlCol="0" anchor="t"/>
          <a:lstStyle/>
          <a:p>
            <a:pPr indent="0" marL="0">
              <a:buNone/>
            </a:pPr>
            <a:r>
              <a:rPr lang="en-US" sz="1100" b="1" spc="200" kern="0" dirty="0">
                <a:solidFill>
                  <a:srgbClr val="CC8A00"/>
                </a:solidFill>
                <a:latin typeface="Open Sans" pitchFamily="34" charset="0"/>
                <a:ea typeface="Open Sans" pitchFamily="34" charset="-122"/>
                <a:cs typeface="Open Sans" pitchFamily="34" charset="-120"/>
              </a:rPr>
              <a:t>TODAY: THE PIVOT</a:t>
            </a:r>
            <a:endParaRPr lang="en-US" sz="1100" dirty="0"/>
          </a:p>
        </p:txBody>
      </p:sp>
      <p:sp>
        <p:nvSpPr>
          <p:cNvPr id="17" name="Text 13"/>
          <p:cNvSpPr/>
          <p:nvPr/>
        </p:nvSpPr>
        <p:spPr>
          <a:xfrm>
            <a:off x="4902098" y="3840480"/>
            <a:ext cx="2387498" cy="658368"/>
          </a:xfrm>
          <a:prstGeom prst="rect">
            <a:avLst/>
          </a:prstGeom>
          <a:noFill/>
          <a:ln/>
        </p:spPr>
        <p:txBody>
          <a:bodyPr wrap="square" lIns="0" tIns="0" rIns="0" bIns="0" rtlCol="0" anchor="t"/>
          <a:lstStyle/>
          <a:p>
            <a:pPr indent="0" marL="0">
              <a:lnSpc>
                <a:spcPct val="98000"/>
              </a:lnSpc>
              <a:buNone/>
            </a:pPr>
            <a:r>
              <a:rPr lang="en-US" sz="1900" b="1" dirty="0">
                <a:solidFill>
                  <a:srgbClr val="005239"/>
                </a:solidFill>
                <a:latin typeface="Poppins" pitchFamily="34" charset="0"/>
                <a:ea typeface="Poppins" pitchFamily="34" charset="-122"/>
                <a:cs typeface="Poppins" pitchFamily="34" charset="-120"/>
              </a:rPr>
              <a:t>You produce</a:t>
            </a:r>
            <a:endParaRPr lang="en-US" sz="1900" dirty="0"/>
          </a:p>
        </p:txBody>
      </p:sp>
      <p:sp>
        <p:nvSpPr>
          <p:cNvPr id="18" name="Text 14"/>
          <p:cNvSpPr/>
          <p:nvPr/>
        </p:nvSpPr>
        <p:spPr>
          <a:xfrm>
            <a:off x="4902098" y="4526280"/>
            <a:ext cx="2387498" cy="822960"/>
          </a:xfrm>
          <a:prstGeom prst="rect">
            <a:avLst/>
          </a:prstGeom>
          <a:noFill/>
          <a:ln/>
        </p:spPr>
        <p:txBody>
          <a:bodyPr wrap="square" lIns="0" tIns="0" rIns="0" bIns="0" rtlCol="0" anchor="t"/>
          <a:lstStyle/>
          <a:p>
            <a:pPr indent="0" marL="0">
              <a:lnSpc>
                <a:spcPct val="102000"/>
              </a:lnSpc>
              <a:buNone/>
            </a:pPr>
            <a:r>
              <a:rPr lang="en-US" sz="1200" dirty="0">
                <a:solidFill>
                  <a:srgbClr val="333333"/>
                </a:solidFill>
                <a:latin typeface="Open Sans" pitchFamily="34" charset="0"/>
                <a:ea typeface="Open Sans" pitchFamily="34" charset="-122"/>
                <a:cs typeface="Open Sans" pitchFamily="34" charset="-120"/>
              </a:rPr>
              <a:t>Point all that judgment at a question of your own. Not results — a design. We build, we don't run, today.</a:t>
            </a:r>
            <a:endParaRPr lang="en-US" sz="1200" dirty="0"/>
          </a:p>
        </p:txBody>
      </p:sp>
      <p:sp>
        <p:nvSpPr>
          <p:cNvPr id="19" name="Shape 15"/>
          <p:cNvSpPr/>
          <p:nvPr/>
        </p:nvSpPr>
        <p:spPr>
          <a:xfrm>
            <a:off x="8203997" y="2194560"/>
            <a:ext cx="3210458" cy="3200400"/>
          </a:xfrm>
          <a:prstGeom prst="rect">
            <a:avLst/>
          </a:prstGeom>
          <a:solidFill>
            <a:srgbClr val="EAF1EF"/>
          </a:solidFill>
          <a:ln w="19050">
            <a:solidFill>
              <a:srgbClr val="008285"/>
            </a:solidFill>
            <a:prstDash val="solid"/>
          </a:ln>
          <a:effectLst>
            <a:outerShdw sx="100000" sy="100000" kx="0" ky="0" algn="bl" rotWithShape="0" blurRad="88900" dist="38100" dir="5400000">
              <a:srgbClr val="9A9488">
                <a:alpha val="22000"/>
              </a:srgbClr>
            </a:outerShdw>
          </a:effectLst>
        </p:spPr>
      </p:sp>
      <p:sp>
        <p:nvSpPr>
          <p:cNvPr id="20" name="Shape 16"/>
          <p:cNvSpPr/>
          <p:nvPr/>
        </p:nvSpPr>
        <p:spPr>
          <a:xfrm>
            <a:off x="8203997" y="2194560"/>
            <a:ext cx="3210458" cy="128016"/>
          </a:xfrm>
          <a:prstGeom prst="rect">
            <a:avLst/>
          </a:prstGeom>
          <a:solidFill>
            <a:srgbClr val="008285"/>
          </a:solidFill>
          <a:ln/>
        </p:spPr>
      </p:sp>
      <p:sp>
        <p:nvSpPr>
          <p:cNvPr id="21" name="Shape 17"/>
          <p:cNvSpPr/>
          <p:nvPr/>
        </p:nvSpPr>
        <p:spPr>
          <a:xfrm>
            <a:off x="8615477" y="2606040"/>
            <a:ext cx="868680" cy="868680"/>
          </a:xfrm>
          <a:prstGeom prst="ellipse">
            <a:avLst/>
          </a:prstGeom>
          <a:solidFill>
            <a:srgbClr val="008285"/>
          </a:solidFill>
          <a:ln/>
        </p:spPr>
      </p:sp>
      <p:pic>
        <p:nvPicPr>
          <p:cNvPr id="22" name="Image 2" descr="preencoded.png">    </p:cNvPr>
          <p:cNvPicPr>
            <a:picLocks noChangeAspect="1"/>
          </p:cNvPicPr>
          <p:nvPr/>
        </p:nvPicPr>
        <p:blipFill>
          <a:blip r:embed="rId3"/>
          <a:stretch>
            <a:fillRect/>
          </a:stretch>
        </p:blipFill>
        <p:spPr>
          <a:xfrm>
            <a:off x="8841334" y="2831897"/>
            <a:ext cx="416966" cy="416966"/>
          </a:xfrm>
          <a:prstGeom prst="rect">
            <a:avLst/>
          </a:prstGeom>
        </p:spPr>
      </p:pic>
      <p:sp>
        <p:nvSpPr>
          <p:cNvPr id="23" name="Text 18"/>
          <p:cNvSpPr/>
          <p:nvPr/>
        </p:nvSpPr>
        <p:spPr>
          <a:xfrm>
            <a:off x="8615477" y="3566160"/>
            <a:ext cx="2387498" cy="256032"/>
          </a:xfrm>
          <a:prstGeom prst="rect">
            <a:avLst/>
          </a:prstGeom>
          <a:noFill/>
          <a:ln/>
        </p:spPr>
        <p:txBody>
          <a:bodyPr wrap="square" lIns="0" tIns="0" rIns="0" bIns="0" rtlCol="0" anchor="t"/>
          <a:lstStyle/>
          <a:p>
            <a:pPr indent="0" marL="0">
              <a:buNone/>
            </a:pPr>
            <a:r>
              <a:rPr lang="en-US" sz="1100" b="1" spc="200" kern="0" dirty="0">
                <a:solidFill>
                  <a:srgbClr val="008285"/>
                </a:solidFill>
                <a:latin typeface="Open Sans" pitchFamily="34" charset="0"/>
                <a:ea typeface="Open Sans" pitchFamily="34" charset="-122"/>
                <a:cs typeface="Open Sans" pitchFamily="34" charset="-120"/>
              </a:rPr>
              <a:t>THE BAR</a:t>
            </a:r>
            <a:endParaRPr lang="en-US" sz="1100" dirty="0"/>
          </a:p>
        </p:txBody>
      </p:sp>
      <p:sp>
        <p:nvSpPr>
          <p:cNvPr id="24" name="Text 19"/>
          <p:cNvSpPr/>
          <p:nvPr/>
        </p:nvSpPr>
        <p:spPr>
          <a:xfrm>
            <a:off x="8615477" y="3840480"/>
            <a:ext cx="2387498" cy="658368"/>
          </a:xfrm>
          <a:prstGeom prst="rect">
            <a:avLst/>
          </a:prstGeom>
          <a:noFill/>
          <a:ln/>
        </p:spPr>
        <p:txBody>
          <a:bodyPr wrap="square" lIns="0" tIns="0" rIns="0" bIns="0" rtlCol="0" anchor="t"/>
          <a:lstStyle/>
          <a:p>
            <a:pPr indent="0" marL="0">
              <a:lnSpc>
                <a:spcPct val="98000"/>
              </a:lnSpc>
              <a:buNone/>
            </a:pPr>
            <a:r>
              <a:rPr lang="en-US" sz="1900" b="1" dirty="0">
                <a:solidFill>
                  <a:srgbClr val="005239"/>
                </a:solidFill>
                <a:latin typeface="Poppins" pitchFamily="34" charset="0"/>
                <a:ea typeface="Poppins" pitchFamily="34" charset="-122"/>
                <a:cs typeface="Poppins" pitchFamily="34" charset="-120"/>
              </a:rPr>
              <a:t>A null still informs</a:t>
            </a:r>
            <a:endParaRPr lang="en-US" sz="1900" dirty="0"/>
          </a:p>
        </p:txBody>
      </p:sp>
      <p:sp>
        <p:nvSpPr>
          <p:cNvPr id="25" name="Text 20"/>
          <p:cNvSpPr/>
          <p:nvPr/>
        </p:nvSpPr>
        <p:spPr>
          <a:xfrm>
            <a:off x="8615477" y="4526280"/>
            <a:ext cx="2387498" cy="822960"/>
          </a:xfrm>
          <a:prstGeom prst="rect">
            <a:avLst/>
          </a:prstGeom>
          <a:noFill/>
          <a:ln/>
        </p:spPr>
        <p:txBody>
          <a:bodyPr wrap="square" lIns="0" tIns="0" rIns="0" bIns="0" rtlCol="0" anchor="t"/>
          <a:lstStyle/>
          <a:p>
            <a:pPr indent="0" marL="0">
              <a:lnSpc>
                <a:spcPct val="102000"/>
              </a:lnSpc>
              <a:buNone/>
            </a:pPr>
            <a:r>
              <a:rPr lang="en-US" sz="1200" dirty="0">
                <a:solidFill>
                  <a:srgbClr val="333333"/>
                </a:solidFill>
                <a:latin typeface="Open Sans" pitchFamily="34" charset="0"/>
                <a:ea typeface="Open Sans" pitchFamily="34" charset="-122"/>
                <a:cs typeface="Open Sans" pitchFamily="34" charset="-120"/>
              </a:rPr>
              <a:t>Honest enough that even a finding of nothing would teach us something. That's a study, not a hope.</a:t>
            </a:r>
            <a:endParaRPr lang="en-US" sz="1200" dirty="0"/>
          </a:p>
        </p:txBody>
      </p:sp>
      <p:sp>
        <p:nvSpPr>
          <p:cNvPr id="26" name="Text 21"/>
          <p:cNvSpPr/>
          <p:nvPr/>
        </p:nvSpPr>
        <p:spPr>
          <a:xfrm>
            <a:off x="777240" y="5577840"/>
            <a:ext cx="10637215" cy="365760"/>
          </a:xfrm>
          <a:prstGeom prst="rect">
            <a:avLst/>
          </a:prstGeom>
          <a:noFill/>
          <a:ln/>
        </p:spPr>
        <p:txBody>
          <a:bodyPr wrap="square" lIns="0" tIns="0" rIns="0" bIns="0" rtlCol="0" anchor="ctr"/>
          <a:lstStyle/>
          <a:p>
            <a:pPr algn="ctr" indent="0" marL="0">
              <a:buNone/>
            </a:pPr>
            <a:r>
              <a:rPr lang="en-US" sz="1300" i="1" dirty="0">
                <a:solidFill>
                  <a:srgbClr val="727579"/>
                </a:solidFill>
                <a:latin typeface="Open Sans" pitchFamily="34" charset="0"/>
                <a:ea typeface="Open Sans" pitchFamily="34" charset="-122"/>
                <a:cs typeface="Open Sans" pitchFamily="34" charset="-120"/>
              </a:rPr>
              <a:t>If your project is only interesting when the effect is big and significant, you're not doing science — you're hoping.</a:t>
            </a:r>
            <a:endParaRPr lang="en-US" sz="1300" dirty="0"/>
          </a:p>
        </p:txBody>
      </p:sp>
      <p:sp>
        <p:nvSpPr>
          <p:cNvPr id="27" name="Text 22"/>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28" name="Text 23"/>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5239"/>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04F71"/>
          </a:solidFill>
          <a:ln/>
        </p:spPr>
      </p:sp>
      <p:sp>
        <p:nvSpPr>
          <p:cNvPr id="3" name="Text 1"/>
          <p:cNvSpPr/>
          <p:nvPr/>
        </p:nvSpPr>
        <p:spPr>
          <a:xfrm>
            <a:off x="1005840" y="2148840"/>
            <a:ext cx="9144000" cy="457200"/>
          </a:xfrm>
          <a:prstGeom prst="rect">
            <a:avLst/>
          </a:prstGeom>
          <a:noFill/>
          <a:ln/>
        </p:spPr>
        <p:txBody>
          <a:bodyPr wrap="square" lIns="0" tIns="0" rIns="0" bIns="0" rtlCol="0" anchor="ctr"/>
          <a:lstStyle/>
          <a:p>
            <a:pPr algn="l" indent="0" marL="0">
              <a:buNone/>
            </a:pPr>
            <a:r>
              <a:rPr lang="en-US" sz="1600" b="1" spc="400" kern="0" dirty="0">
                <a:solidFill>
                  <a:srgbClr val="004F71"/>
                </a:solidFill>
                <a:latin typeface="Open Sans" pitchFamily="34" charset="0"/>
                <a:ea typeface="Open Sans" pitchFamily="34" charset="-122"/>
                <a:cs typeface="Open Sans" pitchFamily="34" charset="-120"/>
              </a:rPr>
              <a:t>BLOCK A</a:t>
            </a:r>
            <a:endParaRPr lang="en-US" sz="1600" dirty="0"/>
          </a:p>
        </p:txBody>
      </p:sp>
      <p:sp>
        <p:nvSpPr>
          <p:cNvPr id="4" name="Text 2"/>
          <p:cNvSpPr/>
          <p:nvPr/>
        </p:nvSpPr>
        <p:spPr>
          <a:xfrm>
            <a:off x="1005840" y="2606040"/>
            <a:ext cx="1042416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Poppins" pitchFamily="34" charset="0"/>
                <a:ea typeface="Poppins" pitchFamily="34" charset="-122"/>
                <a:cs typeface="Poppins" pitchFamily="34" charset="-120"/>
              </a:rPr>
              <a:t>From a Question to a Design</a:t>
            </a:r>
            <a:endParaRPr lang="en-US" sz="4000" dirty="0"/>
          </a:p>
        </p:txBody>
      </p:sp>
      <p:sp>
        <p:nvSpPr>
          <p:cNvPr id="5" name="Text 3"/>
          <p:cNvSpPr/>
          <p:nvPr/>
        </p:nvSpPr>
        <p:spPr>
          <a:xfrm>
            <a:off x="1024128" y="4114800"/>
            <a:ext cx="9875520" cy="822960"/>
          </a:xfrm>
          <a:prstGeom prst="rect">
            <a:avLst/>
          </a:prstGeom>
          <a:noFill/>
          <a:ln/>
        </p:spPr>
        <p:txBody>
          <a:bodyPr wrap="square" lIns="0" tIns="0" rIns="0" bIns="0" rtlCol="0" anchor="t"/>
          <a:lstStyle/>
          <a:p>
            <a:pPr algn="l" indent="0" marL="0">
              <a:buNone/>
            </a:pPr>
            <a:r>
              <a:rPr lang="en-US" sz="1700" i="1" dirty="0">
                <a:solidFill>
                  <a:srgbClr val="CFE0D8"/>
                </a:solidFill>
                <a:latin typeface="Open Sans" pitchFamily="34" charset="0"/>
                <a:ea typeface="Open Sans" pitchFamily="34" charset="-122"/>
                <a:cs typeface="Open Sans" pitchFamily="34" charset="-120"/>
              </a:rPr>
              <a:t>Kill weak questions fast, find the feasible-and-fresh one, map it to data — then write your identifying assumption.</a:t>
            </a:r>
            <a:endParaRPr lang="en-US" sz="1700" dirty="0"/>
          </a:p>
        </p:txBody>
      </p:sp>
      <p:sp>
        <p:nvSpPr>
          <p:cNvPr id="6" name="Shape 4"/>
          <p:cNvSpPr/>
          <p:nvPr/>
        </p:nvSpPr>
        <p:spPr>
          <a:xfrm>
            <a:off x="1024128" y="5120640"/>
            <a:ext cx="2377440" cy="457200"/>
          </a:xfrm>
          <a:prstGeom prst="rect">
            <a:avLst/>
          </a:prstGeom>
          <a:solidFill>
            <a:srgbClr val="0A6247"/>
          </a:solidFill>
          <a:ln w="12700">
            <a:solidFill>
              <a:srgbClr val="004F71"/>
            </a:solidFill>
            <a:prstDash val="solid"/>
          </a:ln>
        </p:spPr>
      </p:sp>
      <p:sp>
        <p:nvSpPr>
          <p:cNvPr id="7" name="Text 5"/>
          <p:cNvSpPr/>
          <p:nvPr/>
        </p:nvSpPr>
        <p:spPr>
          <a:xfrm>
            <a:off x="1024128" y="5120640"/>
            <a:ext cx="2377440" cy="457200"/>
          </a:xfrm>
          <a:prstGeom prst="rect">
            <a:avLst/>
          </a:prstGeom>
          <a:noFill/>
          <a:ln/>
        </p:spPr>
        <p:txBody>
          <a:bodyPr wrap="square" lIns="0" tIns="0" rIns="0" bIns="0" rtlCol="0" anchor="ctr"/>
          <a:lstStyle/>
          <a:p>
            <a:pPr algn="ctr" indent="0" marL="0">
              <a:buNone/>
            </a:pPr>
            <a:r>
              <a:rPr lang="en-US" sz="1300" b="1" dirty="0">
                <a:solidFill>
                  <a:srgbClr val="CFE0D8"/>
                </a:solidFill>
                <a:latin typeface="Open Sans" pitchFamily="34" charset="0"/>
                <a:ea typeface="Open Sans" pitchFamily="34" charset="-122"/>
                <a:cs typeface="Open Sans" pitchFamily="34" charset="-120"/>
              </a:rPr>
              <a:t>12:10 – 12:45</a:t>
            </a:r>
            <a:endParaRPr lang="en-US" sz="1300" dirty="0"/>
          </a:p>
        </p:txBody>
      </p:sp>
      <p:sp>
        <p:nvSpPr>
          <p:cNvPr id="8" name="Text 6"/>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6E8578"/>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9" name="Text 7"/>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6E8578"/>
                </a:solidFill>
                <a:latin typeface="Open Sans" pitchFamily="34" charset="0"/>
                <a:ea typeface="Open Sans" pitchFamily="34" charset="-122"/>
                <a:cs typeface="Open Sa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CC4824"/>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CC4824"/>
                </a:solidFill>
                <a:latin typeface="Open Sans" pitchFamily="34" charset="0"/>
                <a:ea typeface="Open Sans" pitchFamily="34" charset="-122"/>
                <a:cs typeface="Open Sans" pitchFamily="34" charset="-120"/>
              </a:rPr>
              <a:t>BLOCK A · KILL THE WEAK ONES</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“so-what” filter — three questions that kill most ideas</a:t>
            </a:r>
            <a:endParaRPr lang="en-US" sz="3000" dirty="0"/>
          </a:p>
        </p:txBody>
      </p:sp>
      <p:sp>
        <p:nvSpPr>
          <p:cNvPr id="5" name="Shape 3"/>
          <p:cNvSpPr/>
          <p:nvPr/>
        </p:nvSpPr>
        <p:spPr>
          <a:xfrm>
            <a:off x="777240" y="2103120"/>
            <a:ext cx="3240938" cy="283464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2103120"/>
            <a:ext cx="3240938" cy="109728"/>
          </a:xfrm>
          <a:prstGeom prst="rect">
            <a:avLst/>
          </a:prstGeom>
          <a:solidFill>
            <a:srgbClr val="CC4824"/>
          </a:solidFill>
          <a:ln/>
        </p:spPr>
      </p:sp>
      <p:sp>
        <p:nvSpPr>
          <p:cNvPr id="7" name="Shape 5"/>
          <p:cNvSpPr/>
          <p:nvPr/>
        </p:nvSpPr>
        <p:spPr>
          <a:xfrm>
            <a:off x="1143000" y="2468880"/>
            <a:ext cx="822960" cy="822960"/>
          </a:xfrm>
          <a:prstGeom prst="ellipse">
            <a:avLst/>
          </a:prstGeom>
          <a:solidFill>
            <a:srgbClr val="CC4824"/>
          </a:solidFill>
          <a:ln/>
        </p:spPr>
      </p:sp>
      <p:pic>
        <p:nvPicPr>
          <p:cNvPr id="8" name="Image 0" descr="preencoded.png">    </p:cNvPr>
          <p:cNvPicPr>
            <a:picLocks noChangeAspect="1"/>
          </p:cNvPicPr>
          <p:nvPr/>
        </p:nvPicPr>
        <p:blipFill>
          <a:blip r:embed="rId1"/>
          <a:stretch>
            <a:fillRect/>
          </a:stretch>
        </p:blipFill>
        <p:spPr>
          <a:xfrm>
            <a:off x="1356970" y="2682850"/>
            <a:ext cx="395021" cy="395021"/>
          </a:xfrm>
          <a:prstGeom prst="rect">
            <a:avLst/>
          </a:prstGeom>
        </p:spPr>
      </p:pic>
      <p:sp>
        <p:nvSpPr>
          <p:cNvPr id="9" name="Text 6"/>
          <p:cNvSpPr/>
          <p:nvPr/>
        </p:nvSpPr>
        <p:spPr>
          <a:xfrm>
            <a:off x="3103778" y="2395728"/>
            <a:ext cx="640080" cy="640080"/>
          </a:xfrm>
          <a:prstGeom prst="rect">
            <a:avLst/>
          </a:prstGeom>
          <a:noFill/>
          <a:ln/>
        </p:spPr>
        <p:txBody>
          <a:bodyPr wrap="square" lIns="0" tIns="0" rIns="0" bIns="0" rtlCol="0" anchor="t"/>
          <a:lstStyle/>
          <a:p>
            <a:pPr algn="r" indent="0" marL="0">
              <a:buNone/>
            </a:pPr>
            <a:r>
              <a:rPr lang="en-US" sz="3400" b="1" dirty="0">
                <a:solidFill>
                  <a:srgbClr val="EED9D2"/>
                </a:solidFill>
                <a:latin typeface="Poppins" pitchFamily="34" charset="0"/>
                <a:ea typeface="Poppins" pitchFamily="34" charset="-122"/>
                <a:cs typeface="Poppins" pitchFamily="34" charset="-120"/>
              </a:rPr>
              <a:t>1</a:t>
            </a:r>
            <a:endParaRPr lang="en-US" sz="3400" dirty="0"/>
          </a:p>
        </p:txBody>
      </p:sp>
      <p:sp>
        <p:nvSpPr>
          <p:cNvPr id="10" name="Text 7"/>
          <p:cNvSpPr/>
          <p:nvPr/>
        </p:nvSpPr>
        <p:spPr>
          <a:xfrm>
            <a:off x="1143000" y="3429000"/>
            <a:ext cx="2509418" cy="658368"/>
          </a:xfrm>
          <a:prstGeom prst="rect">
            <a:avLst/>
          </a:prstGeom>
          <a:noFill/>
          <a:ln/>
        </p:spPr>
        <p:txBody>
          <a:bodyPr wrap="square" lIns="0" tIns="0" rIns="0" bIns="0" rtlCol="0" anchor="t"/>
          <a:lstStyle/>
          <a:p>
            <a:pPr indent="0" marL="0">
              <a:lnSpc>
                <a:spcPct val="95000"/>
              </a:lnSpc>
              <a:buNone/>
            </a:pPr>
            <a:r>
              <a:rPr lang="en-US" sz="1700" b="1" dirty="0">
                <a:solidFill>
                  <a:srgbClr val="005239"/>
                </a:solidFill>
                <a:latin typeface="Poppins" pitchFamily="34" charset="0"/>
                <a:ea typeface="Poppins" pitchFamily="34" charset="-122"/>
                <a:cs typeface="Poppins" pitchFamily="34" charset="-120"/>
              </a:rPr>
              <a:t>Already known?</a:t>
            </a:r>
            <a:endParaRPr lang="en-US" sz="1700" dirty="0"/>
          </a:p>
        </p:txBody>
      </p:sp>
      <p:sp>
        <p:nvSpPr>
          <p:cNvPr id="11" name="Text 8"/>
          <p:cNvSpPr/>
          <p:nvPr/>
        </p:nvSpPr>
        <p:spPr>
          <a:xfrm>
            <a:off x="1143000" y="4069080"/>
            <a:ext cx="2509418" cy="777240"/>
          </a:xfrm>
          <a:prstGeom prst="rect">
            <a:avLst/>
          </a:prstGeom>
          <a:noFill/>
          <a:ln/>
        </p:spPr>
        <p:txBody>
          <a:bodyPr wrap="square" lIns="0" tIns="0" rIns="0" bIns="0" rtlCol="0" anchor="t"/>
          <a:lstStyle/>
          <a:p>
            <a:pPr indent="0" marL="0">
              <a:lnSpc>
                <a:spcPct val="103000"/>
              </a:lnSpc>
              <a:buNone/>
            </a:pPr>
            <a:r>
              <a:rPr lang="en-US" sz="1150" dirty="0">
                <a:solidFill>
                  <a:srgbClr val="333333"/>
                </a:solidFill>
                <a:latin typeface="Open Sans" pitchFamily="34" charset="0"/>
                <a:ea typeface="Open Sans" pitchFamily="34" charset="-122"/>
                <a:cs typeface="Open Sans" pitchFamily="34" charset="-120"/>
              </a:rPr>
              <a:t>Is the answer already in the literature? If five papers nailed it, move on — you'd just be re-running them.</a:t>
            </a:r>
            <a:endParaRPr lang="en-US" sz="1150" dirty="0"/>
          </a:p>
        </p:txBody>
      </p:sp>
      <p:sp>
        <p:nvSpPr>
          <p:cNvPr id="12" name="Shape 9"/>
          <p:cNvSpPr/>
          <p:nvPr/>
        </p:nvSpPr>
        <p:spPr>
          <a:xfrm>
            <a:off x="4475378" y="2103120"/>
            <a:ext cx="3240938" cy="283464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3" name="Shape 10"/>
          <p:cNvSpPr/>
          <p:nvPr/>
        </p:nvSpPr>
        <p:spPr>
          <a:xfrm>
            <a:off x="4475378" y="2103120"/>
            <a:ext cx="3240938" cy="109728"/>
          </a:xfrm>
          <a:prstGeom prst="rect">
            <a:avLst/>
          </a:prstGeom>
          <a:solidFill>
            <a:srgbClr val="CC4824"/>
          </a:solidFill>
          <a:ln/>
        </p:spPr>
      </p:sp>
      <p:sp>
        <p:nvSpPr>
          <p:cNvPr id="14" name="Shape 11"/>
          <p:cNvSpPr/>
          <p:nvPr/>
        </p:nvSpPr>
        <p:spPr>
          <a:xfrm>
            <a:off x="4841138" y="2468880"/>
            <a:ext cx="822960" cy="822960"/>
          </a:xfrm>
          <a:prstGeom prst="ellipse">
            <a:avLst/>
          </a:prstGeom>
          <a:solidFill>
            <a:srgbClr val="CC4824"/>
          </a:solidFill>
          <a:ln/>
        </p:spPr>
      </p:sp>
      <p:pic>
        <p:nvPicPr>
          <p:cNvPr id="15" name="Image 1" descr="preencoded.png">    </p:cNvPr>
          <p:cNvPicPr>
            <a:picLocks noChangeAspect="1"/>
          </p:cNvPicPr>
          <p:nvPr/>
        </p:nvPicPr>
        <p:blipFill>
          <a:blip r:embed="rId2"/>
          <a:stretch>
            <a:fillRect/>
          </a:stretch>
        </p:blipFill>
        <p:spPr>
          <a:xfrm>
            <a:off x="5055108" y="2682850"/>
            <a:ext cx="395021" cy="395021"/>
          </a:xfrm>
          <a:prstGeom prst="rect">
            <a:avLst/>
          </a:prstGeom>
        </p:spPr>
      </p:pic>
      <p:sp>
        <p:nvSpPr>
          <p:cNvPr id="16" name="Text 12"/>
          <p:cNvSpPr/>
          <p:nvPr/>
        </p:nvSpPr>
        <p:spPr>
          <a:xfrm>
            <a:off x="6801917" y="2395728"/>
            <a:ext cx="640080" cy="640080"/>
          </a:xfrm>
          <a:prstGeom prst="rect">
            <a:avLst/>
          </a:prstGeom>
          <a:noFill/>
          <a:ln/>
        </p:spPr>
        <p:txBody>
          <a:bodyPr wrap="square" lIns="0" tIns="0" rIns="0" bIns="0" rtlCol="0" anchor="t"/>
          <a:lstStyle/>
          <a:p>
            <a:pPr algn="r" indent="0" marL="0">
              <a:buNone/>
            </a:pPr>
            <a:r>
              <a:rPr lang="en-US" sz="3400" b="1" dirty="0">
                <a:solidFill>
                  <a:srgbClr val="EED9D2"/>
                </a:solidFill>
                <a:latin typeface="Poppins" pitchFamily="34" charset="0"/>
                <a:ea typeface="Poppins" pitchFamily="34" charset="-122"/>
                <a:cs typeface="Poppins" pitchFamily="34" charset="-120"/>
              </a:rPr>
              <a:t>2</a:t>
            </a:r>
            <a:endParaRPr lang="en-US" sz="3400" dirty="0"/>
          </a:p>
        </p:txBody>
      </p:sp>
      <p:sp>
        <p:nvSpPr>
          <p:cNvPr id="17" name="Text 13"/>
          <p:cNvSpPr/>
          <p:nvPr/>
        </p:nvSpPr>
        <p:spPr>
          <a:xfrm>
            <a:off x="4841138" y="3429000"/>
            <a:ext cx="2509418" cy="658368"/>
          </a:xfrm>
          <a:prstGeom prst="rect">
            <a:avLst/>
          </a:prstGeom>
          <a:noFill/>
          <a:ln/>
        </p:spPr>
        <p:txBody>
          <a:bodyPr wrap="square" lIns="0" tIns="0" rIns="0" bIns="0" rtlCol="0" anchor="t"/>
          <a:lstStyle/>
          <a:p>
            <a:pPr indent="0" marL="0">
              <a:lnSpc>
                <a:spcPct val="95000"/>
              </a:lnSpc>
              <a:buNone/>
            </a:pPr>
            <a:r>
              <a:rPr lang="en-US" sz="1700" b="1" dirty="0">
                <a:solidFill>
                  <a:srgbClr val="005239"/>
                </a:solidFill>
                <a:latin typeface="Poppins" pitchFamily="34" charset="0"/>
                <a:ea typeface="Poppins" pitchFamily="34" charset="-122"/>
                <a:cs typeface="Poppins" pitchFamily="34" charset="-120"/>
              </a:rPr>
              <a:t>Would it change a decision?</a:t>
            </a:r>
            <a:endParaRPr lang="en-US" sz="1700" dirty="0"/>
          </a:p>
        </p:txBody>
      </p:sp>
      <p:sp>
        <p:nvSpPr>
          <p:cNvPr id="18" name="Text 14"/>
          <p:cNvSpPr/>
          <p:nvPr/>
        </p:nvSpPr>
        <p:spPr>
          <a:xfrm>
            <a:off x="4841138" y="4069080"/>
            <a:ext cx="2509418" cy="777240"/>
          </a:xfrm>
          <a:prstGeom prst="rect">
            <a:avLst/>
          </a:prstGeom>
          <a:noFill/>
          <a:ln/>
        </p:spPr>
        <p:txBody>
          <a:bodyPr wrap="square" lIns="0" tIns="0" rIns="0" bIns="0" rtlCol="0" anchor="t"/>
          <a:lstStyle/>
          <a:p>
            <a:pPr indent="0" marL="0">
              <a:lnSpc>
                <a:spcPct val="103000"/>
              </a:lnSpc>
              <a:buNone/>
            </a:pPr>
            <a:r>
              <a:rPr lang="en-US" sz="1150" dirty="0">
                <a:solidFill>
                  <a:srgbClr val="333333"/>
                </a:solidFill>
                <a:latin typeface="Open Sans" pitchFamily="34" charset="0"/>
                <a:ea typeface="Open Sans" pitchFamily="34" charset="-122"/>
                <a:cs typeface="Open Sans" pitchFamily="34" charset="-120"/>
              </a:rPr>
              <a:t>Would any investor, regulator, or manager act differently knowing the answer? If nobody would, it's trivia.</a:t>
            </a:r>
            <a:endParaRPr lang="en-US" sz="1150" dirty="0"/>
          </a:p>
        </p:txBody>
      </p:sp>
      <p:sp>
        <p:nvSpPr>
          <p:cNvPr id="19" name="Shape 15"/>
          <p:cNvSpPr/>
          <p:nvPr/>
        </p:nvSpPr>
        <p:spPr>
          <a:xfrm>
            <a:off x="8173517" y="2103120"/>
            <a:ext cx="3240938" cy="283464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0" name="Shape 16"/>
          <p:cNvSpPr/>
          <p:nvPr/>
        </p:nvSpPr>
        <p:spPr>
          <a:xfrm>
            <a:off x="8173517" y="2103120"/>
            <a:ext cx="3240938" cy="109728"/>
          </a:xfrm>
          <a:prstGeom prst="rect">
            <a:avLst/>
          </a:prstGeom>
          <a:solidFill>
            <a:srgbClr val="CC4824"/>
          </a:solidFill>
          <a:ln/>
        </p:spPr>
      </p:sp>
      <p:sp>
        <p:nvSpPr>
          <p:cNvPr id="21" name="Shape 17"/>
          <p:cNvSpPr/>
          <p:nvPr/>
        </p:nvSpPr>
        <p:spPr>
          <a:xfrm>
            <a:off x="8539277" y="2468880"/>
            <a:ext cx="822960" cy="822960"/>
          </a:xfrm>
          <a:prstGeom prst="ellipse">
            <a:avLst/>
          </a:prstGeom>
          <a:solidFill>
            <a:srgbClr val="CC4824"/>
          </a:solidFill>
          <a:ln/>
        </p:spPr>
      </p:sp>
      <p:pic>
        <p:nvPicPr>
          <p:cNvPr id="22" name="Image 2" descr="preencoded.png">    </p:cNvPr>
          <p:cNvPicPr>
            <a:picLocks noChangeAspect="1"/>
          </p:cNvPicPr>
          <p:nvPr/>
        </p:nvPicPr>
        <p:blipFill>
          <a:blip r:embed="rId3"/>
          <a:stretch>
            <a:fillRect/>
          </a:stretch>
        </p:blipFill>
        <p:spPr>
          <a:xfrm>
            <a:off x="8753246" y="2682850"/>
            <a:ext cx="395021" cy="395021"/>
          </a:xfrm>
          <a:prstGeom prst="rect">
            <a:avLst/>
          </a:prstGeom>
        </p:spPr>
      </p:pic>
      <p:sp>
        <p:nvSpPr>
          <p:cNvPr id="23" name="Text 18"/>
          <p:cNvSpPr/>
          <p:nvPr/>
        </p:nvSpPr>
        <p:spPr>
          <a:xfrm>
            <a:off x="10500055" y="2395728"/>
            <a:ext cx="640080" cy="640080"/>
          </a:xfrm>
          <a:prstGeom prst="rect">
            <a:avLst/>
          </a:prstGeom>
          <a:noFill/>
          <a:ln/>
        </p:spPr>
        <p:txBody>
          <a:bodyPr wrap="square" lIns="0" tIns="0" rIns="0" bIns="0" rtlCol="0" anchor="t"/>
          <a:lstStyle/>
          <a:p>
            <a:pPr algn="r" indent="0" marL="0">
              <a:buNone/>
            </a:pPr>
            <a:r>
              <a:rPr lang="en-US" sz="3400" b="1" dirty="0">
                <a:solidFill>
                  <a:srgbClr val="EED9D2"/>
                </a:solidFill>
                <a:latin typeface="Poppins" pitchFamily="34" charset="0"/>
                <a:ea typeface="Poppins" pitchFamily="34" charset="-122"/>
                <a:cs typeface="Poppins" pitchFamily="34" charset="-120"/>
              </a:rPr>
              <a:t>3</a:t>
            </a:r>
            <a:endParaRPr lang="en-US" sz="3400" dirty="0"/>
          </a:p>
        </p:txBody>
      </p:sp>
      <p:sp>
        <p:nvSpPr>
          <p:cNvPr id="24" name="Text 19"/>
          <p:cNvSpPr/>
          <p:nvPr/>
        </p:nvSpPr>
        <p:spPr>
          <a:xfrm>
            <a:off x="8539277" y="3429000"/>
            <a:ext cx="2509418" cy="658368"/>
          </a:xfrm>
          <a:prstGeom prst="rect">
            <a:avLst/>
          </a:prstGeom>
          <a:noFill/>
          <a:ln/>
        </p:spPr>
        <p:txBody>
          <a:bodyPr wrap="square" lIns="0" tIns="0" rIns="0" bIns="0" rtlCol="0" anchor="t"/>
          <a:lstStyle/>
          <a:p>
            <a:pPr indent="0" marL="0">
              <a:lnSpc>
                <a:spcPct val="95000"/>
              </a:lnSpc>
              <a:buNone/>
            </a:pPr>
            <a:r>
              <a:rPr lang="en-US" sz="1700" b="1" dirty="0">
                <a:solidFill>
                  <a:srgbClr val="005239"/>
                </a:solidFill>
                <a:latin typeface="Poppins" pitchFamily="34" charset="0"/>
                <a:ea typeface="Poppins" pitchFamily="34" charset="-122"/>
                <a:cs typeface="Poppins" pitchFamily="34" charset="-120"/>
              </a:rPr>
              <a:t>Can you measure both?</a:t>
            </a:r>
            <a:endParaRPr lang="en-US" sz="1700" dirty="0"/>
          </a:p>
        </p:txBody>
      </p:sp>
      <p:sp>
        <p:nvSpPr>
          <p:cNvPr id="25" name="Text 20"/>
          <p:cNvSpPr/>
          <p:nvPr/>
        </p:nvSpPr>
        <p:spPr>
          <a:xfrm>
            <a:off x="8539277" y="4069080"/>
            <a:ext cx="2509418" cy="777240"/>
          </a:xfrm>
          <a:prstGeom prst="rect">
            <a:avLst/>
          </a:prstGeom>
          <a:noFill/>
          <a:ln/>
        </p:spPr>
        <p:txBody>
          <a:bodyPr wrap="square" lIns="0" tIns="0" rIns="0" bIns="0" rtlCol="0" anchor="t"/>
          <a:lstStyle/>
          <a:p>
            <a:pPr indent="0" marL="0">
              <a:lnSpc>
                <a:spcPct val="103000"/>
              </a:lnSpc>
              <a:buNone/>
            </a:pPr>
            <a:r>
              <a:rPr lang="en-US" sz="1150" dirty="0">
                <a:solidFill>
                  <a:srgbClr val="333333"/>
                </a:solidFill>
                <a:latin typeface="Open Sans" pitchFamily="34" charset="0"/>
                <a:ea typeface="Open Sans" pitchFamily="34" charset="-122"/>
                <a:cs typeface="Open Sans" pitchFamily="34" charset="-120"/>
              </a:rPr>
              <a:t>Can you actually observe both the cause AND the effect? A beautiful question about the unobservable is a dead end.</a:t>
            </a:r>
            <a:endParaRPr lang="en-US" sz="1150" dirty="0"/>
          </a:p>
        </p:txBody>
      </p:sp>
      <p:sp>
        <p:nvSpPr>
          <p:cNvPr id="26" name="Text 21"/>
          <p:cNvSpPr/>
          <p:nvPr/>
        </p:nvSpPr>
        <p:spPr>
          <a:xfrm>
            <a:off x="777240" y="5257800"/>
            <a:ext cx="10637215" cy="365760"/>
          </a:xfrm>
          <a:prstGeom prst="rect">
            <a:avLst/>
          </a:prstGeom>
          <a:noFill/>
          <a:ln/>
        </p:spPr>
        <p:txBody>
          <a:bodyPr wrap="square" lIns="0" tIns="0" rIns="0" bIns="0" rtlCol="0" anchor="ctr"/>
          <a:lstStyle/>
          <a:p>
            <a:pPr algn="ctr" indent="0" marL="0">
              <a:buNone/>
            </a:pPr>
            <a:r>
              <a:rPr lang="en-US" sz="1300" i="1" dirty="0">
                <a:solidFill>
                  <a:srgbClr val="CC4824"/>
                </a:solidFill>
                <a:latin typeface="Open Sans" pitchFamily="34" charset="0"/>
                <a:ea typeface="Open Sans" pitchFamily="34" charset="-122"/>
                <a:cs typeface="Open Sans" pitchFamily="34" charset="-120"/>
              </a:rPr>
              <a:t>Survive all three and it's worth your two weeks. Fail any one and you drop it now — in ninety seconds, with no regret.</a:t>
            </a:r>
            <a:endParaRPr lang="en-US" sz="1300" dirty="0"/>
          </a:p>
        </p:txBody>
      </p:sp>
      <p:sp>
        <p:nvSpPr>
          <p:cNvPr id="27" name="Text 22"/>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28" name="Text 23"/>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4F71"/>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4F71"/>
                </a:solidFill>
                <a:latin typeface="Open Sans" pitchFamily="34" charset="0"/>
                <a:ea typeface="Open Sans" pitchFamily="34" charset="-122"/>
                <a:cs typeface="Open Sans" pitchFamily="34" charset="-120"/>
              </a:rPr>
              <a:t>BLOCK A · PICK THE QUADRANT</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Feasibility × novelty — aim for feasible-and-fresh</a:t>
            </a:r>
            <a:endParaRPr lang="en-US" sz="3000" dirty="0"/>
          </a:p>
        </p:txBody>
      </p:sp>
      <p:sp>
        <p:nvSpPr>
          <p:cNvPr id="5" name="Shape 3"/>
          <p:cNvSpPr/>
          <p:nvPr/>
        </p:nvSpPr>
        <p:spPr>
          <a:xfrm>
            <a:off x="2203704" y="2066544"/>
            <a:ext cx="4523080" cy="1421892"/>
          </a:xfrm>
          <a:prstGeom prst="rect">
            <a:avLst/>
          </a:prstGeom>
          <a:solidFill>
            <a:srgbClr val="F4F4F2"/>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2203704" y="2066544"/>
            <a:ext cx="4523080" cy="91440"/>
          </a:xfrm>
          <a:prstGeom prst="rect">
            <a:avLst/>
          </a:prstGeom>
          <a:solidFill>
            <a:srgbClr val="727579"/>
          </a:solidFill>
          <a:ln/>
        </p:spPr>
      </p:sp>
      <p:sp>
        <p:nvSpPr>
          <p:cNvPr id="7" name="Text 5"/>
          <p:cNvSpPr/>
          <p:nvPr/>
        </p:nvSpPr>
        <p:spPr>
          <a:xfrm>
            <a:off x="2423160" y="2286000"/>
            <a:ext cx="4084168" cy="640080"/>
          </a:xfrm>
          <a:prstGeom prst="rect">
            <a:avLst/>
          </a:prstGeom>
          <a:noFill/>
          <a:ln/>
        </p:spPr>
        <p:txBody>
          <a:bodyPr wrap="square" lIns="0" tIns="0" rIns="0" bIns="0" rtlCol="0" anchor="t"/>
          <a:lstStyle/>
          <a:p>
            <a:pPr indent="0" marL="0">
              <a:lnSpc>
                <a:spcPct val="95000"/>
              </a:lnSpc>
              <a:buNone/>
            </a:pPr>
            <a:r>
              <a:rPr lang="en-US" sz="1550" b="1" dirty="0">
                <a:solidFill>
                  <a:srgbClr val="005239"/>
                </a:solidFill>
                <a:latin typeface="Poppins" pitchFamily="34" charset="0"/>
                <a:ea typeface="Poppins" pitchFamily="34" charset="-122"/>
                <a:cs typeface="Poppins" pitchFamily="34" charset="-120"/>
              </a:rPr>
              <a:t>Been-done</a:t>
            </a:r>
            <a:endParaRPr lang="en-US" sz="1550" dirty="0"/>
          </a:p>
        </p:txBody>
      </p:sp>
      <p:sp>
        <p:nvSpPr>
          <p:cNvPr id="8" name="Text 6"/>
          <p:cNvSpPr/>
          <p:nvPr/>
        </p:nvSpPr>
        <p:spPr>
          <a:xfrm>
            <a:off x="2423160" y="2944368"/>
            <a:ext cx="4084168" cy="43434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Clean data, but no new question — you'd just re-run a known paper.</a:t>
            </a:r>
            <a:endParaRPr lang="en-US" sz="1100" dirty="0"/>
          </a:p>
        </p:txBody>
      </p:sp>
      <p:sp>
        <p:nvSpPr>
          <p:cNvPr id="9" name="Shape 7"/>
          <p:cNvSpPr/>
          <p:nvPr/>
        </p:nvSpPr>
        <p:spPr>
          <a:xfrm>
            <a:off x="6836512" y="2066544"/>
            <a:ext cx="4523080" cy="1421892"/>
          </a:xfrm>
          <a:prstGeom prst="rect">
            <a:avLst/>
          </a:prstGeom>
          <a:solidFill>
            <a:srgbClr val="EAF1EF"/>
          </a:solidFill>
          <a:ln w="22225">
            <a:solidFill>
              <a:srgbClr val="008285"/>
            </a:solidFill>
            <a:prstDash val="solid"/>
          </a:ln>
          <a:effectLst>
            <a:outerShdw sx="100000" sy="100000" kx="0" ky="0" algn="bl" rotWithShape="0" blurRad="88900" dist="38100" dir="5400000">
              <a:srgbClr val="9A9488">
                <a:alpha val="22000"/>
              </a:srgbClr>
            </a:outerShdw>
          </a:effectLst>
        </p:spPr>
      </p:sp>
      <p:sp>
        <p:nvSpPr>
          <p:cNvPr id="10" name="Shape 8"/>
          <p:cNvSpPr/>
          <p:nvPr/>
        </p:nvSpPr>
        <p:spPr>
          <a:xfrm>
            <a:off x="6836512" y="2066544"/>
            <a:ext cx="4523080" cy="91440"/>
          </a:xfrm>
          <a:prstGeom prst="rect">
            <a:avLst/>
          </a:prstGeom>
          <a:solidFill>
            <a:srgbClr val="008285"/>
          </a:solidFill>
          <a:ln/>
        </p:spPr>
      </p:sp>
      <p:sp>
        <p:nvSpPr>
          <p:cNvPr id="11" name="Shape 9"/>
          <p:cNvSpPr/>
          <p:nvPr/>
        </p:nvSpPr>
        <p:spPr>
          <a:xfrm>
            <a:off x="10573207" y="2267712"/>
            <a:ext cx="566928" cy="566928"/>
          </a:xfrm>
          <a:prstGeom prst="ellipse">
            <a:avLst/>
          </a:prstGeom>
          <a:solidFill>
            <a:srgbClr val="008285"/>
          </a:solidFill>
          <a:ln/>
        </p:spPr>
      </p:sp>
      <p:pic>
        <p:nvPicPr>
          <p:cNvPr id="12" name="Image 0" descr="preencoded.png">    </p:cNvPr>
          <p:cNvPicPr>
            <a:picLocks noChangeAspect="1"/>
          </p:cNvPicPr>
          <p:nvPr/>
        </p:nvPicPr>
        <p:blipFill>
          <a:blip r:embed="rId1"/>
          <a:stretch>
            <a:fillRect/>
          </a:stretch>
        </p:blipFill>
        <p:spPr>
          <a:xfrm>
            <a:off x="10720608" y="2415113"/>
            <a:ext cx="272125" cy="272125"/>
          </a:xfrm>
          <a:prstGeom prst="rect">
            <a:avLst/>
          </a:prstGeom>
        </p:spPr>
      </p:pic>
      <p:sp>
        <p:nvSpPr>
          <p:cNvPr id="13" name="Text 10"/>
          <p:cNvSpPr/>
          <p:nvPr/>
        </p:nvSpPr>
        <p:spPr>
          <a:xfrm>
            <a:off x="7055968" y="2286000"/>
            <a:ext cx="3444088" cy="640080"/>
          </a:xfrm>
          <a:prstGeom prst="rect">
            <a:avLst/>
          </a:prstGeom>
          <a:noFill/>
          <a:ln/>
        </p:spPr>
        <p:txBody>
          <a:bodyPr wrap="square" lIns="0" tIns="0" rIns="0" bIns="0" rtlCol="0" anchor="t"/>
          <a:lstStyle/>
          <a:p>
            <a:pPr indent="0" marL="0">
              <a:lnSpc>
                <a:spcPct val="95000"/>
              </a:lnSpc>
              <a:buNone/>
            </a:pPr>
            <a:r>
              <a:rPr lang="en-US" sz="1500" b="1" dirty="0">
                <a:solidFill>
                  <a:srgbClr val="008285"/>
                </a:solidFill>
                <a:latin typeface="Poppins" pitchFamily="34" charset="0"/>
                <a:ea typeface="Poppins" pitchFamily="34" charset="-122"/>
                <a:cs typeface="Poppins" pitchFamily="34" charset="-120"/>
              </a:rPr>
              <a:t>THE TARGET — feasible &amp; fresh</a:t>
            </a:r>
            <a:endParaRPr lang="en-US" sz="1500" dirty="0"/>
          </a:p>
        </p:txBody>
      </p:sp>
      <p:sp>
        <p:nvSpPr>
          <p:cNvPr id="14" name="Text 11"/>
          <p:cNvSpPr/>
          <p:nvPr/>
        </p:nvSpPr>
        <p:spPr>
          <a:xfrm>
            <a:off x="7055968" y="2944368"/>
            <a:ext cx="4084168" cy="43434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A new question you can actually answer with data you can actually get.</a:t>
            </a:r>
            <a:endParaRPr lang="en-US" sz="1100" dirty="0"/>
          </a:p>
        </p:txBody>
      </p:sp>
      <p:sp>
        <p:nvSpPr>
          <p:cNvPr id="15" name="Shape 12"/>
          <p:cNvSpPr/>
          <p:nvPr/>
        </p:nvSpPr>
        <p:spPr>
          <a:xfrm>
            <a:off x="2203704" y="3598164"/>
            <a:ext cx="4523080" cy="1421892"/>
          </a:xfrm>
          <a:prstGeom prst="rect">
            <a:avLst/>
          </a:prstGeom>
          <a:solidFill>
            <a:srgbClr val="F1EFEA"/>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6" name="Shape 13"/>
          <p:cNvSpPr/>
          <p:nvPr/>
        </p:nvSpPr>
        <p:spPr>
          <a:xfrm>
            <a:off x="2203704" y="3598164"/>
            <a:ext cx="4523080" cy="91440"/>
          </a:xfrm>
          <a:prstGeom prst="rect">
            <a:avLst/>
          </a:prstGeom>
          <a:solidFill>
            <a:srgbClr val="727579"/>
          </a:solidFill>
          <a:ln/>
        </p:spPr>
      </p:sp>
      <p:sp>
        <p:nvSpPr>
          <p:cNvPr id="17" name="Text 14"/>
          <p:cNvSpPr/>
          <p:nvPr/>
        </p:nvSpPr>
        <p:spPr>
          <a:xfrm>
            <a:off x="2423160" y="3817620"/>
            <a:ext cx="4084168" cy="640080"/>
          </a:xfrm>
          <a:prstGeom prst="rect">
            <a:avLst/>
          </a:prstGeom>
          <a:noFill/>
          <a:ln/>
        </p:spPr>
        <p:txBody>
          <a:bodyPr wrap="square" lIns="0" tIns="0" rIns="0" bIns="0" rtlCol="0" anchor="t"/>
          <a:lstStyle/>
          <a:p>
            <a:pPr indent="0" marL="0">
              <a:lnSpc>
                <a:spcPct val="95000"/>
              </a:lnSpc>
              <a:buNone/>
            </a:pPr>
            <a:r>
              <a:rPr lang="en-US" sz="1550" b="1" dirty="0">
                <a:solidFill>
                  <a:srgbClr val="005239"/>
                </a:solidFill>
                <a:latin typeface="Poppins" pitchFamily="34" charset="0"/>
                <a:ea typeface="Poppins" pitchFamily="34" charset="-122"/>
                <a:cs typeface="Poppins" pitchFamily="34" charset="-120"/>
              </a:rPr>
              <a:t>Skip it</a:t>
            </a:r>
            <a:endParaRPr lang="en-US" sz="1550" dirty="0"/>
          </a:p>
        </p:txBody>
      </p:sp>
      <p:sp>
        <p:nvSpPr>
          <p:cNvPr id="18" name="Text 15"/>
          <p:cNvSpPr/>
          <p:nvPr/>
        </p:nvSpPr>
        <p:spPr>
          <a:xfrm>
            <a:off x="2423160" y="4475988"/>
            <a:ext cx="4084168" cy="43434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Not fresh and not feasible — nothing here is worth your two weeks.</a:t>
            </a:r>
            <a:endParaRPr lang="en-US" sz="1100" dirty="0"/>
          </a:p>
        </p:txBody>
      </p:sp>
      <p:sp>
        <p:nvSpPr>
          <p:cNvPr id="19" name="Shape 16"/>
          <p:cNvSpPr/>
          <p:nvPr/>
        </p:nvSpPr>
        <p:spPr>
          <a:xfrm>
            <a:off x="6836512" y="3598164"/>
            <a:ext cx="4523080" cy="1421892"/>
          </a:xfrm>
          <a:prstGeom prst="rect">
            <a:avLst/>
          </a:prstGeom>
          <a:solidFill>
            <a:srgbClr val="F6E3DE"/>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0" name="Shape 17"/>
          <p:cNvSpPr/>
          <p:nvPr/>
        </p:nvSpPr>
        <p:spPr>
          <a:xfrm>
            <a:off x="6836512" y="3598164"/>
            <a:ext cx="4523080" cy="91440"/>
          </a:xfrm>
          <a:prstGeom prst="rect">
            <a:avLst/>
          </a:prstGeom>
          <a:solidFill>
            <a:srgbClr val="CC4824"/>
          </a:solidFill>
          <a:ln/>
        </p:spPr>
      </p:sp>
      <p:sp>
        <p:nvSpPr>
          <p:cNvPr id="21" name="Text 18"/>
          <p:cNvSpPr/>
          <p:nvPr/>
        </p:nvSpPr>
        <p:spPr>
          <a:xfrm>
            <a:off x="7055968" y="3817620"/>
            <a:ext cx="4084168" cy="640080"/>
          </a:xfrm>
          <a:prstGeom prst="rect">
            <a:avLst/>
          </a:prstGeom>
          <a:noFill/>
          <a:ln/>
        </p:spPr>
        <p:txBody>
          <a:bodyPr wrap="square" lIns="0" tIns="0" rIns="0" bIns="0" rtlCol="0" anchor="t"/>
          <a:lstStyle/>
          <a:p>
            <a:pPr indent="0" marL="0">
              <a:lnSpc>
                <a:spcPct val="95000"/>
              </a:lnSpc>
              <a:buNone/>
            </a:pPr>
            <a:r>
              <a:rPr lang="en-US" sz="1550" b="1" dirty="0">
                <a:solidFill>
                  <a:srgbClr val="005239"/>
                </a:solidFill>
                <a:latin typeface="Poppins" pitchFamily="34" charset="0"/>
                <a:ea typeface="Poppins" pitchFamily="34" charset="-122"/>
                <a:cs typeface="Poppins" pitchFamily="34" charset="-120"/>
              </a:rPr>
              <a:t>Heroic data</a:t>
            </a:r>
            <a:endParaRPr lang="en-US" sz="1550" dirty="0"/>
          </a:p>
        </p:txBody>
      </p:sp>
      <p:sp>
        <p:nvSpPr>
          <p:cNvPr id="22" name="Text 19"/>
          <p:cNvSpPr/>
          <p:nvPr/>
        </p:nvSpPr>
        <p:spPr>
          <a:xfrm>
            <a:off x="7055968" y="4475988"/>
            <a:ext cx="4084168" cy="43434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A great question that needs data no one can get in two weeks — shrink it.</a:t>
            </a:r>
            <a:endParaRPr lang="en-US" sz="1100" dirty="0"/>
          </a:p>
        </p:txBody>
      </p:sp>
      <p:sp>
        <p:nvSpPr>
          <p:cNvPr id="23" name="Text 20"/>
          <p:cNvSpPr/>
          <p:nvPr/>
        </p:nvSpPr>
        <p:spPr>
          <a:xfrm rot="16200000">
            <a:off x="320040" y="3314700"/>
            <a:ext cx="2743200" cy="457200"/>
          </a:xfrm>
          <a:prstGeom prst="rect">
            <a:avLst/>
          </a:prstGeom>
          <a:noFill/>
          <a:ln/>
        </p:spPr>
        <p:txBody>
          <a:bodyPr wrap="square" lIns="0" tIns="0" rIns="0" bIns="0" rtlCol="0" anchor="ctr"/>
          <a:lstStyle/>
          <a:p>
            <a:pPr algn="ctr" indent="0" marL="0">
              <a:buNone/>
            </a:pPr>
            <a:r>
              <a:rPr lang="en-US" sz="1100" b="1" spc="150" kern="0" dirty="0">
                <a:solidFill>
                  <a:srgbClr val="004F71"/>
                </a:solidFill>
                <a:latin typeface="Open Sans" pitchFamily="34" charset="0"/>
                <a:ea typeface="Open Sans" pitchFamily="34" charset="-122"/>
                <a:cs typeface="Open Sans" pitchFamily="34" charset="-120"/>
              </a:rPr>
              <a:t>FEASIBILITY  →</a:t>
            </a:r>
            <a:endParaRPr lang="en-US" sz="1100" dirty="0"/>
          </a:p>
        </p:txBody>
      </p:sp>
      <p:sp>
        <p:nvSpPr>
          <p:cNvPr id="24" name="Text 21"/>
          <p:cNvSpPr/>
          <p:nvPr/>
        </p:nvSpPr>
        <p:spPr>
          <a:xfrm>
            <a:off x="2148840" y="5148072"/>
            <a:ext cx="9265615" cy="292608"/>
          </a:xfrm>
          <a:prstGeom prst="rect">
            <a:avLst/>
          </a:prstGeom>
          <a:noFill/>
          <a:ln/>
        </p:spPr>
        <p:txBody>
          <a:bodyPr wrap="square" lIns="0" tIns="0" rIns="0" bIns="0" rtlCol="0" anchor="ctr"/>
          <a:lstStyle/>
          <a:p>
            <a:pPr algn="ctr" indent="0" marL="0">
              <a:buNone/>
            </a:pPr>
            <a:r>
              <a:rPr lang="en-US" sz="1100" b="1" spc="150" kern="0" dirty="0">
                <a:solidFill>
                  <a:srgbClr val="004F71"/>
                </a:solidFill>
                <a:latin typeface="Open Sans" pitchFamily="34" charset="0"/>
                <a:ea typeface="Open Sans" pitchFamily="34" charset="-122"/>
                <a:cs typeface="Open Sans" pitchFamily="34" charset="-120"/>
              </a:rPr>
              <a:t>NOVELTY  →</a:t>
            </a:r>
            <a:endParaRPr lang="en-US" sz="1100" dirty="0"/>
          </a:p>
        </p:txBody>
      </p:sp>
      <p:sp>
        <p:nvSpPr>
          <p:cNvPr id="25" name="Text 22"/>
          <p:cNvSpPr/>
          <p:nvPr/>
        </p:nvSpPr>
        <p:spPr>
          <a:xfrm>
            <a:off x="777240" y="5806440"/>
            <a:ext cx="10637215" cy="320040"/>
          </a:xfrm>
          <a:prstGeom prst="rect">
            <a:avLst/>
          </a:prstGeom>
          <a:noFill/>
          <a:ln/>
        </p:spPr>
        <p:txBody>
          <a:bodyPr wrap="square" lIns="0" tIns="0" rIns="0" bIns="0" rtlCol="0" anchor="ctr"/>
          <a:lstStyle/>
          <a:p>
            <a:pPr algn="ctr" indent="0" marL="0">
              <a:buNone/>
            </a:pPr>
            <a:r>
              <a:rPr lang="en-US" sz="1250" i="1" dirty="0">
                <a:solidFill>
                  <a:srgbClr val="727579"/>
                </a:solidFill>
                <a:latin typeface="Open Sans" pitchFamily="34" charset="0"/>
                <a:ea typeface="Open Sans" pitchFamily="34" charset="-122"/>
                <a:cs typeface="Open Sans" pitchFamily="34" charset="-120"/>
              </a:rPr>
              <a:t>A smaller question you can actually answer beats a grand one you can't.</a:t>
            </a:r>
            <a:endParaRPr lang="en-US" sz="1250" dirty="0"/>
          </a:p>
        </p:txBody>
      </p:sp>
      <p:sp>
        <p:nvSpPr>
          <p:cNvPr id="26" name="Text 23"/>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27" name="Text 24"/>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4F71"/>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4F71"/>
                </a:solidFill>
                <a:latin typeface="Open Sans" pitchFamily="34" charset="0"/>
                <a:ea typeface="Open Sans" pitchFamily="34" charset="-122"/>
                <a:cs typeface="Open Sans" pitchFamily="34" charset="-120"/>
              </a:rPr>
              <a:t>BLOCK A · NAME THE DATA</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cast → dataset map — who / what / when → which data</a:t>
            </a:r>
            <a:endParaRPr lang="en-US" sz="3000" dirty="0"/>
          </a:p>
        </p:txBody>
      </p:sp>
      <p:sp>
        <p:nvSpPr>
          <p:cNvPr id="5" name="Shape 3"/>
          <p:cNvSpPr/>
          <p:nvPr/>
        </p:nvSpPr>
        <p:spPr>
          <a:xfrm>
            <a:off x="777240" y="1828800"/>
            <a:ext cx="10637215" cy="749808"/>
          </a:xfrm>
          <a:prstGeom prst="rect">
            <a:avLst/>
          </a:prstGeom>
          <a:solidFill>
            <a:srgbClr val="FFFFFF"/>
          </a:solidFill>
          <a:ln w="9525">
            <a:solidFill>
              <a:srgbClr val="E2E1DC"/>
            </a:solidFill>
            <a:prstDash val="solid"/>
          </a:ln>
        </p:spPr>
      </p:sp>
      <p:sp>
        <p:nvSpPr>
          <p:cNvPr id="6" name="Shape 4"/>
          <p:cNvSpPr/>
          <p:nvPr/>
        </p:nvSpPr>
        <p:spPr>
          <a:xfrm>
            <a:off x="777240" y="1828800"/>
            <a:ext cx="91440" cy="749808"/>
          </a:xfrm>
          <a:prstGeom prst="rect">
            <a:avLst/>
          </a:prstGeom>
          <a:solidFill>
            <a:srgbClr val="004F71"/>
          </a:solidFill>
          <a:ln/>
        </p:spPr>
      </p:sp>
      <p:sp>
        <p:nvSpPr>
          <p:cNvPr id="7" name="Shape 5"/>
          <p:cNvSpPr/>
          <p:nvPr/>
        </p:nvSpPr>
        <p:spPr>
          <a:xfrm>
            <a:off x="1051560" y="1975104"/>
            <a:ext cx="457200" cy="457200"/>
          </a:xfrm>
          <a:prstGeom prst="ellipse">
            <a:avLst/>
          </a:prstGeom>
          <a:solidFill>
            <a:srgbClr val="004F71"/>
          </a:solidFill>
          <a:ln/>
        </p:spPr>
      </p:sp>
      <p:pic>
        <p:nvPicPr>
          <p:cNvPr id="8" name="Image 0" descr="preencoded.png">    </p:cNvPr>
          <p:cNvPicPr>
            <a:picLocks noChangeAspect="1"/>
          </p:cNvPicPr>
          <p:nvPr/>
        </p:nvPicPr>
        <p:blipFill>
          <a:blip r:embed="rId1"/>
          <a:stretch>
            <a:fillRect/>
          </a:stretch>
        </p:blipFill>
        <p:spPr>
          <a:xfrm>
            <a:off x="1170432" y="2093976"/>
            <a:ext cx="219456" cy="219456"/>
          </a:xfrm>
          <a:prstGeom prst="rect">
            <a:avLst/>
          </a:prstGeom>
        </p:spPr>
      </p:pic>
      <p:sp>
        <p:nvSpPr>
          <p:cNvPr id="9" name="Text 6"/>
          <p:cNvSpPr/>
          <p:nvPr/>
        </p:nvSpPr>
        <p:spPr>
          <a:xfrm>
            <a:off x="1691640" y="1828800"/>
            <a:ext cx="2331720" cy="749808"/>
          </a:xfrm>
          <a:prstGeom prst="rect">
            <a:avLst/>
          </a:prstGeom>
          <a:noFill/>
          <a:ln/>
        </p:spPr>
        <p:txBody>
          <a:bodyPr wrap="square" lIns="0" tIns="0" rIns="0" bIns="0" rtlCol="0" anchor="ctr"/>
          <a:lstStyle/>
          <a:p>
            <a:pPr indent="0" marL="0">
              <a:lnSpc>
                <a:spcPct val="95000"/>
              </a:lnSpc>
              <a:buNone/>
            </a:pPr>
            <a:r>
              <a:rPr lang="en-US" sz="1300" b="1" dirty="0">
                <a:solidFill>
                  <a:srgbClr val="005239"/>
                </a:solidFill>
                <a:latin typeface="Poppins" pitchFamily="34" charset="0"/>
                <a:ea typeface="Poppins" pitchFamily="34" charset="-122"/>
                <a:cs typeface="Poppins" pitchFamily="34" charset="-120"/>
              </a:rPr>
              <a:t>WHO / WHAT</a:t>
            </a:r>
            <a:endParaRPr lang="en-US" sz="1300" dirty="0"/>
          </a:p>
        </p:txBody>
      </p:sp>
      <p:sp>
        <p:nvSpPr>
          <p:cNvPr id="10" name="Text 7"/>
          <p:cNvSpPr/>
          <p:nvPr/>
        </p:nvSpPr>
        <p:spPr>
          <a:xfrm>
            <a:off x="4069080" y="1828800"/>
            <a:ext cx="4663440" cy="749808"/>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The unit your question is about — firms, individuals, municipalities.</a:t>
            </a:r>
            <a:endParaRPr lang="en-US" sz="1150" dirty="0"/>
          </a:p>
        </p:txBody>
      </p:sp>
      <p:sp>
        <p:nvSpPr>
          <p:cNvPr id="11" name="Text 8"/>
          <p:cNvSpPr/>
          <p:nvPr/>
        </p:nvSpPr>
        <p:spPr>
          <a:xfrm>
            <a:off x="8778240" y="1828800"/>
            <a:ext cx="2544775" cy="749808"/>
          </a:xfrm>
          <a:prstGeom prst="rect">
            <a:avLst/>
          </a:prstGeom>
          <a:noFill/>
          <a:ln/>
        </p:spPr>
        <p:txBody>
          <a:bodyPr wrap="square" lIns="0" tIns="0" rIns="0" bIns="0" rtlCol="0" anchor="ctr"/>
          <a:lstStyle/>
          <a:p>
            <a:pPr indent="0" marL="0">
              <a:lnSpc>
                <a:spcPct val="100000"/>
              </a:lnSpc>
              <a:buNone/>
            </a:pPr>
            <a:r>
              <a:rPr lang="en-US" sz="1050" i="1" dirty="0">
                <a:solidFill>
                  <a:srgbClr val="727579"/>
                </a:solidFill>
                <a:latin typeface="Open Sans" pitchFamily="34" charset="0"/>
                <a:ea typeface="Open Sans" pitchFamily="34" charset="-122"/>
                <a:cs typeface="Open Sans" pitchFamily="34" charset="-120"/>
              </a:rPr>
              <a:t>→  your identifier &amp; panel (e.g. bond issuers)</a:t>
            </a:r>
            <a:endParaRPr lang="en-US" sz="1050" dirty="0"/>
          </a:p>
        </p:txBody>
      </p:sp>
      <p:sp>
        <p:nvSpPr>
          <p:cNvPr id="12" name="Shape 9"/>
          <p:cNvSpPr/>
          <p:nvPr/>
        </p:nvSpPr>
        <p:spPr>
          <a:xfrm>
            <a:off x="777240" y="2642616"/>
            <a:ext cx="10637215" cy="749808"/>
          </a:xfrm>
          <a:prstGeom prst="rect">
            <a:avLst/>
          </a:prstGeom>
          <a:solidFill>
            <a:srgbClr val="F4F4F2"/>
          </a:solidFill>
          <a:ln w="9525">
            <a:solidFill>
              <a:srgbClr val="E2E1DC"/>
            </a:solidFill>
            <a:prstDash val="solid"/>
          </a:ln>
        </p:spPr>
      </p:sp>
      <p:sp>
        <p:nvSpPr>
          <p:cNvPr id="13" name="Shape 10"/>
          <p:cNvSpPr/>
          <p:nvPr/>
        </p:nvSpPr>
        <p:spPr>
          <a:xfrm>
            <a:off x="777240" y="2642616"/>
            <a:ext cx="91440" cy="749808"/>
          </a:xfrm>
          <a:prstGeom prst="rect">
            <a:avLst/>
          </a:prstGeom>
          <a:solidFill>
            <a:srgbClr val="004F71"/>
          </a:solidFill>
          <a:ln/>
        </p:spPr>
      </p:sp>
      <p:sp>
        <p:nvSpPr>
          <p:cNvPr id="14" name="Shape 11"/>
          <p:cNvSpPr/>
          <p:nvPr/>
        </p:nvSpPr>
        <p:spPr>
          <a:xfrm>
            <a:off x="1051560" y="2788920"/>
            <a:ext cx="457200" cy="457200"/>
          </a:xfrm>
          <a:prstGeom prst="ellipse">
            <a:avLst/>
          </a:prstGeom>
          <a:solidFill>
            <a:srgbClr val="004F71"/>
          </a:solidFill>
          <a:ln/>
        </p:spPr>
      </p:sp>
      <p:pic>
        <p:nvPicPr>
          <p:cNvPr id="15" name="Image 1" descr="preencoded.png">    </p:cNvPr>
          <p:cNvPicPr>
            <a:picLocks noChangeAspect="1"/>
          </p:cNvPicPr>
          <p:nvPr/>
        </p:nvPicPr>
        <p:blipFill>
          <a:blip r:embed="rId2"/>
          <a:stretch>
            <a:fillRect/>
          </a:stretch>
        </p:blipFill>
        <p:spPr>
          <a:xfrm>
            <a:off x="1170432" y="2907792"/>
            <a:ext cx="219456" cy="219456"/>
          </a:xfrm>
          <a:prstGeom prst="rect">
            <a:avLst/>
          </a:prstGeom>
        </p:spPr>
      </p:pic>
      <p:sp>
        <p:nvSpPr>
          <p:cNvPr id="16" name="Text 12"/>
          <p:cNvSpPr/>
          <p:nvPr/>
        </p:nvSpPr>
        <p:spPr>
          <a:xfrm>
            <a:off x="1691640" y="2642616"/>
            <a:ext cx="2331720" cy="749808"/>
          </a:xfrm>
          <a:prstGeom prst="rect">
            <a:avLst/>
          </a:prstGeom>
          <a:noFill/>
          <a:ln/>
        </p:spPr>
        <p:txBody>
          <a:bodyPr wrap="square" lIns="0" tIns="0" rIns="0" bIns="0" rtlCol="0" anchor="ctr"/>
          <a:lstStyle/>
          <a:p>
            <a:pPr indent="0" marL="0">
              <a:lnSpc>
                <a:spcPct val="95000"/>
              </a:lnSpc>
              <a:buNone/>
            </a:pPr>
            <a:r>
              <a:rPr lang="en-US" sz="1300" b="1" dirty="0">
                <a:solidFill>
                  <a:srgbClr val="005239"/>
                </a:solidFill>
                <a:latin typeface="Poppins" pitchFamily="34" charset="0"/>
                <a:ea typeface="Poppins" pitchFamily="34" charset="-122"/>
                <a:cs typeface="Poppins" pitchFamily="34" charset="-120"/>
              </a:rPr>
              <a:t>THE OUTCOME</a:t>
            </a:r>
            <a:endParaRPr lang="en-US" sz="1300" dirty="0"/>
          </a:p>
        </p:txBody>
      </p:sp>
      <p:sp>
        <p:nvSpPr>
          <p:cNvPr id="17" name="Text 13"/>
          <p:cNvSpPr/>
          <p:nvPr/>
        </p:nvSpPr>
        <p:spPr>
          <a:xfrm>
            <a:off x="4069080" y="2642616"/>
            <a:ext cx="4663440" cy="749808"/>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The variable you actually care about moving.</a:t>
            </a:r>
            <a:endParaRPr lang="en-US" sz="1150" dirty="0"/>
          </a:p>
        </p:txBody>
      </p:sp>
      <p:sp>
        <p:nvSpPr>
          <p:cNvPr id="18" name="Text 14"/>
          <p:cNvSpPr/>
          <p:nvPr/>
        </p:nvSpPr>
        <p:spPr>
          <a:xfrm>
            <a:off x="8778240" y="2642616"/>
            <a:ext cx="2544775" cy="749808"/>
          </a:xfrm>
          <a:prstGeom prst="rect">
            <a:avLst/>
          </a:prstGeom>
          <a:noFill/>
          <a:ln/>
        </p:spPr>
        <p:txBody>
          <a:bodyPr wrap="square" lIns="0" tIns="0" rIns="0" bIns="0" rtlCol="0" anchor="ctr"/>
          <a:lstStyle/>
          <a:p>
            <a:pPr indent="0" marL="0">
              <a:lnSpc>
                <a:spcPct val="100000"/>
              </a:lnSpc>
              <a:buNone/>
            </a:pPr>
            <a:r>
              <a:rPr lang="en-US" sz="1050" i="1" dirty="0">
                <a:solidFill>
                  <a:srgbClr val="727579"/>
                </a:solidFill>
                <a:latin typeface="Open Sans" pitchFamily="34" charset="0"/>
                <a:ea typeface="Open Sans" pitchFamily="34" charset="-122"/>
                <a:cs typeface="Open Sans" pitchFamily="34" charset="-120"/>
              </a:rPr>
              <a:t>→  the source that holds it (e.g. bond pricing data)</a:t>
            </a:r>
            <a:endParaRPr lang="en-US" sz="1050" dirty="0"/>
          </a:p>
        </p:txBody>
      </p:sp>
      <p:sp>
        <p:nvSpPr>
          <p:cNvPr id="19" name="Shape 15"/>
          <p:cNvSpPr/>
          <p:nvPr/>
        </p:nvSpPr>
        <p:spPr>
          <a:xfrm>
            <a:off x="777240" y="3456432"/>
            <a:ext cx="10637215" cy="749808"/>
          </a:xfrm>
          <a:prstGeom prst="rect">
            <a:avLst/>
          </a:prstGeom>
          <a:solidFill>
            <a:srgbClr val="FFFFFF"/>
          </a:solidFill>
          <a:ln w="9525">
            <a:solidFill>
              <a:srgbClr val="E2E1DC"/>
            </a:solidFill>
            <a:prstDash val="solid"/>
          </a:ln>
        </p:spPr>
      </p:sp>
      <p:sp>
        <p:nvSpPr>
          <p:cNvPr id="20" name="Shape 16"/>
          <p:cNvSpPr/>
          <p:nvPr/>
        </p:nvSpPr>
        <p:spPr>
          <a:xfrm>
            <a:off x="777240" y="3456432"/>
            <a:ext cx="91440" cy="749808"/>
          </a:xfrm>
          <a:prstGeom prst="rect">
            <a:avLst/>
          </a:prstGeom>
          <a:solidFill>
            <a:srgbClr val="004F71"/>
          </a:solidFill>
          <a:ln/>
        </p:spPr>
      </p:sp>
      <p:sp>
        <p:nvSpPr>
          <p:cNvPr id="21" name="Shape 17"/>
          <p:cNvSpPr/>
          <p:nvPr/>
        </p:nvSpPr>
        <p:spPr>
          <a:xfrm>
            <a:off x="1051560" y="3602736"/>
            <a:ext cx="457200" cy="457200"/>
          </a:xfrm>
          <a:prstGeom prst="ellipse">
            <a:avLst/>
          </a:prstGeom>
          <a:solidFill>
            <a:srgbClr val="004F71"/>
          </a:solidFill>
          <a:ln/>
        </p:spPr>
      </p:sp>
      <p:pic>
        <p:nvPicPr>
          <p:cNvPr id="22" name="Image 2" descr="preencoded.png">    </p:cNvPr>
          <p:cNvPicPr>
            <a:picLocks noChangeAspect="1"/>
          </p:cNvPicPr>
          <p:nvPr/>
        </p:nvPicPr>
        <p:blipFill>
          <a:blip r:embed="rId3"/>
          <a:stretch>
            <a:fillRect/>
          </a:stretch>
        </p:blipFill>
        <p:spPr>
          <a:xfrm>
            <a:off x="1170432" y="3721608"/>
            <a:ext cx="219456" cy="219456"/>
          </a:xfrm>
          <a:prstGeom prst="rect">
            <a:avLst/>
          </a:prstGeom>
        </p:spPr>
      </p:pic>
      <p:sp>
        <p:nvSpPr>
          <p:cNvPr id="23" name="Text 18"/>
          <p:cNvSpPr/>
          <p:nvPr/>
        </p:nvSpPr>
        <p:spPr>
          <a:xfrm>
            <a:off x="1691640" y="3456432"/>
            <a:ext cx="2331720" cy="749808"/>
          </a:xfrm>
          <a:prstGeom prst="rect">
            <a:avLst/>
          </a:prstGeom>
          <a:noFill/>
          <a:ln/>
        </p:spPr>
        <p:txBody>
          <a:bodyPr wrap="square" lIns="0" tIns="0" rIns="0" bIns="0" rtlCol="0" anchor="ctr"/>
          <a:lstStyle/>
          <a:p>
            <a:pPr indent="0" marL="0">
              <a:lnSpc>
                <a:spcPct val="95000"/>
              </a:lnSpc>
              <a:buNone/>
            </a:pPr>
            <a:r>
              <a:rPr lang="en-US" sz="1300" b="1" dirty="0">
                <a:solidFill>
                  <a:srgbClr val="005239"/>
                </a:solidFill>
                <a:latin typeface="Poppins" pitchFamily="34" charset="0"/>
                <a:ea typeface="Poppins" pitchFamily="34" charset="-122"/>
                <a:cs typeface="Poppins" pitchFamily="34" charset="-120"/>
              </a:rPr>
              <a:t>THE WHEN</a:t>
            </a:r>
            <a:endParaRPr lang="en-US" sz="1300" dirty="0"/>
          </a:p>
        </p:txBody>
      </p:sp>
      <p:sp>
        <p:nvSpPr>
          <p:cNvPr id="24" name="Text 19"/>
          <p:cNvSpPr/>
          <p:nvPr/>
        </p:nvSpPr>
        <p:spPr>
          <a:xfrm>
            <a:off x="4069080" y="3456432"/>
            <a:ext cx="4663440" cy="749808"/>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The event, the shock, the timing that drives the design.</a:t>
            </a:r>
            <a:endParaRPr lang="en-US" sz="1150" dirty="0"/>
          </a:p>
        </p:txBody>
      </p:sp>
      <p:sp>
        <p:nvSpPr>
          <p:cNvPr id="25" name="Text 20"/>
          <p:cNvSpPr/>
          <p:nvPr/>
        </p:nvSpPr>
        <p:spPr>
          <a:xfrm>
            <a:off x="8778240" y="3456432"/>
            <a:ext cx="2544775" cy="749808"/>
          </a:xfrm>
          <a:prstGeom prst="rect">
            <a:avLst/>
          </a:prstGeom>
          <a:noFill/>
          <a:ln/>
        </p:spPr>
        <p:txBody>
          <a:bodyPr wrap="square" lIns="0" tIns="0" rIns="0" bIns="0" rtlCol="0" anchor="ctr"/>
          <a:lstStyle/>
          <a:p>
            <a:pPr indent="0" marL="0">
              <a:lnSpc>
                <a:spcPct val="100000"/>
              </a:lnSpc>
              <a:buNone/>
            </a:pPr>
            <a:r>
              <a:rPr lang="en-US" sz="1050" i="1" dirty="0">
                <a:solidFill>
                  <a:srgbClr val="727579"/>
                </a:solidFill>
                <a:latin typeface="Open Sans" pitchFamily="34" charset="0"/>
                <a:ea typeface="Open Sans" pitchFamily="34" charset="-122"/>
                <a:cs typeface="Open Sans" pitchFamily="34" charset="-120"/>
              </a:rPr>
              <a:t>→  the dates &amp; their source (e.g. adoption records)</a:t>
            </a:r>
            <a:endParaRPr lang="en-US" sz="1050" dirty="0"/>
          </a:p>
        </p:txBody>
      </p:sp>
      <p:sp>
        <p:nvSpPr>
          <p:cNvPr id="26" name="Shape 21"/>
          <p:cNvSpPr/>
          <p:nvPr/>
        </p:nvSpPr>
        <p:spPr>
          <a:xfrm>
            <a:off x="777240" y="4270248"/>
            <a:ext cx="10637215" cy="749808"/>
          </a:xfrm>
          <a:prstGeom prst="rect">
            <a:avLst/>
          </a:prstGeom>
          <a:solidFill>
            <a:srgbClr val="EAF1EF"/>
          </a:solidFill>
          <a:ln w="15875">
            <a:solidFill>
              <a:srgbClr val="008285"/>
            </a:solidFill>
            <a:prstDash val="solid"/>
          </a:ln>
        </p:spPr>
      </p:sp>
      <p:sp>
        <p:nvSpPr>
          <p:cNvPr id="27" name="Shape 22"/>
          <p:cNvSpPr/>
          <p:nvPr/>
        </p:nvSpPr>
        <p:spPr>
          <a:xfrm>
            <a:off x="777240" y="4270248"/>
            <a:ext cx="91440" cy="749808"/>
          </a:xfrm>
          <a:prstGeom prst="rect">
            <a:avLst/>
          </a:prstGeom>
          <a:solidFill>
            <a:srgbClr val="008285"/>
          </a:solidFill>
          <a:ln/>
        </p:spPr>
      </p:sp>
      <p:sp>
        <p:nvSpPr>
          <p:cNvPr id="28" name="Shape 23"/>
          <p:cNvSpPr/>
          <p:nvPr/>
        </p:nvSpPr>
        <p:spPr>
          <a:xfrm>
            <a:off x="1051560" y="4416552"/>
            <a:ext cx="457200" cy="457200"/>
          </a:xfrm>
          <a:prstGeom prst="ellipse">
            <a:avLst/>
          </a:prstGeom>
          <a:solidFill>
            <a:srgbClr val="008285"/>
          </a:solidFill>
          <a:ln/>
        </p:spPr>
      </p:sp>
      <p:pic>
        <p:nvPicPr>
          <p:cNvPr id="29" name="Image 3" descr="preencoded.png">    </p:cNvPr>
          <p:cNvPicPr>
            <a:picLocks noChangeAspect="1"/>
          </p:cNvPicPr>
          <p:nvPr/>
        </p:nvPicPr>
        <p:blipFill>
          <a:blip r:embed="rId4"/>
          <a:stretch>
            <a:fillRect/>
          </a:stretch>
        </p:blipFill>
        <p:spPr>
          <a:xfrm>
            <a:off x="1170432" y="4535424"/>
            <a:ext cx="219456" cy="219456"/>
          </a:xfrm>
          <a:prstGeom prst="rect">
            <a:avLst/>
          </a:prstGeom>
        </p:spPr>
      </p:pic>
      <p:sp>
        <p:nvSpPr>
          <p:cNvPr id="30" name="Text 24"/>
          <p:cNvSpPr/>
          <p:nvPr/>
        </p:nvSpPr>
        <p:spPr>
          <a:xfrm>
            <a:off x="1691640" y="4270248"/>
            <a:ext cx="2331720" cy="749808"/>
          </a:xfrm>
          <a:prstGeom prst="rect">
            <a:avLst/>
          </a:prstGeom>
          <a:noFill/>
          <a:ln/>
        </p:spPr>
        <p:txBody>
          <a:bodyPr wrap="square" lIns="0" tIns="0" rIns="0" bIns="0" rtlCol="0" anchor="ctr"/>
          <a:lstStyle/>
          <a:p>
            <a:pPr indent="0" marL="0">
              <a:lnSpc>
                <a:spcPct val="95000"/>
              </a:lnSpc>
              <a:buNone/>
            </a:pPr>
            <a:r>
              <a:rPr lang="en-US" sz="1300" b="1" dirty="0">
                <a:solidFill>
                  <a:srgbClr val="005239"/>
                </a:solidFill>
                <a:latin typeface="Poppins" pitchFamily="34" charset="0"/>
                <a:ea typeface="Poppins" pitchFamily="34" charset="-122"/>
                <a:cs typeface="Poppins" pitchFamily="34" charset="-120"/>
              </a:rPr>
              <a:t>RAINBOW, MAPPED</a:t>
            </a:r>
            <a:endParaRPr lang="en-US" sz="1300" dirty="0"/>
          </a:p>
        </p:txBody>
      </p:sp>
      <p:sp>
        <p:nvSpPr>
          <p:cNvPr id="31" name="Text 25"/>
          <p:cNvSpPr/>
          <p:nvPr/>
        </p:nvSpPr>
        <p:spPr>
          <a:xfrm>
            <a:off x="4069080" y="4270248"/>
            <a:ext cx="4663440" cy="749808"/>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Municipal issuers · borrowing costs · same-sex-marriage-ban dates.</a:t>
            </a:r>
            <a:endParaRPr lang="en-US" sz="1150" dirty="0"/>
          </a:p>
        </p:txBody>
      </p:sp>
      <p:sp>
        <p:nvSpPr>
          <p:cNvPr id="32" name="Text 26"/>
          <p:cNvSpPr/>
          <p:nvPr/>
        </p:nvSpPr>
        <p:spPr>
          <a:xfrm>
            <a:off x="8778240" y="4270248"/>
            <a:ext cx="2544775" cy="749808"/>
          </a:xfrm>
          <a:prstGeom prst="rect">
            <a:avLst/>
          </a:prstGeom>
          <a:noFill/>
          <a:ln/>
        </p:spPr>
        <p:txBody>
          <a:bodyPr wrap="square" lIns="0" tIns="0" rIns="0" bIns="0" rtlCol="0" anchor="ctr"/>
          <a:lstStyle/>
          <a:p>
            <a:pPr indent="0" marL="0">
              <a:lnSpc>
                <a:spcPct val="100000"/>
              </a:lnSpc>
              <a:buNone/>
            </a:pPr>
            <a:r>
              <a:rPr lang="en-US" sz="1050" i="1" dirty="0">
                <a:solidFill>
                  <a:srgbClr val="008285"/>
                </a:solidFill>
                <a:latin typeface="Open Sans" pitchFamily="34" charset="0"/>
                <a:ea typeface="Open Sans" pitchFamily="34" charset="-122"/>
                <a:cs typeface="Open Sans" pitchFamily="34" charset="-120"/>
              </a:rPr>
              <a:t>→  a named dataset for every piece</a:t>
            </a:r>
            <a:endParaRPr lang="en-US" sz="1050" dirty="0"/>
          </a:p>
        </p:txBody>
      </p:sp>
      <p:sp>
        <p:nvSpPr>
          <p:cNvPr id="33" name="Text 27"/>
          <p:cNvSpPr/>
          <p:nvPr/>
        </p:nvSpPr>
        <p:spPr>
          <a:xfrm>
            <a:off x="777240" y="5257800"/>
            <a:ext cx="10637215" cy="365760"/>
          </a:xfrm>
          <a:prstGeom prst="rect">
            <a:avLst/>
          </a:prstGeom>
          <a:noFill/>
          <a:ln/>
        </p:spPr>
        <p:txBody>
          <a:bodyPr wrap="square" lIns="0" tIns="0" rIns="0" bIns="0" rtlCol="0" anchor="ctr"/>
          <a:lstStyle/>
          <a:p>
            <a:pPr algn="ctr" indent="0" marL="0">
              <a:buNone/>
            </a:pPr>
            <a:r>
              <a:rPr lang="en-US" sz="1300" i="1" dirty="0">
                <a:solidFill>
                  <a:srgbClr val="004F71"/>
                </a:solidFill>
                <a:latin typeface="Open Sans" pitchFamily="34" charset="0"/>
                <a:ea typeface="Open Sans" pitchFamily="34" charset="-122"/>
                <a:cs typeface="Open Sans" pitchFamily="34" charset="-120"/>
              </a:rPr>
              <a:t>The hard rule: if you can't name the dataset, you don't yet have a project — you have a wish.</a:t>
            </a:r>
            <a:endParaRPr lang="en-US" sz="1300" dirty="0"/>
          </a:p>
        </p:txBody>
      </p:sp>
      <p:sp>
        <p:nvSpPr>
          <p:cNvPr id="34" name="Text 28"/>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35" name="Text 29"/>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FFC733"/>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FFC733"/>
                </a:solidFill>
                <a:latin typeface="Open Sans" pitchFamily="34" charset="0"/>
                <a:ea typeface="Open Sans" pitchFamily="34" charset="-122"/>
                <a:cs typeface="Open Sans" pitchFamily="34" charset="-120"/>
              </a:rPr>
              <a:t>BLOCK A · THE LOAD-BEARING WALL</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one sentence your whole project rests on</a:t>
            </a:r>
            <a:endParaRPr lang="en-US" sz="3000" dirty="0"/>
          </a:p>
        </p:txBody>
      </p:sp>
      <p:sp>
        <p:nvSpPr>
          <p:cNvPr id="5" name="Shape 3"/>
          <p:cNvSpPr/>
          <p:nvPr/>
        </p:nvSpPr>
        <p:spPr>
          <a:xfrm>
            <a:off x="777240" y="1783080"/>
            <a:ext cx="10637215" cy="1691640"/>
          </a:xfrm>
          <a:prstGeom prst="rect">
            <a:avLst/>
          </a:prstGeom>
          <a:solidFill>
            <a:srgbClr val="005239"/>
          </a:solidFill>
          <a:ln/>
          <a:effectLst>
            <a:outerShdw sx="100000" sy="100000" kx="0" ky="0" algn="bl" rotWithShape="0" blurRad="88900" dist="38100" dir="5400000">
              <a:srgbClr val="9A9488">
                <a:alpha val="22000"/>
              </a:srgbClr>
            </a:outerShdw>
          </a:effectLst>
        </p:spPr>
      </p:sp>
      <p:sp>
        <p:nvSpPr>
          <p:cNvPr id="6" name="Shape 4"/>
          <p:cNvSpPr/>
          <p:nvPr/>
        </p:nvSpPr>
        <p:spPr>
          <a:xfrm>
            <a:off x="777240" y="1783080"/>
            <a:ext cx="146304" cy="1691640"/>
          </a:xfrm>
          <a:prstGeom prst="rect">
            <a:avLst/>
          </a:prstGeom>
          <a:solidFill>
            <a:srgbClr val="FFC733"/>
          </a:solidFill>
          <a:ln/>
        </p:spPr>
      </p:sp>
      <p:sp>
        <p:nvSpPr>
          <p:cNvPr id="7" name="Text 5"/>
          <p:cNvSpPr/>
          <p:nvPr/>
        </p:nvSpPr>
        <p:spPr>
          <a:xfrm>
            <a:off x="1234440" y="1783080"/>
            <a:ext cx="9814255" cy="1691640"/>
          </a:xfrm>
          <a:prstGeom prst="rect">
            <a:avLst/>
          </a:prstGeom>
          <a:noFill/>
          <a:ln/>
        </p:spPr>
        <p:txBody>
          <a:bodyPr wrap="square" lIns="0" tIns="0" rIns="0" bIns="0" rtlCol="0" anchor="ctr"/>
          <a:lstStyle/>
          <a:p>
            <a:pPr algn="l" indent="0" marL="0">
              <a:lnSpc>
                <a:spcPct val="112000"/>
              </a:lnSpc>
              <a:buNone/>
            </a:pPr>
            <a:r>
              <a:rPr lang="en-US" sz="2200" dirty="0">
                <a:solidFill>
                  <a:srgbClr val="FFFFFF"/>
                </a:solidFill>
                <a:latin typeface="Poppins" pitchFamily="34" charset="0"/>
                <a:ea typeface="Poppins" pitchFamily="34" charset="-122"/>
                <a:cs typeface="Poppins" pitchFamily="34" charset="-120"/>
              </a:rPr>
              <a:t>“Comparing </a:t>
            </a:r>
            <a:pPr algn="l" indent="0" marL="0">
              <a:lnSpc>
                <a:spcPct val="112000"/>
              </a:lnSpc>
              <a:buNone/>
            </a:pPr>
            <a:r>
              <a:rPr lang="en-US" sz="2200" b="1" dirty="0">
                <a:solidFill>
                  <a:srgbClr val="FFC733"/>
                </a:solidFill>
                <a:latin typeface="Poppins" pitchFamily="34" charset="0"/>
                <a:ea typeface="Poppins" pitchFamily="34" charset="-122"/>
                <a:cs typeface="Poppins" pitchFamily="34" charset="-120"/>
              </a:rPr>
              <a:t>[treated]</a:t>
            </a:r>
            <a:pPr algn="l" indent="0" marL="0">
              <a:lnSpc>
                <a:spcPct val="112000"/>
              </a:lnSpc>
              <a:buNone/>
            </a:pPr>
            <a:r>
              <a:rPr lang="en-US" sz="2200" dirty="0">
                <a:solidFill>
                  <a:srgbClr val="FFFFFF"/>
                </a:solidFill>
                <a:latin typeface="Poppins" pitchFamily="34" charset="0"/>
                <a:ea typeface="Poppins" pitchFamily="34" charset="-122"/>
                <a:cs typeface="Poppins" pitchFamily="34" charset="-120"/>
              </a:rPr>
              <a:t> to </a:t>
            </a:r>
            <a:pPr algn="l" indent="0" marL="0">
              <a:lnSpc>
                <a:spcPct val="112000"/>
              </a:lnSpc>
              <a:buNone/>
            </a:pPr>
            <a:r>
              <a:rPr lang="en-US" sz="2200" b="1" dirty="0">
                <a:solidFill>
                  <a:srgbClr val="FFC733"/>
                </a:solidFill>
                <a:latin typeface="Poppins" pitchFamily="34" charset="0"/>
                <a:ea typeface="Poppins" pitchFamily="34" charset="-122"/>
                <a:cs typeface="Poppins" pitchFamily="34" charset="-120"/>
              </a:rPr>
              <a:t>[controls]</a:t>
            </a:r>
            <a:pPr algn="l" indent="0" marL="0">
              <a:lnSpc>
                <a:spcPct val="112000"/>
              </a:lnSpc>
              <a:buNone/>
            </a:pPr>
            <a:r>
              <a:rPr lang="en-US" sz="2200" dirty="0">
                <a:solidFill>
                  <a:srgbClr val="FFFFFF"/>
                </a:solidFill>
                <a:latin typeface="Poppins" pitchFamily="34" charset="0"/>
                <a:ea typeface="Poppins" pitchFamily="34" charset="-122"/>
                <a:cs typeface="Poppins" pitchFamily="34" charset="-120"/>
              </a:rPr>
              <a:t>, my estimate of </a:t>
            </a:r>
            <a:pPr algn="l" indent="0" marL="0">
              <a:lnSpc>
                <a:spcPct val="112000"/>
              </a:lnSpc>
              <a:buNone/>
            </a:pPr>
            <a:r>
              <a:rPr lang="en-US" sz="2200" b="1" dirty="0">
                <a:solidFill>
                  <a:srgbClr val="FFC733"/>
                </a:solidFill>
                <a:latin typeface="Poppins" pitchFamily="34" charset="0"/>
                <a:ea typeface="Poppins" pitchFamily="34" charset="-122"/>
                <a:cs typeface="Poppins" pitchFamily="34" charset="-120"/>
              </a:rPr>
              <a:t>[the effect]</a:t>
            </a:r>
            <a:pPr algn="l" indent="0" marL="0">
              <a:lnSpc>
                <a:spcPct val="112000"/>
              </a:lnSpc>
              <a:buNone/>
            </a:pPr>
            <a:r>
              <a:rPr lang="en-US" sz="2200" dirty="0">
                <a:solidFill>
                  <a:srgbClr val="FFFFFF"/>
                </a:solidFill>
                <a:latin typeface="Poppins" pitchFamily="34" charset="0"/>
                <a:ea typeface="Poppins" pitchFamily="34" charset="-122"/>
                <a:cs typeface="Poppins" pitchFamily="34" charset="-120"/>
              </a:rPr>
              <a:t> is causal </a:t>
            </a:r>
            <a:pPr algn="l" indent="0" marL="0">
              <a:lnSpc>
                <a:spcPct val="112000"/>
              </a:lnSpc>
              <a:buNone/>
            </a:pPr>
            <a:r>
              <a:rPr lang="en-US" sz="2200" b="1" dirty="0">
                <a:solidFill>
                  <a:srgbClr val="CFE0D8"/>
                </a:solidFill>
                <a:latin typeface="Poppins" pitchFamily="34" charset="0"/>
                <a:ea typeface="Poppins" pitchFamily="34" charset="-122"/>
                <a:cs typeface="Poppins" pitchFamily="34" charset="-120"/>
              </a:rPr>
              <a:t>IF</a:t>
            </a:r>
            <a:pPr algn="l" indent="0" marL="0">
              <a:lnSpc>
                <a:spcPct val="112000"/>
              </a:lnSpc>
              <a:buNone/>
            </a:pPr>
            <a:r>
              <a:rPr lang="en-US" sz="2200" dirty="0">
                <a:solidFill>
                  <a:srgbClr val="FFFFFF"/>
                </a:solidFill>
                <a:latin typeface="Poppins" pitchFamily="34" charset="0"/>
                <a:ea typeface="Poppins" pitchFamily="34" charset="-122"/>
                <a:cs typeface="Poppins" pitchFamily="34" charset="-120"/>
              </a:rPr>
              <a:t> </a:t>
            </a:r>
            <a:pPr algn="l" indent="0" marL="0">
              <a:lnSpc>
                <a:spcPct val="112000"/>
              </a:lnSpc>
              <a:buNone/>
            </a:pPr>
            <a:r>
              <a:rPr lang="en-US" sz="2200" b="1" dirty="0">
                <a:solidFill>
                  <a:srgbClr val="FFC733"/>
                </a:solidFill>
                <a:latin typeface="Poppins" pitchFamily="34" charset="0"/>
                <a:ea typeface="Poppins" pitchFamily="34" charset="-122"/>
                <a:cs typeface="Poppins" pitchFamily="34" charset="-120"/>
              </a:rPr>
              <a:t>[the assumption]</a:t>
            </a:r>
            <a:pPr algn="l" indent="0" marL="0">
              <a:lnSpc>
                <a:spcPct val="112000"/>
              </a:lnSpc>
              <a:buNone/>
            </a:pPr>
            <a:r>
              <a:rPr lang="en-US" sz="2200" dirty="0">
                <a:solidFill>
                  <a:srgbClr val="FFFFFF"/>
                </a:solidFill>
                <a:latin typeface="Poppins" pitchFamily="34" charset="0"/>
                <a:ea typeface="Poppins" pitchFamily="34" charset="-122"/>
                <a:cs typeface="Poppins" pitchFamily="34" charset="-120"/>
              </a:rPr>
              <a:t>, which is plausible </a:t>
            </a:r>
            <a:pPr algn="l" indent="0" marL="0">
              <a:lnSpc>
                <a:spcPct val="112000"/>
              </a:lnSpc>
              <a:buNone/>
            </a:pPr>
            <a:r>
              <a:rPr lang="en-US" sz="2200" b="1" dirty="0">
                <a:solidFill>
                  <a:srgbClr val="CFE0D8"/>
                </a:solidFill>
                <a:latin typeface="Poppins" pitchFamily="34" charset="0"/>
                <a:ea typeface="Poppins" pitchFamily="34" charset="-122"/>
                <a:cs typeface="Poppins" pitchFamily="34" charset="-120"/>
              </a:rPr>
              <a:t>BECAUSE</a:t>
            </a:r>
            <a:pPr algn="l" indent="0" marL="0">
              <a:lnSpc>
                <a:spcPct val="112000"/>
              </a:lnSpc>
              <a:buNone/>
            </a:pPr>
            <a:r>
              <a:rPr lang="en-US" sz="2200" dirty="0">
                <a:solidFill>
                  <a:srgbClr val="FFFFFF"/>
                </a:solidFill>
                <a:latin typeface="Poppins" pitchFamily="34" charset="0"/>
                <a:ea typeface="Poppins" pitchFamily="34" charset="-122"/>
                <a:cs typeface="Poppins" pitchFamily="34" charset="-120"/>
              </a:rPr>
              <a:t> </a:t>
            </a:r>
            <a:pPr algn="l" indent="0" marL="0">
              <a:lnSpc>
                <a:spcPct val="112000"/>
              </a:lnSpc>
              <a:buNone/>
            </a:pPr>
            <a:r>
              <a:rPr lang="en-US" sz="2200" b="1" dirty="0">
                <a:solidFill>
                  <a:srgbClr val="FFC733"/>
                </a:solidFill>
                <a:latin typeface="Poppins" pitchFamily="34" charset="0"/>
                <a:ea typeface="Poppins" pitchFamily="34" charset="-122"/>
                <a:cs typeface="Poppins" pitchFamily="34" charset="-120"/>
              </a:rPr>
              <a:t>[the design feature]</a:t>
            </a:r>
            <a:pPr algn="l" indent="0" marL="0">
              <a:lnSpc>
                <a:spcPct val="112000"/>
              </a:lnSpc>
              <a:buNone/>
            </a:pPr>
            <a:r>
              <a:rPr lang="en-US" sz="2200" dirty="0">
                <a:solidFill>
                  <a:srgbClr val="FFFFFF"/>
                </a:solidFill>
                <a:latin typeface="Poppins" pitchFamily="34" charset="0"/>
                <a:ea typeface="Poppins" pitchFamily="34" charset="-122"/>
                <a:cs typeface="Poppins" pitchFamily="34" charset="-120"/>
              </a:rPr>
              <a:t>.”</a:t>
            </a:r>
            <a:endParaRPr lang="en-US" sz="2200" dirty="0"/>
          </a:p>
        </p:txBody>
      </p:sp>
      <p:sp>
        <p:nvSpPr>
          <p:cNvPr id="8" name="Shape 6"/>
          <p:cNvSpPr/>
          <p:nvPr/>
        </p:nvSpPr>
        <p:spPr>
          <a:xfrm>
            <a:off x="777240" y="3794760"/>
            <a:ext cx="3240938" cy="16002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9" name="Shape 7"/>
          <p:cNvSpPr/>
          <p:nvPr/>
        </p:nvSpPr>
        <p:spPr>
          <a:xfrm>
            <a:off x="777240" y="3794760"/>
            <a:ext cx="3240938" cy="91440"/>
          </a:xfrm>
          <a:prstGeom prst="rect">
            <a:avLst/>
          </a:prstGeom>
          <a:solidFill>
            <a:srgbClr val="004F71"/>
          </a:solidFill>
          <a:ln/>
        </p:spPr>
      </p:sp>
      <p:sp>
        <p:nvSpPr>
          <p:cNvPr id="10" name="Shape 8"/>
          <p:cNvSpPr/>
          <p:nvPr/>
        </p:nvSpPr>
        <p:spPr>
          <a:xfrm>
            <a:off x="1097280" y="4069080"/>
            <a:ext cx="566928" cy="566928"/>
          </a:xfrm>
          <a:prstGeom prst="ellipse">
            <a:avLst/>
          </a:prstGeom>
          <a:solidFill>
            <a:srgbClr val="004F71"/>
          </a:solidFill>
          <a:ln/>
        </p:spPr>
      </p:sp>
      <p:pic>
        <p:nvPicPr>
          <p:cNvPr id="11" name="Image 0" descr="preencoded.png">    </p:cNvPr>
          <p:cNvPicPr>
            <a:picLocks noChangeAspect="1"/>
          </p:cNvPicPr>
          <p:nvPr/>
        </p:nvPicPr>
        <p:blipFill>
          <a:blip r:embed="rId1"/>
          <a:stretch>
            <a:fillRect/>
          </a:stretch>
        </p:blipFill>
        <p:spPr>
          <a:xfrm>
            <a:off x="1244681" y="4216481"/>
            <a:ext cx="272125" cy="272125"/>
          </a:xfrm>
          <a:prstGeom prst="rect">
            <a:avLst/>
          </a:prstGeom>
        </p:spPr>
      </p:pic>
      <p:sp>
        <p:nvSpPr>
          <p:cNvPr id="12" name="Text 9"/>
          <p:cNvSpPr/>
          <p:nvPr/>
        </p:nvSpPr>
        <p:spPr>
          <a:xfrm>
            <a:off x="1828800" y="4069080"/>
            <a:ext cx="1960778" cy="566928"/>
          </a:xfrm>
          <a:prstGeom prst="rect">
            <a:avLst/>
          </a:prstGeom>
          <a:noFill/>
          <a:ln/>
        </p:spPr>
        <p:txBody>
          <a:bodyPr wrap="square" lIns="0" tIns="0" rIns="0" bIns="0" rtlCol="0" anchor="ctr"/>
          <a:lstStyle/>
          <a:p>
            <a:pPr indent="0" marL="0">
              <a:lnSpc>
                <a:spcPct val="95000"/>
              </a:lnSpc>
              <a:buNone/>
            </a:pPr>
            <a:r>
              <a:rPr lang="en-US" sz="1250" b="1" dirty="0">
                <a:solidFill>
                  <a:srgbClr val="005239"/>
                </a:solidFill>
                <a:latin typeface="Poppins" pitchFamily="34" charset="0"/>
                <a:ea typeface="Poppins" pitchFamily="34" charset="-122"/>
                <a:cs typeface="Poppins" pitchFamily="34" charset="-120"/>
              </a:rPr>
              <a:t>Who you compare</a:t>
            </a:r>
            <a:endParaRPr lang="en-US" sz="1250" dirty="0"/>
          </a:p>
        </p:txBody>
      </p:sp>
      <p:sp>
        <p:nvSpPr>
          <p:cNvPr id="13" name="Text 10"/>
          <p:cNvSpPr/>
          <p:nvPr/>
        </p:nvSpPr>
        <p:spPr>
          <a:xfrm>
            <a:off x="1097280" y="4727448"/>
            <a:ext cx="2600858" cy="594360"/>
          </a:xfrm>
          <a:prstGeom prst="rect">
            <a:avLst/>
          </a:prstGeom>
          <a:noFill/>
          <a:ln/>
        </p:spPr>
        <p:txBody>
          <a:bodyPr wrap="square" lIns="0" tIns="0" rIns="0" bIns="0" rtlCol="0" anchor="t"/>
          <a:lstStyle/>
          <a:p>
            <a:pPr indent="0" marL="0">
              <a:lnSpc>
                <a:spcPct val="102000"/>
              </a:lnSpc>
              <a:buNone/>
            </a:pPr>
            <a:r>
              <a:rPr lang="en-US" sz="1050" dirty="0">
                <a:solidFill>
                  <a:srgbClr val="333333"/>
                </a:solidFill>
                <a:latin typeface="Open Sans" pitchFamily="34" charset="0"/>
                <a:ea typeface="Open Sans" pitchFamily="34" charset="-122"/>
                <a:cs typeface="Open Sans" pitchFamily="34" charset="-120"/>
              </a:rPr>
              <a:t>The treated units vs. the controls — the contrast that carries the whole estimate.</a:t>
            </a:r>
            <a:endParaRPr lang="en-US" sz="1050" dirty="0"/>
          </a:p>
        </p:txBody>
      </p:sp>
      <p:sp>
        <p:nvSpPr>
          <p:cNvPr id="14" name="Shape 11"/>
          <p:cNvSpPr/>
          <p:nvPr/>
        </p:nvSpPr>
        <p:spPr>
          <a:xfrm>
            <a:off x="4475378" y="3794760"/>
            <a:ext cx="3240938" cy="16002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5" name="Shape 12"/>
          <p:cNvSpPr/>
          <p:nvPr/>
        </p:nvSpPr>
        <p:spPr>
          <a:xfrm>
            <a:off x="4475378" y="3794760"/>
            <a:ext cx="3240938" cy="91440"/>
          </a:xfrm>
          <a:prstGeom prst="rect">
            <a:avLst/>
          </a:prstGeom>
          <a:solidFill>
            <a:srgbClr val="CC8A00"/>
          </a:solidFill>
          <a:ln/>
        </p:spPr>
      </p:sp>
      <p:sp>
        <p:nvSpPr>
          <p:cNvPr id="16" name="Shape 13"/>
          <p:cNvSpPr/>
          <p:nvPr/>
        </p:nvSpPr>
        <p:spPr>
          <a:xfrm>
            <a:off x="4795418" y="4069080"/>
            <a:ext cx="566928" cy="566928"/>
          </a:xfrm>
          <a:prstGeom prst="ellipse">
            <a:avLst/>
          </a:prstGeom>
          <a:solidFill>
            <a:srgbClr val="CC8A00"/>
          </a:solidFill>
          <a:ln/>
        </p:spPr>
      </p:sp>
      <p:pic>
        <p:nvPicPr>
          <p:cNvPr id="17" name="Image 1" descr="preencoded.png">    </p:cNvPr>
          <p:cNvPicPr>
            <a:picLocks noChangeAspect="1"/>
          </p:cNvPicPr>
          <p:nvPr/>
        </p:nvPicPr>
        <p:blipFill>
          <a:blip r:embed="rId2"/>
          <a:stretch>
            <a:fillRect/>
          </a:stretch>
        </p:blipFill>
        <p:spPr>
          <a:xfrm>
            <a:off x="4942820" y="4216481"/>
            <a:ext cx="272125" cy="272125"/>
          </a:xfrm>
          <a:prstGeom prst="rect">
            <a:avLst/>
          </a:prstGeom>
        </p:spPr>
      </p:pic>
      <p:sp>
        <p:nvSpPr>
          <p:cNvPr id="18" name="Text 14"/>
          <p:cNvSpPr/>
          <p:nvPr/>
        </p:nvSpPr>
        <p:spPr>
          <a:xfrm>
            <a:off x="5526938" y="4069080"/>
            <a:ext cx="1960778" cy="566928"/>
          </a:xfrm>
          <a:prstGeom prst="rect">
            <a:avLst/>
          </a:prstGeom>
          <a:noFill/>
          <a:ln/>
        </p:spPr>
        <p:txBody>
          <a:bodyPr wrap="square" lIns="0" tIns="0" rIns="0" bIns="0" rtlCol="0" anchor="ctr"/>
          <a:lstStyle/>
          <a:p>
            <a:pPr indent="0" marL="0">
              <a:lnSpc>
                <a:spcPct val="95000"/>
              </a:lnSpc>
              <a:buNone/>
            </a:pPr>
            <a:r>
              <a:rPr lang="en-US" sz="1250" b="1" dirty="0">
                <a:solidFill>
                  <a:srgbClr val="005239"/>
                </a:solidFill>
                <a:latin typeface="Poppins" pitchFamily="34" charset="0"/>
                <a:ea typeface="Poppins" pitchFamily="34" charset="-122"/>
                <a:cs typeface="Poppins" pitchFamily="34" charset="-120"/>
              </a:rPr>
              <a:t>What you estimate</a:t>
            </a:r>
            <a:endParaRPr lang="en-US" sz="1250" dirty="0"/>
          </a:p>
        </p:txBody>
      </p:sp>
      <p:sp>
        <p:nvSpPr>
          <p:cNvPr id="19" name="Text 15"/>
          <p:cNvSpPr/>
          <p:nvPr/>
        </p:nvSpPr>
        <p:spPr>
          <a:xfrm>
            <a:off x="4795418" y="4727448"/>
            <a:ext cx="2600858" cy="594360"/>
          </a:xfrm>
          <a:prstGeom prst="rect">
            <a:avLst/>
          </a:prstGeom>
          <a:noFill/>
          <a:ln/>
        </p:spPr>
        <p:txBody>
          <a:bodyPr wrap="square" lIns="0" tIns="0" rIns="0" bIns="0" rtlCol="0" anchor="t"/>
          <a:lstStyle/>
          <a:p>
            <a:pPr indent="0" marL="0">
              <a:lnSpc>
                <a:spcPct val="102000"/>
              </a:lnSpc>
              <a:buNone/>
            </a:pPr>
            <a:r>
              <a:rPr lang="en-US" sz="1050" dirty="0">
                <a:solidFill>
                  <a:srgbClr val="333333"/>
                </a:solidFill>
                <a:latin typeface="Open Sans" pitchFamily="34" charset="0"/>
                <a:ea typeface="Open Sans" pitchFamily="34" charset="-122"/>
                <a:cs typeface="Open Sans" pitchFamily="34" charset="-120"/>
              </a:rPr>
              <a:t>The single effect you're after — one clear parameter, not a fishing expedition.</a:t>
            </a:r>
            <a:endParaRPr lang="en-US" sz="1050" dirty="0"/>
          </a:p>
        </p:txBody>
      </p:sp>
      <p:sp>
        <p:nvSpPr>
          <p:cNvPr id="20" name="Shape 16"/>
          <p:cNvSpPr/>
          <p:nvPr/>
        </p:nvSpPr>
        <p:spPr>
          <a:xfrm>
            <a:off x="8173517" y="3794760"/>
            <a:ext cx="3240938" cy="16002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1" name="Shape 17"/>
          <p:cNvSpPr/>
          <p:nvPr/>
        </p:nvSpPr>
        <p:spPr>
          <a:xfrm>
            <a:off x="8173517" y="3794760"/>
            <a:ext cx="3240938" cy="91440"/>
          </a:xfrm>
          <a:prstGeom prst="rect">
            <a:avLst/>
          </a:prstGeom>
          <a:solidFill>
            <a:srgbClr val="008285"/>
          </a:solidFill>
          <a:ln/>
        </p:spPr>
      </p:sp>
      <p:sp>
        <p:nvSpPr>
          <p:cNvPr id="22" name="Shape 18"/>
          <p:cNvSpPr/>
          <p:nvPr/>
        </p:nvSpPr>
        <p:spPr>
          <a:xfrm>
            <a:off x="8493557" y="4069080"/>
            <a:ext cx="566928" cy="566928"/>
          </a:xfrm>
          <a:prstGeom prst="ellipse">
            <a:avLst/>
          </a:prstGeom>
          <a:solidFill>
            <a:srgbClr val="008285"/>
          </a:solidFill>
          <a:ln/>
        </p:spPr>
      </p:sp>
      <p:pic>
        <p:nvPicPr>
          <p:cNvPr id="23" name="Image 2" descr="preencoded.png">    </p:cNvPr>
          <p:cNvPicPr>
            <a:picLocks noChangeAspect="1"/>
          </p:cNvPicPr>
          <p:nvPr/>
        </p:nvPicPr>
        <p:blipFill>
          <a:blip r:embed="rId3"/>
          <a:stretch>
            <a:fillRect/>
          </a:stretch>
        </p:blipFill>
        <p:spPr>
          <a:xfrm>
            <a:off x="8640958" y="4216481"/>
            <a:ext cx="272125" cy="272125"/>
          </a:xfrm>
          <a:prstGeom prst="rect">
            <a:avLst/>
          </a:prstGeom>
        </p:spPr>
      </p:pic>
      <p:sp>
        <p:nvSpPr>
          <p:cNvPr id="24" name="Text 19"/>
          <p:cNvSpPr/>
          <p:nvPr/>
        </p:nvSpPr>
        <p:spPr>
          <a:xfrm>
            <a:off x="9225077" y="4069080"/>
            <a:ext cx="1960778" cy="566928"/>
          </a:xfrm>
          <a:prstGeom prst="rect">
            <a:avLst/>
          </a:prstGeom>
          <a:noFill/>
          <a:ln/>
        </p:spPr>
        <p:txBody>
          <a:bodyPr wrap="square" lIns="0" tIns="0" rIns="0" bIns="0" rtlCol="0" anchor="ctr"/>
          <a:lstStyle/>
          <a:p>
            <a:pPr indent="0" marL="0">
              <a:lnSpc>
                <a:spcPct val="95000"/>
              </a:lnSpc>
              <a:buNone/>
            </a:pPr>
            <a:r>
              <a:rPr lang="en-US" sz="1250" b="1" dirty="0">
                <a:solidFill>
                  <a:srgbClr val="005239"/>
                </a:solidFill>
                <a:latin typeface="Poppins" pitchFamily="34" charset="0"/>
                <a:ea typeface="Poppins" pitchFamily="34" charset="-122"/>
                <a:cs typeface="Poppins" pitchFamily="34" charset="-120"/>
              </a:rPr>
              <a:t>The assumption + the because</a:t>
            </a:r>
            <a:endParaRPr lang="en-US" sz="1250" dirty="0"/>
          </a:p>
        </p:txBody>
      </p:sp>
      <p:sp>
        <p:nvSpPr>
          <p:cNvPr id="25" name="Text 20"/>
          <p:cNvSpPr/>
          <p:nvPr/>
        </p:nvSpPr>
        <p:spPr>
          <a:xfrm>
            <a:off x="8493557" y="4727448"/>
            <a:ext cx="2600858" cy="594360"/>
          </a:xfrm>
          <a:prstGeom prst="rect">
            <a:avLst/>
          </a:prstGeom>
          <a:noFill/>
          <a:ln/>
        </p:spPr>
        <p:txBody>
          <a:bodyPr wrap="square" lIns="0" tIns="0" rIns="0" bIns="0" rtlCol="0" anchor="t"/>
          <a:lstStyle/>
          <a:p>
            <a:pPr indent="0" marL="0">
              <a:lnSpc>
                <a:spcPct val="102000"/>
              </a:lnSpc>
              <a:buNone/>
            </a:pPr>
            <a:r>
              <a:rPr lang="en-US" sz="1050" dirty="0">
                <a:solidFill>
                  <a:srgbClr val="333333"/>
                </a:solidFill>
                <a:latin typeface="Open Sans" pitchFamily="34" charset="0"/>
                <a:ea typeface="Open Sans" pitchFamily="34" charset="-122"/>
                <a:cs typeface="Open Sans" pitchFamily="34" charset="-120"/>
              </a:rPr>
              <a:t>The one condition it all rests on — and a concrete design reason a skeptic should believe it.</a:t>
            </a:r>
            <a:endParaRPr lang="en-US" sz="1050" dirty="0"/>
          </a:p>
        </p:txBody>
      </p:sp>
      <p:sp>
        <p:nvSpPr>
          <p:cNvPr id="26" name="Text 21"/>
          <p:cNvSpPr/>
          <p:nvPr/>
        </p:nvSpPr>
        <p:spPr>
          <a:xfrm>
            <a:off x="777240" y="5577840"/>
            <a:ext cx="10637215" cy="365760"/>
          </a:xfrm>
          <a:prstGeom prst="rect">
            <a:avLst/>
          </a:prstGeom>
          <a:noFill/>
          <a:ln/>
        </p:spPr>
        <p:txBody>
          <a:bodyPr wrap="square" lIns="0" tIns="0" rIns="0" bIns="0" rtlCol="0" anchor="ctr"/>
          <a:lstStyle/>
          <a:p>
            <a:pPr algn="ctr" indent="0" marL="0">
              <a:buNone/>
            </a:pPr>
            <a:r>
              <a:rPr lang="en-US" sz="1250" i="1" dirty="0">
                <a:solidFill>
                  <a:srgbClr val="727579"/>
                </a:solidFill>
                <a:latin typeface="Open Sans" pitchFamily="34" charset="0"/>
                <a:ea typeface="Open Sans" pitchFamily="34" charset="-122"/>
                <a:cs typeface="Open Sans" pitchFamily="34" charset="-120"/>
              </a:rPr>
              <a:t>If you can't fill in the blank after BECAUSE, you don't have identification — you have a correlation with a hopeful label.</a:t>
            </a:r>
            <a:endParaRPr lang="en-US" sz="1250" dirty="0"/>
          </a:p>
        </p:txBody>
      </p:sp>
      <p:sp>
        <p:nvSpPr>
          <p:cNvPr id="27" name="Text 22"/>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28" name="Text 23"/>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CC8A00"/>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CC8A00"/>
                </a:solidFill>
                <a:latin typeface="Open Sans" pitchFamily="34" charset="0"/>
                <a:ea typeface="Open Sans" pitchFamily="34" charset="-122"/>
                <a:cs typeface="Open Sans" pitchFamily="34" charset="-120"/>
              </a:rPr>
              <a:t>BLOCK A · WORKED LIVE</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Filled in: The Rainbow of Municipal Credit</a:t>
            </a:r>
            <a:endParaRPr lang="en-US" sz="3000" dirty="0"/>
          </a:p>
        </p:txBody>
      </p:sp>
      <p:sp>
        <p:nvSpPr>
          <p:cNvPr id="5" name="Shape 3"/>
          <p:cNvSpPr/>
          <p:nvPr/>
        </p:nvSpPr>
        <p:spPr>
          <a:xfrm>
            <a:off x="777240" y="1783080"/>
            <a:ext cx="10637215" cy="1874520"/>
          </a:xfrm>
          <a:prstGeom prst="rect">
            <a:avLst/>
          </a:prstGeom>
          <a:solidFill>
            <a:srgbClr val="EAF1EF"/>
          </a:solidFill>
          <a:ln w="15875">
            <a:solidFill>
              <a:srgbClr val="008285"/>
            </a:solidFill>
            <a:prstDash val="solid"/>
          </a:ln>
        </p:spPr>
      </p:sp>
      <p:sp>
        <p:nvSpPr>
          <p:cNvPr id="6" name="Shape 4"/>
          <p:cNvSpPr/>
          <p:nvPr/>
        </p:nvSpPr>
        <p:spPr>
          <a:xfrm>
            <a:off x="777240" y="1783080"/>
            <a:ext cx="128016" cy="1874520"/>
          </a:xfrm>
          <a:prstGeom prst="rect">
            <a:avLst/>
          </a:prstGeom>
          <a:solidFill>
            <a:srgbClr val="008285"/>
          </a:solidFill>
          <a:ln/>
        </p:spPr>
      </p:sp>
      <p:sp>
        <p:nvSpPr>
          <p:cNvPr id="7" name="Text 5"/>
          <p:cNvSpPr/>
          <p:nvPr/>
        </p:nvSpPr>
        <p:spPr>
          <a:xfrm>
            <a:off x="1188720" y="1783080"/>
            <a:ext cx="9905695" cy="1874520"/>
          </a:xfrm>
          <a:prstGeom prst="rect">
            <a:avLst/>
          </a:prstGeom>
          <a:noFill/>
          <a:ln/>
        </p:spPr>
        <p:txBody>
          <a:bodyPr wrap="square" lIns="0" tIns="0" rIns="0" bIns="0" rtlCol="0" anchor="ctr"/>
          <a:lstStyle/>
          <a:p>
            <a:pPr algn="l" indent="0" marL="0">
              <a:lnSpc>
                <a:spcPct val="112000"/>
              </a:lnSpc>
              <a:buNone/>
            </a:pPr>
            <a:r>
              <a:rPr lang="en-US" sz="1800" dirty="0">
                <a:solidFill>
                  <a:srgbClr val="333333"/>
                </a:solidFill>
                <a:latin typeface="Poppins" pitchFamily="34" charset="0"/>
                <a:ea typeface="Poppins" pitchFamily="34" charset="-122"/>
                <a:cs typeface="Poppins" pitchFamily="34" charset="-120"/>
              </a:rPr>
              <a:t>Comparing </a:t>
            </a:r>
            <a:pPr algn="l" indent="0" marL="0">
              <a:lnSpc>
                <a:spcPct val="112000"/>
              </a:lnSpc>
              <a:buNone/>
            </a:pPr>
            <a:r>
              <a:rPr lang="en-US" sz="1800" b="1" dirty="0">
                <a:solidFill>
                  <a:srgbClr val="005239"/>
                </a:solidFill>
                <a:latin typeface="Poppins" pitchFamily="34" charset="0"/>
                <a:ea typeface="Poppins" pitchFamily="34" charset="-122"/>
                <a:cs typeface="Poppins" pitchFamily="34" charset="-120"/>
              </a:rPr>
              <a:t>states that adopted a same-sex-marriage ban</a:t>
            </a:r>
            <a:pPr algn="l" indent="0" marL="0">
              <a:lnSpc>
                <a:spcPct val="112000"/>
              </a:lnSpc>
              <a:buNone/>
            </a:pPr>
            <a:r>
              <a:rPr lang="en-US" sz="1800" dirty="0">
                <a:solidFill>
                  <a:srgbClr val="333333"/>
                </a:solidFill>
                <a:latin typeface="Poppins" pitchFamily="34" charset="0"/>
                <a:ea typeface="Poppins" pitchFamily="34" charset="-122"/>
                <a:cs typeface="Poppins" pitchFamily="34" charset="-120"/>
              </a:rPr>
              <a:t> to </a:t>
            </a:r>
            <a:pPr algn="l" indent="0" marL="0">
              <a:lnSpc>
                <a:spcPct val="112000"/>
              </a:lnSpc>
              <a:buNone/>
            </a:pPr>
            <a:r>
              <a:rPr lang="en-US" sz="1800" b="1" dirty="0">
                <a:solidFill>
                  <a:srgbClr val="005239"/>
                </a:solidFill>
                <a:latin typeface="Poppins" pitchFamily="34" charset="0"/>
                <a:ea typeface="Poppins" pitchFamily="34" charset="-122"/>
                <a:cs typeface="Poppins" pitchFamily="34" charset="-120"/>
              </a:rPr>
              <a:t>states not yet adopting</a:t>
            </a:r>
            <a:pPr algn="l" indent="0" marL="0">
              <a:lnSpc>
                <a:spcPct val="112000"/>
              </a:lnSpc>
              <a:buNone/>
            </a:pPr>
            <a:r>
              <a:rPr lang="en-US" sz="1800" dirty="0">
                <a:solidFill>
                  <a:srgbClr val="333333"/>
                </a:solidFill>
                <a:latin typeface="Poppins" pitchFamily="34" charset="0"/>
                <a:ea typeface="Poppins" pitchFamily="34" charset="-122"/>
                <a:cs typeface="Poppins" pitchFamily="34" charset="-120"/>
              </a:rPr>
              <a:t>, our estimate of </a:t>
            </a:r>
            <a:pPr algn="l" indent="0" marL="0">
              <a:lnSpc>
                <a:spcPct val="112000"/>
              </a:lnSpc>
              <a:buNone/>
            </a:pPr>
            <a:r>
              <a:rPr lang="en-US" sz="1800" b="1" dirty="0">
                <a:solidFill>
                  <a:srgbClr val="008285"/>
                </a:solidFill>
                <a:latin typeface="Poppins" pitchFamily="34" charset="0"/>
                <a:ea typeface="Poppins" pitchFamily="34" charset="-122"/>
                <a:cs typeface="Poppins" pitchFamily="34" charset="-120"/>
              </a:rPr>
              <a:t>the ban's effect on municipal borrowing costs</a:t>
            </a:r>
            <a:pPr algn="l" indent="0" marL="0">
              <a:lnSpc>
                <a:spcPct val="112000"/>
              </a:lnSpc>
              <a:buNone/>
            </a:pPr>
            <a:r>
              <a:rPr lang="en-US" sz="1800" dirty="0">
                <a:solidFill>
                  <a:srgbClr val="333333"/>
                </a:solidFill>
                <a:latin typeface="Poppins" pitchFamily="34" charset="0"/>
                <a:ea typeface="Poppins" pitchFamily="34" charset="-122"/>
                <a:cs typeface="Poppins" pitchFamily="34" charset="-120"/>
              </a:rPr>
              <a:t> is causal IF </a:t>
            </a:r>
            <a:pPr algn="l" indent="0" marL="0">
              <a:lnSpc>
                <a:spcPct val="112000"/>
              </a:lnSpc>
              <a:buNone/>
            </a:pPr>
            <a:r>
              <a:rPr lang="en-US" sz="1800" b="1" dirty="0">
                <a:solidFill>
                  <a:srgbClr val="005239"/>
                </a:solidFill>
                <a:latin typeface="Poppins" pitchFamily="34" charset="0"/>
                <a:ea typeface="Poppins" pitchFamily="34" charset="-122"/>
                <a:cs typeface="Poppins" pitchFamily="34" charset="-120"/>
              </a:rPr>
              <a:t>the two groups' costs would have moved in parallel absent the ban</a:t>
            </a:r>
            <a:pPr algn="l" indent="0" marL="0">
              <a:lnSpc>
                <a:spcPct val="112000"/>
              </a:lnSpc>
              <a:buNone/>
            </a:pPr>
            <a:r>
              <a:rPr lang="en-US" sz="1800" dirty="0">
                <a:solidFill>
                  <a:srgbClr val="333333"/>
                </a:solidFill>
                <a:latin typeface="Poppins" pitchFamily="34" charset="0"/>
                <a:ea typeface="Poppins" pitchFamily="34" charset="-122"/>
                <a:cs typeface="Poppins" pitchFamily="34" charset="-120"/>
              </a:rPr>
              <a:t>, which is plausible BECAUSE </a:t>
            </a:r>
            <a:pPr algn="l" indent="0" marL="0">
              <a:lnSpc>
                <a:spcPct val="112000"/>
              </a:lnSpc>
              <a:buNone/>
            </a:pPr>
            <a:r>
              <a:rPr lang="en-US" sz="1800" b="1" dirty="0">
                <a:solidFill>
                  <a:srgbClr val="008285"/>
                </a:solidFill>
                <a:latin typeface="Poppins" pitchFamily="34" charset="0"/>
                <a:ea typeface="Poppins" pitchFamily="34" charset="-122"/>
                <a:cs typeface="Poppins" pitchFamily="34" charset="-120"/>
              </a:rPr>
              <a:t>adoption timing was driven by court &amp; legislative calendars, not by a state's credit trajectory.</a:t>
            </a:r>
            <a:endParaRPr lang="en-US" sz="1800" dirty="0"/>
          </a:p>
        </p:txBody>
      </p:sp>
      <p:sp>
        <p:nvSpPr>
          <p:cNvPr id="8" name="Shape 6"/>
          <p:cNvSpPr/>
          <p:nvPr/>
        </p:nvSpPr>
        <p:spPr>
          <a:xfrm>
            <a:off x="777240" y="3840480"/>
            <a:ext cx="10637215" cy="566928"/>
          </a:xfrm>
          <a:prstGeom prst="rect">
            <a:avLst/>
          </a:prstGeom>
          <a:solidFill>
            <a:srgbClr val="FFFFFF"/>
          </a:solidFill>
          <a:ln w="9525">
            <a:solidFill>
              <a:srgbClr val="E2E1DC"/>
            </a:solidFill>
            <a:prstDash val="solid"/>
          </a:ln>
        </p:spPr>
      </p:sp>
      <p:sp>
        <p:nvSpPr>
          <p:cNvPr id="9" name="Shape 7"/>
          <p:cNvSpPr/>
          <p:nvPr/>
        </p:nvSpPr>
        <p:spPr>
          <a:xfrm>
            <a:off x="1005840" y="3931920"/>
            <a:ext cx="384048" cy="384048"/>
          </a:xfrm>
          <a:prstGeom prst="ellipse">
            <a:avLst/>
          </a:prstGeom>
          <a:solidFill>
            <a:srgbClr val="CC8A00"/>
          </a:solidFill>
          <a:ln/>
        </p:spPr>
      </p:sp>
      <p:pic>
        <p:nvPicPr>
          <p:cNvPr id="10" name="Image 0" descr="preencoded.png">    </p:cNvPr>
          <p:cNvPicPr>
            <a:picLocks noChangeAspect="1"/>
          </p:cNvPicPr>
          <p:nvPr/>
        </p:nvPicPr>
        <p:blipFill>
          <a:blip r:embed="rId1"/>
          <a:stretch>
            <a:fillRect/>
          </a:stretch>
        </p:blipFill>
        <p:spPr>
          <a:xfrm>
            <a:off x="1105692" y="4031772"/>
            <a:ext cx="184343" cy="184343"/>
          </a:xfrm>
          <a:prstGeom prst="rect">
            <a:avLst/>
          </a:prstGeom>
        </p:spPr>
      </p:pic>
      <p:sp>
        <p:nvSpPr>
          <p:cNvPr id="11" name="Text 8"/>
          <p:cNvSpPr/>
          <p:nvPr/>
        </p:nvSpPr>
        <p:spPr>
          <a:xfrm>
            <a:off x="1554480" y="3840480"/>
            <a:ext cx="3017520" cy="566928"/>
          </a:xfrm>
          <a:prstGeom prst="rect">
            <a:avLst/>
          </a:prstGeom>
          <a:noFill/>
          <a:ln/>
        </p:spPr>
        <p:txBody>
          <a:bodyPr wrap="square" lIns="0" tIns="0" rIns="0" bIns="0" rtlCol="0" anchor="ctr"/>
          <a:lstStyle/>
          <a:p>
            <a:pPr indent="0" marL="0">
              <a:lnSpc>
                <a:spcPct val="95000"/>
              </a:lnSpc>
              <a:buNone/>
            </a:pPr>
            <a:r>
              <a:rPr lang="en-US" sz="1250" b="1" dirty="0">
                <a:solidFill>
                  <a:srgbClr val="005239"/>
                </a:solidFill>
                <a:latin typeface="Poppins" pitchFamily="34" charset="0"/>
                <a:ea typeface="Poppins" pitchFamily="34" charset="-122"/>
                <a:cs typeface="Poppins" pitchFamily="34" charset="-120"/>
              </a:rPr>
              <a:t>The worry</a:t>
            </a:r>
            <a:endParaRPr lang="en-US" sz="1250" dirty="0"/>
          </a:p>
        </p:txBody>
      </p:sp>
      <p:sp>
        <p:nvSpPr>
          <p:cNvPr id="12" name="Text 9"/>
          <p:cNvSpPr/>
          <p:nvPr/>
        </p:nvSpPr>
        <p:spPr>
          <a:xfrm>
            <a:off x="4663440" y="3840480"/>
            <a:ext cx="6613855" cy="566928"/>
          </a:xfrm>
          <a:prstGeom prst="rect">
            <a:avLst/>
          </a:prstGeom>
          <a:noFill/>
          <a:ln/>
        </p:spPr>
        <p:txBody>
          <a:bodyPr wrap="square" lIns="0" tIns="0" rIns="0" bIns="0" rtlCol="0" anchor="ctr"/>
          <a:lstStyle/>
          <a:p>
            <a:pPr indent="0" marL="0">
              <a:lnSpc>
                <a:spcPct val="100000"/>
              </a:lnSpc>
              <a:buNone/>
            </a:pPr>
            <a:r>
              <a:rPr lang="en-US" sz="1100" dirty="0">
                <a:solidFill>
                  <a:srgbClr val="333333"/>
                </a:solidFill>
                <a:latin typeface="Open Sans" pitchFamily="34" charset="0"/>
                <a:ea typeface="Open Sans" pitchFamily="34" charset="-122"/>
                <a:cs typeface="Open Sans" pitchFamily="34" charset="-120"/>
              </a:rPr>
              <a:t>States adopt a policy exactly when their economy is already shifting — so the ban and the credit change get tangled together.</a:t>
            </a:r>
            <a:endParaRPr lang="en-US" sz="1100" dirty="0"/>
          </a:p>
        </p:txBody>
      </p:sp>
      <p:sp>
        <p:nvSpPr>
          <p:cNvPr id="13" name="Shape 10"/>
          <p:cNvSpPr/>
          <p:nvPr/>
        </p:nvSpPr>
        <p:spPr>
          <a:xfrm>
            <a:off x="777240" y="4462272"/>
            <a:ext cx="10637215" cy="566928"/>
          </a:xfrm>
          <a:prstGeom prst="rect">
            <a:avLst/>
          </a:prstGeom>
          <a:solidFill>
            <a:srgbClr val="F4F4F2"/>
          </a:solidFill>
          <a:ln w="9525">
            <a:solidFill>
              <a:srgbClr val="E2E1DC"/>
            </a:solidFill>
            <a:prstDash val="solid"/>
          </a:ln>
        </p:spPr>
      </p:sp>
      <p:sp>
        <p:nvSpPr>
          <p:cNvPr id="14" name="Shape 11"/>
          <p:cNvSpPr/>
          <p:nvPr/>
        </p:nvSpPr>
        <p:spPr>
          <a:xfrm>
            <a:off x="1005840" y="4553712"/>
            <a:ext cx="384048" cy="384048"/>
          </a:xfrm>
          <a:prstGeom prst="ellipse">
            <a:avLst/>
          </a:prstGeom>
          <a:solidFill>
            <a:srgbClr val="CC8A00"/>
          </a:solidFill>
          <a:ln/>
        </p:spPr>
      </p:sp>
      <p:pic>
        <p:nvPicPr>
          <p:cNvPr id="15" name="Image 1" descr="preencoded.png">    </p:cNvPr>
          <p:cNvPicPr>
            <a:picLocks noChangeAspect="1"/>
          </p:cNvPicPr>
          <p:nvPr/>
        </p:nvPicPr>
        <p:blipFill>
          <a:blip r:embed="rId2"/>
          <a:stretch>
            <a:fillRect/>
          </a:stretch>
        </p:blipFill>
        <p:spPr>
          <a:xfrm>
            <a:off x="1105692" y="4653564"/>
            <a:ext cx="184343" cy="184343"/>
          </a:xfrm>
          <a:prstGeom prst="rect">
            <a:avLst/>
          </a:prstGeom>
        </p:spPr>
      </p:pic>
      <p:sp>
        <p:nvSpPr>
          <p:cNvPr id="16" name="Text 12"/>
          <p:cNvSpPr/>
          <p:nvPr/>
        </p:nvSpPr>
        <p:spPr>
          <a:xfrm>
            <a:off x="1554480" y="4462272"/>
            <a:ext cx="3017520" cy="566928"/>
          </a:xfrm>
          <a:prstGeom prst="rect">
            <a:avLst/>
          </a:prstGeom>
          <a:noFill/>
          <a:ln/>
        </p:spPr>
        <p:txBody>
          <a:bodyPr wrap="square" lIns="0" tIns="0" rIns="0" bIns="0" rtlCol="0" anchor="ctr"/>
          <a:lstStyle/>
          <a:p>
            <a:pPr indent="0" marL="0">
              <a:lnSpc>
                <a:spcPct val="95000"/>
              </a:lnSpc>
              <a:buNone/>
            </a:pPr>
            <a:r>
              <a:rPr lang="en-US" sz="1250" b="1" dirty="0">
                <a:solidFill>
                  <a:srgbClr val="005239"/>
                </a:solidFill>
                <a:latin typeface="Poppins" pitchFamily="34" charset="0"/>
                <a:ea typeface="Poppins" pitchFamily="34" charset="-122"/>
                <a:cs typeface="Poppins" pitchFamily="34" charset="-120"/>
              </a:rPr>
              <a:t>The defense (the “because”)</a:t>
            </a:r>
            <a:endParaRPr lang="en-US" sz="1250" dirty="0"/>
          </a:p>
        </p:txBody>
      </p:sp>
      <p:sp>
        <p:nvSpPr>
          <p:cNvPr id="17" name="Text 13"/>
          <p:cNvSpPr/>
          <p:nvPr/>
        </p:nvSpPr>
        <p:spPr>
          <a:xfrm>
            <a:off x="4663440" y="4462272"/>
            <a:ext cx="6613855" cy="566928"/>
          </a:xfrm>
          <a:prstGeom prst="rect">
            <a:avLst/>
          </a:prstGeom>
          <a:noFill/>
          <a:ln/>
        </p:spPr>
        <p:txBody>
          <a:bodyPr wrap="square" lIns="0" tIns="0" rIns="0" bIns="0" rtlCol="0" anchor="ctr"/>
          <a:lstStyle/>
          <a:p>
            <a:pPr indent="0" marL="0">
              <a:lnSpc>
                <a:spcPct val="100000"/>
              </a:lnSpc>
              <a:buNone/>
            </a:pPr>
            <a:r>
              <a:rPr lang="en-US" sz="1100" dirty="0">
                <a:solidFill>
                  <a:srgbClr val="333333"/>
                </a:solidFill>
                <a:latin typeface="Open Sans" pitchFamily="34" charset="0"/>
                <a:ea typeface="Open Sans" pitchFamily="34" charset="-122"/>
                <a:cs typeface="Open Sans" pitchFamily="34" charset="-120"/>
              </a:rPr>
              <a:t>Ban timing was set by unrelated legal &amp; political calendars — it does not line up with credit conditions.</a:t>
            </a:r>
            <a:endParaRPr lang="en-US" sz="1100" dirty="0"/>
          </a:p>
        </p:txBody>
      </p:sp>
      <p:sp>
        <p:nvSpPr>
          <p:cNvPr id="18" name="Shape 14"/>
          <p:cNvSpPr/>
          <p:nvPr/>
        </p:nvSpPr>
        <p:spPr>
          <a:xfrm>
            <a:off x="777240" y="5084064"/>
            <a:ext cx="10637215" cy="566928"/>
          </a:xfrm>
          <a:prstGeom prst="rect">
            <a:avLst/>
          </a:prstGeom>
          <a:solidFill>
            <a:srgbClr val="FFFFFF"/>
          </a:solidFill>
          <a:ln w="9525">
            <a:solidFill>
              <a:srgbClr val="E2E1DC"/>
            </a:solidFill>
            <a:prstDash val="solid"/>
          </a:ln>
        </p:spPr>
      </p:sp>
      <p:sp>
        <p:nvSpPr>
          <p:cNvPr id="19" name="Shape 15"/>
          <p:cNvSpPr/>
          <p:nvPr/>
        </p:nvSpPr>
        <p:spPr>
          <a:xfrm>
            <a:off x="1005840" y="5175504"/>
            <a:ext cx="384048" cy="384048"/>
          </a:xfrm>
          <a:prstGeom prst="ellipse">
            <a:avLst/>
          </a:prstGeom>
          <a:solidFill>
            <a:srgbClr val="CC8A00"/>
          </a:solidFill>
          <a:ln/>
        </p:spPr>
      </p:sp>
      <p:pic>
        <p:nvPicPr>
          <p:cNvPr id="20" name="Image 2" descr="preencoded.png">    </p:cNvPr>
          <p:cNvPicPr>
            <a:picLocks noChangeAspect="1"/>
          </p:cNvPicPr>
          <p:nvPr/>
        </p:nvPicPr>
        <p:blipFill>
          <a:blip r:embed="rId3"/>
          <a:stretch>
            <a:fillRect/>
          </a:stretch>
        </p:blipFill>
        <p:spPr>
          <a:xfrm>
            <a:off x="1105692" y="5275356"/>
            <a:ext cx="184343" cy="184343"/>
          </a:xfrm>
          <a:prstGeom prst="rect">
            <a:avLst/>
          </a:prstGeom>
        </p:spPr>
      </p:pic>
      <p:sp>
        <p:nvSpPr>
          <p:cNvPr id="21" name="Text 16"/>
          <p:cNvSpPr/>
          <p:nvPr/>
        </p:nvSpPr>
        <p:spPr>
          <a:xfrm>
            <a:off x="1554480" y="5084064"/>
            <a:ext cx="3017520" cy="566928"/>
          </a:xfrm>
          <a:prstGeom prst="rect">
            <a:avLst/>
          </a:prstGeom>
          <a:noFill/>
          <a:ln/>
        </p:spPr>
        <p:txBody>
          <a:bodyPr wrap="square" lIns="0" tIns="0" rIns="0" bIns="0" rtlCol="0" anchor="ctr"/>
          <a:lstStyle/>
          <a:p>
            <a:pPr indent="0" marL="0">
              <a:lnSpc>
                <a:spcPct val="95000"/>
              </a:lnSpc>
              <a:buNone/>
            </a:pPr>
            <a:r>
              <a:rPr lang="en-US" sz="1250" b="1" dirty="0">
                <a:solidFill>
                  <a:srgbClr val="005239"/>
                </a:solidFill>
                <a:latin typeface="Poppins" pitchFamily="34" charset="0"/>
                <a:ea typeface="Poppins" pitchFamily="34" charset="-122"/>
                <a:cs typeface="Poppins" pitchFamily="34" charset="-120"/>
              </a:rPr>
              <a:t>The design</a:t>
            </a:r>
            <a:endParaRPr lang="en-US" sz="1250" dirty="0"/>
          </a:p>
        </p:txBody>
      </p:sp>
      <p:sp>
        <p:nvSpPr>
          <p:cNvPr id="22" name="Text 17"/>
          <p:cNvSpPr/>
          <p:nvPr/>
        </p:nvSpPr>
        <p:spPr>
          <a:xfrm>
            <a:off x="4663440" y="5084064"/>
            <a:ext cx="6613855" cy="566928"/>
          </a:xfrm>
          <a:prstGeom prst="rect">
            <a:avLst/>
          </a:prstGeom>
          <a:noFill/>
          <a:ln/>
        </p:spPr>
        <p:txBody>
          <a:bodyPr wrap="square" lIns="0" tIns="0" rIns="0" bIns="0" rtlCol="0" anchor="ctr"/>
          <a:lstStyle/>
          <a:p>
            <a:pPr indent="0" marL="0">
              <a:lnSpc>
                <a:spcPct val="100000"/>
              </a:lnSpc>
              <a:buNone/>
            </a:pPr>
            <a:r>
              <a:rPr lang="en-US" sz="1100" dirty="0">
                <a:solidFill>
                  <a:srgbClr val="333333"/>
                </a:solidFill>
                <a:latin typeface="Open Sans" pitchFamily="34" charset="0"/>
                <a:ea typeface="Open Sans" pitchFamily="34" charset="-122"/>
                <a:cs typeface="Open Sans" pitchFamily="34" charset="-120"/>
              </a:rPr>
              <a:t>Staggered difference-in-differences: not-yet-treated states serve as controls for the states treated earlier.</a:t>
            </a:r>
            <a:endParaRPr lang="en-US" sz="1100" dirty="0"/>
          </a:p>
        </p:txBody>
      </p:sp>
      <p:sp>
        <p:nvSpPr>
          <p:cNvPr id="23" name="Text 18"/>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24" name="Text 19"/>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CC4824"/>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CC4824"/>
                </a:solidFill>
                <a:latin typeface="Open Sans" pitchFamily="34" charset="0"/>
                <a:ea typeface="Open Sans" pitchFamily="34" charset="-122"/>
                <a:cs typeface="Open Sans" pitchFamily="34" charset="-120"/>
              </a:rPr>
              <a:t>BLOCK A · REFEREE YOURSELF</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threats-and-responses table</a:t>
            </a:r>
            <a:endParaRPr lang="en-US" sz="3000" dirty="0"/>
          </a:p>
        </p:txBody>
      </p:sp>
      <p:sp>
        <p:nvSpPr>
          <p:cNvPr id="5" name="Shape 3"/>
          <p:cNvSpPr/>
          <p:nvPr/>
        </p:nvSpPr>
        <p:spPr>
          <a:xfrm>
            <a:off x="777240" y="1783080"/>
            <a:ext cx="10637215" cy="384048"/>
          </a:xfrm>
          <a:prstGeom prst="rect">
            <a:avLst/>
          </a:prstGeom>
          <a:solidFill>
            <a:srgbClr val="005239"/>
          </a:solidFill>
          <a:ln/>
        </p:spPr>
      </p:sp>
      <p:sp>
        <p:nvSpPr>
          <p:cNvPr id="6" name="Text 4"/>
          <p:cNvSpPr/>
          <p:nvPr/>
        </p:nvSpPr>
        <p:spPr>
          <a:xfrm>
            <a:off x="1234440" y="1783080"/>
            <a:ext cx="2651760" cy="384048"/>
          </a:xfrm>
          <a:prstGeom prst="rect">
            <a:avLst/>
          </a:prstGeom>
          <a:noFill/>
          <a:ln/>
        </p:spPr>
        <p:txBody>
          <a:bodyPr wrap="square" lIns="0" tIns="0" rIns="0" bIns="0" rtlCol="0" anchor="ctr"/>
          <a:lstStyle/>
          <a:p>
            <a:pPr indent="0" marL="0">
              <a:buNone/>
            </a:pPr>
            <a:r>
              <a:rPr lang="en-US" sz="1100" b="1" spc="150" kern="0" dirty="0">
                <a:solidFill>
                  <a:srgbClr val="FFC733"/>
                </a:solidFill>
                <a:latin typeface="Open Sans" pitchFamily="34" charset="0"/>
                <a:ea typeface="Open Sans" pitchFamily="34" charset="-122"/>
                <a:cs typeface="Open Sans" pitchFamily="34" charset="-120"/>
              </a:rPr>
              <a:t>THREAT</a:t>
            </a:r>
            <a:endParaRPr lang="en-US" sz="1100" dirty="0"/>
          </a:p>
        </p:txBody>
      </p:sp>
      <p:sp>
        <p:nvSpPr>
          <p:cNvPr id="7" name="Text 5"/>
          <p:cNvSpPr/>
          <p:nvPr/>
        </p:nvSpPr>
        <p:spPr>
          <a:xfrm>
            <a:off x="3657600" y="1783080"/>
            <a:ext cx="3931920" cy="384048"/>
          </a:xfrm>
          <a:prstGeom prst="rect">
            <a:avLst/>
          </a:prstGeom>
          <a:noFill/>
          <a:ln/>
        </p:spPr>
        <p:txBody>
          <a:bodyPr wrap="square" lIns="0" tIns="0" rIns="0" bIns="0" rtlCol="0" anchor="ctr"/>
          <a:lstStyle/>
          <a:p>
            <a:pPr indent="0" marL="0">
              <a:buNone/>
            </a:pPr>
            <a:r>
              <a:rPr lang="en-US" sz="1100" b="1" spc="120" kern="0" dirty="0">
                <a:solidFill>
                  <a:srgbClr val="CFE0D8"/>
                </a:solidFill>
                <a:latin typeface="Open Sans" pitchFamily="34" charset="0"/>
                <a:ea typeface="Open Sans" pitchFamily="34" charset="-122"/>
                <a:cs typeface="Open Sans" pitchFamily="34" charset="-120"/>
              </a:rPr>
              <a:t>WHY IT ENDANGERS THE CLAIM</a:t>
            </a:r>
            <a:endParaRPr lang="en-US" sz="1100" dirty="0"/>
          </a:p>
        </p:txBody>
      </p:sp>
      <p:sp>
        <p:nvSpPr>
          <p:cNvPr id="8" name="Text 6"/>
          <p:cNvSpPr/>
          <p:nvPr/>
        </p:nvSpPr>
        <p:spPr>
          <a:xfrm>
            <a:off x="7589520" y="1783080"/>
            <a:ext cx="4053535" cy="384048"/>
          </a:xfrm>
          <a:prstGeom prst="rect">
            <a:avLst/>
          </a:prstGeom>
          <a:noFill/>
          <a:ln/>
        </p:spPr>
        <p:txBody>
          <a:bodyPr wrap="square" lIns="0" tIns="0" rIns="0" bIns="0" rtlCol="0" anchor="ctr"/>
          <a:lstStyle/>
          <a:p>
            <a:pPr indent="0" marL="0">
              <a:buNone/>
            </a:pPr>
            <a:r>
              <a:rPr lang="en-US" sz="1100" b="1" spc="120" kern="0" dirty="0">
                <a:solidFill>
                  <a:srgbClr val="FFC733"/>
                </a:solidFill>
                <a:latin typeface="Open Sans" pitchFamily="34" charset="0"/>
                <a:ea typeface="Open Sans" pitchFamily="34" charset="-122"/>
                <a:cs typeface="Open Sans" pitchFamily="34" charset="-120"/>
              </a:rPr>
              <a:t>DESIGN RESPONSE</a:t>
            </a:r>
            <a:endParaRPr lang="en-US" sz="1100" dirty="0"/>
          </a:p>
        </p:txBody>
      </p:sp>
      <p:sp>
        <p:nvSpPr>
          <p:cNvPr id="9" name="Shape 7"/>
          <p:cNvSpPr/>
          <p:nvPr/>
        </p:nvSpPr>
        <p:spPr>
          <a:xfrm>
            <a:off x="777240" y="2212848"/>
            <a:ext cx="10637215" cy="713232"/>
          </a:xfrm>
          <a:prstGeom prst="rect">
            <a:avLst/>
          </a:prstGeom>
          <a:solidFill>
            <a:srgbClr val="FFFFFF"/>
          </a:solidFill>
          <a:ln w="9525">
            <a:solidFill>
              <a:srgbClr val="E2E1DC"/>
            </a:solidFill>
            <a:prstDash val="solid"/>
          </a:ln>
        </p:spPr>
      </p:sp>
      <p:sp>
        <p:nvSpPr>
          <p:cNvPr id="10" name="Shape 8"/>
          <p:cNvSpPr/>
          <p:nvPr/>
        </p:nvSpPr>
        <p:spPr>
          <a:xfrm>
            <a:off x="777240" y="2212848"/>
            <a:ext cx="91440" cy="713232"/>
          </a:xfrm>
          <a:prstGeom prst="rect">
            <a:avLst/>
          </a:prstGeom>
          <a:solidFill>
            <a:srgbClr val="CC4824"/>
          </a:solidFill>
          <a:ln/>
        </p:spPr>
      </p:sp>
      <p:sp>
        <p:nvSpPr>
          <p:cNvPr id="11" name="Text 9"/>
          <p:cNvSpPr/>
          <p:nvPr/>
        </p:nvSpPr>
        <p:spPr>
          <a:xfrm>
            <a:off x="1033272" y="2212848"/>
            <a:ext cx="2377440" cy="713232"/>
          </a:xfrm>
          <a:prstGeom prst="rect">
            <a:avLst/>
          </a:prstGeom>
          <a:noFill/>
          <a:ln/>
        </p:spPr>
        <p:txBody>
          <a:bodyPr wrap="square" lIns="0" tIns="0" rIns="0" bIns="0" rtlCol="0" anchor="ctr"/>
          <a:lstStyle/>
          <a:p>
            <a:pPr indent="0" marL="0">
              <a:lnSpc>
                <a:spcPct val="95000"/>
              </a:lnSpc>
              <a:buNone/>
            </a:pPr>
            <a:r>
              <a:rPr lang="en-US" sz="1300" b="1" dirty="0">
                <a:solidFill>
                  <a:srgbClr val="005239"/>
                </a:solidFill>
                <a:latin typeface="Poppins" pitchFamily="34" charset="0"/>
                <a:ea typeface="Poppins" pitchFamily="34" charset="-122"/>
                <a:cs typeface="Poppins" pitchFamily="34" charset="-120"/>
              </a:rPr>
              <a:t>Confounding trend</a:t>
            </a:r>
            <a:endParaRPr lang="en-US" sz="1300" dirty="0"/>
          </a:p>
        </p:txBody>
      </p:sp>
      <p:sp>
        <p:nvSpPr>
          <p:cNvPr id="12" name="Text 10"/>
          <p:cNvSpPr/>
          <p:nvPr/>
        </p:nvSpPr>
        <p:spPr>
          <a:xfrm>
            <a:off x="3657600" y="2212848"/>
            <a:ext cx="3566160" cy="713232"/>
          </a:xfrm>
          <a:prstGeom prst="rect">
            <a:avLst/>
          </a:prstGeom>
          <a:noFill/>
          <a:ln/>
        </p:spPr>
        <p:txBody>
          <a:bodyPr wrap="square" lIns="0" tIns="0" rIns="0" bIns="0" rtlCol="0" anchor="ctr"/>
          <a:lstStyle/>
          <a:p>
            <a:pPr indent="0" marL="0">
              <a:lnSpc>
                <a:spcPct val="100000"/>
              </a:lnSpc>
              <a:buNone/>
            </a:pPr>
            <a:r>
              <a:rPr lang="en-US" sz="1100" dirty="0">
                <a:solidFill>
                  <a:srgbClr val="333333"/>
                </a:solidFill>
                <a:latin typeface="Open Sans" pitchFamily="34" charset="0"/>
                <a:ea typeface="Open Sans" pitchFamily="34" charset="-122"/>
                <a:cs typeface="Open Sans" pitchFamily="34" charset="-120"/>
              </a:rPr>
              <a:t>Another shock hits the treated group at the same time as the treatment.</a:t>
            </a:r>
            <a:endParaRPr lang="en-US" sz="1100" dirty="0"/>
          </a:p>
        </p:txBody>
      </p:sp>
      <p:sp>
        <p:nvSpPr>
          <p:cNvPr id="13" name="Text 11"/>
          <p:cNvSpPr/>
          <p:nvPr/>
        </p:nvSpPr>
        <p:spPr>
          <a:xfrm>
            <a:off x="7589520" y="2212848"/>
            <a:ext cx="3687775" cy="713232"/>
          </a:xfrm>
          <a:prstGeom prst="rect">
            <a:avLst/>
          </a:prstGeom>
          <a:noFill/>
          <a:ln/>
        </p:spPr>
        <p:txBody>
          <a:bodyPr wrap="square" lIns="0" tIns="0" rIns="0" bIns="0" rtlCol="0" anchor="ctr"/>
          <a:lstStyle/>
          <a:p>
            <a:pPr indent="0" marL="0">
              <a:lnSpc>
                <a:spcPct val="100000"/>
              </a:lnSpc>
              <a:buNone/>
            </a:pPr>
            <a:r>
              <a:rPr lang="en-US" sz="1100" b="1" dirty="0">
                <a:solidFill>
                  <a:srgbClr val="008285"/>
                </a:solidFill>
                <a:latin typeface="Open Sans" pitchFamily="34" charset="0"/>
                <a:ea typeface="Open Sans" pitchFamily="34" charset="-122"/>
                <a:cs typeface="Open Sans" pitchFamily="34" charset="-120"/>
              </a:rPr>
              <a:t>→  </a:t>
            </a:r>
            <a:pPr indent="0" marL="0">
              <a:lnSpc>
                <a:spcPct val="100000"/>
              </a:lnSpc>
              <a:buNone/>
            </a:pPr>
            <a:r>
              <a:rPr lang="en-US" sz="1100" dirty="0">
                <a:solidFill>
                  <a:srgbClr val="333333"/>
                </a:solidFill>
                <a:latin typeface="Open Sans" pitchFamily="34" charset="0"/>
                <a:ea typeface="Open Sans" pitchFamily="34" charset="-122"/>
                <a:cs typeface="Open Sans" pitchFamily="34" charset="-120"/>
              </a:rPr>
              <a:t>Check pre-trends; control for time-varying covariates.</a:t>
            </a:r>
            <a:endParaRPr lang="en-US" sz="1100" dirty="0"/>
          </a:p>
        </p:txBody>
      </p:sp>
      <p:sp>
        <p:nvSpPr>
          <p:cNvPr id="14" name="Shape 12"/>
          <p:cNvSpPr/>
          <p:nvPr/>
        </p:nvSpPr>
        <p:spPr>
          <a:xfrm>
            <a:off x="777240" y="2980944"/>
            <a:ext cx="10637215" cy="713232"/>
          </a:xfrm>
          <a:prstGeom prst="rect">
            <a:avLst/>
          </a:prstGeom>
          <a:solidFill>
            <a:srgbClr val="F4F4F2"/>
          </a:solidFill>
          <a:ln w="9525">
            <a:solidFill>
              <a:srgbClr val="E2E1DC"/>
            </a:solidFill>
            <a:prstDash val="solid"/>
          </a:ln>
        </p:spPr>
      </p:sp>
      <p:sp>
        <p:nvSpPr>
          <p:cNvPr id="15" name="Shape 13"/>
          <p:cNvSpPr/>
          <p:nvPr/>
        </p:nvSpPr>
        <p:spPr>
          <a:xfrm>
            <a:off x="777240" y="2980944"/>
            <a:ext cx="91440" cy="713232"/>
          </a:xfrm>
          <a:prstGeom prst="rect">
            <a:avLst/>
          </a:prstGeom>
          <a:solidFill>
            <a:srgbClr val="CC4824"/>
          </a:solidFill>
          <a:ln/>
        </p:spPr>
      </p:sp>
      <p:sp>
        <p:nvSpPr>
          <p:cNvPr id="16" name="Text 14"/>
          <p:cNvSpPr/>
          <p:nvPr/>
        </p:nvSpPr>
        <p:spPr>
          <a:xfrm>
            <a:off x="1033272" y="2980944"/>
            <a:ext cx="2377440" cy="713232"/>
          </a:xfrm>
          <a:prstGeom prst="rect">
            <a:avLst/>
          </a:prstGeom>
          <a:noFill/>
          <a:ln/>
        </p:spPr>
        <p:txBody>
          <a:bodyPr wrap="square" lIns="0" tIns="0" rIns="0" bIns="0" rtlCol="0" anchor="ctr"/>
          <a:lstStyle/>
          <a:p>
            <a:pPr indent="0" marL="0">
              <a:lnSpc>
                <a:spcPct val="95000"/>
              </a:lnSpc>
              <a:buNone/>
            </a:pPr>
            <a:r>
              <a:rPr lang="en-US" sz="1300" b="1" dirty="0">
                <a:solidFill>
                  <a:srgbClr val="005239"/>
                </a:solidFill>
                <a:latin typeface="Poppins" pitchFamily="34" charset="0"/>
                <a:ea typeface="Poppins" pitchFamily="34" charset="-122"/>
                <a:cs typeface="Poppins" pitchFamily="34" charset="-120"/>
              </a:rPr>
              <a:t>Reverse causality</a:t>
            </a:r>
            <a:endParaRPr lang="en-US" sz="1300" dirty="0"/>
          </a:p>
        </p:txBody>
      </p:sp>
      <p:sp>
        <p:nvSpPr>
          <p:cNvPr id="17" name="Text 15"/>
          <p:cNvSpPr/>
          <p:nvPr/>
        </p:nvSpPr>
        <p:spPr>
          <a:xfrm>
            <a:off x="3657600" y="2980944"/>
            <a:ext cx="3566160" cy="713232"/>
          </a:xfrm>
          <a:prstGeom prst="rect">
            <a:avLst/>
          </a:prstGeom>
          <a:noFill/>
          <a:ln/>
        </p:spPr>
        <p:txBody>
          <a:bodyPr wrap="square" lIns="0" tIns="0" rIns="0" bIns="0" rtlCol="0" anchor="ctr"/>
          <a:lstStyle/>
          <a:p>
            <a:pPr indent="0" marL="0">
              <a:lnSpc>
                <a:spcPct val="100000"/>
              </a:lnSpc>
              <a:buNone/>
            </a:pPr>
            <a:r>
              <a:rPr lang="en-US" sz="1100" dirty="0">
                <a:solidFill>
                  <a:srgbClr val="333333"/>
                </a:solidFill>
                <a:latin typeface="Open Sans" pitchFamily="34" charset="0"/>
                <a:ea typeface="Open Sans" pitchFamily="34" charset="-122"/>
                <a:cs typeface="Open Sans" pitchFamily="34" charset="-120"/>
              </a:rPr>
              <a:t>The outcome drives the treatment, not the other way around.</a:t>
            </a:r>
            <a:endParaRPr lang="en-US" sz="1100" dirty="0"/>
          </a:p>
        </p:txBody>
      </p:sp>
      <p:sp>
        <p:nvSpPr>
          <p:cNvPr id="18" name="Text 16"/>
          <p:cNvSpPr/>
          <p:nvPr/>
        </p:nvSpPr>
        <p:spPr>
          <a:xfrm>
            <a:off x="7589520" y="2980944"/>
            <a:ext cx="3687775" cy="713232"/>
          </a:xfrm>
          <a:prstGeom prst="rect">
            <a:avLst/>
          </a:prstGeom>
          <a:noFill/>
          <a:ln/>
        </p:spPr>
        <p:txBody>
          <a:bodyPr wrap="square" lIns="0" tIns="0" rIns="0" bIns="0" rtlCol="0" anchor="ctr"/>
          <a:lstStyle/>
          <a:p>
            <a:pPr indent="0" marL="0">
              <a:lnSpc>
                <a:spcPct val="100000"/>
              </a:lnSpc>
              <a:buNone/>
            </a:pPr>
            <a:r>
              <a:rPr lang="en-US" sz="1100" b="1" dirty="0">
                <a:solidFill>
                  <a:srgbClr val="008285"/>
                </a:solidFill>
                <a:latin typeface="Open Sans" pitchFamily="34" charset="0"/>
                <a:ea typeface="Open Sans" pitchFamily="34" charset="-122"/>
                <a:cs typeface="Open Sans" pitchFamily="34" charset="-120"/>
              </a:rPr>
              <a:t>→  </a:t>
            </a:r>
            <a:pPr indent="0" marL="0">
              <a:lnSpc>
                <a:spcPct val="100000"/>
              </a:lnSpc>
              <a:buNone/>
            </a:pPr>
            <a:r>
              <a:rPr lang="en-US" sz="1100" dirty="0">
                <a:solidFill>
                  <a:srgbClr val="333333"/>
                </a:solidFill>
                <a:latin typeface="Open Sans" pitchFamily="34" charset="0"/>
                <a:ea typeface="Open Sans" pitchFamily="34" charset="-122"/>
                <a:cs typeface="Open Sans" pitchFamily="34" charset="-120"/>
              </a:rPr>
              <a:t>Timing set by legal calendars, not by credit conditions.</a:t>
            </a:r>
            <a:endParaRPr lang="en-US" sz="1100" dirty="0"/>
          </a:p>
        </p:txBody>
      </p:sp>
      <p:sp>
        <p:nvSpPr>
          <p:cNvPr id="19" name="Shape 17"/>
          <p:cNvSpPr/>
          <p:nvPr/>
        </p:nvSpPr>
        <p:spPr>
          <a:xfrm>
            <a:off x="777240" y="3749040"/>
            <a:ext cx="10637215" cy="713232"/>
          </a:xfrm>
          <a:prstGeom prst="rect">
            <a:avLst/>
          </a:prstGeom>
          <a:solidFill>
            <a:srgbClr val="FFFFFF"/>
          </a:solidFill>
          <a:ln w="9525">
            <a:solidFill>
              <a:srgbClr val="E2E1DC"/>
            </a:solidFill>
            <a:prstDash val="solid"/>
          </a:ln>
        </p:spPr>
      </p:sp>
      <p:sp>
        <p:nvSpPr>
          <p:cNvPr id="20" name="Shape 18"/>
          <p:cNvSpPr/>
          <p:nvPr/>
        </p:nvSpPr>
        <p:spPr>
          <a:xfrm>
            <a:off x="777240" y="3749040"/>
            <a:ext cx="91440" cy="713232"/>
          </a:xfrm>
          <a:prstGeom prst="rect">
            <a:avLst/>
          </a:prstGeom>
          <a:solidFill>
            <a:srgbClr val="CC4824"/>
          </a:solidFill>
          <a:ln/>
        </p:spPr>
      </p:sp>
      <p:sp>
        <p:nvSpPr>
          <p:cNvPr id="21" name="Text 19"/>
          <p:cNvSpPr/>
          <p:nvPr/>
        </p:nvSpPr>
        <p:spPr>
          <a:xfrm>
            <a:off x="1033272" y="3749040"/>
            <a:ext cx="2377440" cy="713232"/>
          </a:xfrm>
          <a:prstGeom prst="rect">
            <a:avLst/>
          </a:prstGeom>
          <a:noFill/>
          <a:ln/>
        </p:spPr>
        <p:txBody>
          <a:bodyPr wrap="square" lIns="0" tIns="0" rIns="0" bIns="0" rtlCol="0" anchor="ctr"/>
          <a:lstStyle/>
          <a:p>
            <a:pPr indent="0" marL="0">
              <a:lnSpc>
                <a:spcPct val="95000"/>
              </a:lnSpc>
              <a:buNone/>
            </a:pPr>
            <a:r>
              <a:rPr lang="en-US" sz="1300" b="1" dirty="0">
                <a:solidFill>
                  <a:srgbClr val="005239"/>
                </a:solidFill>
                <a:latin typeface="Poppins" pitchFamily="34" charset="0"/>
                <a:ea typeface="Poppins" pitchFamily="34" charset="-122"/>
                <a:cs typeface="Poppins" pitchFamily="34" charset="-120"/>
              </a:rPr>
              <a:t>Selection</a:t>
            </a:r>
            <a:endParaRPr lang="en-US" sz="1300" dirty="0"/>
          </a:p>
        </p:txBody>
      </p:sp>
      <p:sp>
        <p:nvSpPr>
          <p:cNvPr id="22" name="Text 20"/>
          <p:cNvSpPr/>
          <p:nvPr/>
        </p:nvSpPr>
        <p:spPr>
          <a:xfrm>
            <a:off x="3657600" y="3749040"/>
            <a:ext cx="3566160" cy="713232"/>
          </a:xfrm>
          <a:prstGeom prst="rect">
            <a:avLst/>
          </a:prstGeom>
          <a:noFill/>
          <a:ln/>
        </p:spPr>
        <p:txBody>
          <a:bodyPr wrap="square" lIns="0" tIns="0" rIns="0" bIns="0" rtlCol="0" anchor="ctr"/>
          <a:lstStyle/>
          <a:p>
            <a:pPr indent="0" marL="0">
              <a:lnSpc>
                <a:spcPct val="100000"/>
              </a:lnSpc>
              <a:buNone/>
            </a:pPr>
            <a:r>
              <a:rPr lang="en-US" sz="1100" dirty="0">
                <a:solidFill>
                  <a:srgbClr val="333333"/>
                </a:solidFill>
                <a:latin typeface="Open Sans" pitchFamily="34" charset="0"/>
                <a:ea typeface="Open Sans" pitchFamily="34" charset="-122"/>
                <a:cs typeface="Open Sans" pitchFamily="34" charset="-120"/>
              </a:rPr>
              <a:t>Treated and control units differ systematically to begin with.</a:t>
            </a:r>
            <a:endParaRPr lang="en-US" sz="1100" dirty="0"/>
          </a:p>
        </p:txBody>
      </p:sp>
      <p:sp>
        <p:nvSpPr>
          <p:cNvPr id="23" name="Text 21"/>
          <p:cNvSpPr/>
          <p:nvPr/>
        </p:nvSpPr>
        <p:spPr>
          <a:xfrm>
            <a:off x="7589520" y="3749040"/>
            <a:ext cx="3687775" cy="713232"/>
          </a:xfrm>
          <a:prstGeom prst="rect">
            <a:avLst/>
          </a:prstGeom>
          <a:noFill/>
          <a:ln/>
        </p:spPr>
        <p:txBody>
          <a:bodyPr wrap="square" lIns="0" tIns="0" rIns="0" bIns="0" rtlCol="0" anchor="ctr"/>
          <a:lstStyle/>
          <a:p>
            <a:pPr indent="0" marL="0">
              <a:lnSpc>
                <a:spcPct val="100000"/>
              </a:lnSpc>
              <a:buNone/>
            </a:pPr>
            <a:r>
              <a:rPr lang="en-US" sz="1100" b="1" dirty="0">
                <a:solidFill>
                  <a:srgbClr val="008285"/>
                </a:solidFill>
                <a:latin typeface="Open Sans" pitchFamily="34" charset="0"/>
                <a:ea typeface="Open Sans" pitchFamily="34" charset="-122"/>
                <a:cs typeface="Open Sans" pitchFamily="34" charset="-120"/>
              </a:rPr>
              <a:t>→  </a:t>
            </a:r>
            <a:pPr indent="0" marL="0">
              <a:lnSpc>
                <a:spcPct val="100000"/>
              </a:lnSpc>
              <a:buNone/>
            </a:pPr>
            <a:r>
              <a:rPr lang="en-US" sz="1100" dirty="0">
                <a:solidFill>
                  <a:srgbClr val="333333"/>
                </a:solidFill>
                <a:latin typeface="Open Sans" pitchFamily="34" charset="0"/>
                <a:ea typeface="Open Sans" pitchFamily="34" charset="-122"/>
                <a:cs typeface="Open Sans" pitchFamily="34" charset="-120"/>
              </a:rPr>
              <a:t>DiD differences out fixed gaps; use not-yet-treated controls.</a:t>
            </a:r>
            <a:endParaRPr lang="en-US" sz="1100" dirty="0"/>
          </a:p>
        </p:txBody>
      </p:sp>
      <p:sp>
        <p:nvSpPr>
          <p:cNvPr id="24" name="Shape 22"/>
          <p:cNvSpPr/>
          <p:nvPr/>
        </p:nvSpPr>
        <p:spPr>
          <a:xfrm>
            <a:off x="777240" y="4517136"/>
            <a:ext cx="10637215" cy="713232"/>
          </a:xfrm>
          <a:prstGeom prst="rect">
            <a:avLst/>
          </a:prstGeom>
          <a:solidFill>
            <a:srgbClr val="F4F4F2"/>
          </a:solidFill>
          <a:ln w="9525">
            <a:solidFill>
              <a:srgbClr val="E2E1DC"/>
            </a:solidFill>
            <a:prstDash val="solid"/>
          </a:ln>
        </p:spPr>
      </p:sp>
      <p:sp>
        <p:nvSpPr>
          <p:cNvPr id="25" name="Shape 23"/>
          <p:cNvSpPr/>
          <p:nvPr/>
        </p:nvSpPr>
        <p:spPr>
          <a:xfrm>
            <a:off x="777240" y="4517136"/>
            <a:ext cx="91440" cy="713232"/>
          </a:xfrm>
          <a:prstGeom prst="rect">
            <a:avLst/>
          </a:prstGeom>
          <a:solidFill>
            <a:srgbClr val="CC4824"/>
          </a:solidFill>
          <a:ln/>
        </p:spPr>
      </p:sp>
      <p:sp>
        <p:nvSpPr>
          <p:cNvPr id="26" name="Text 24"/>
          <p:cNvSpPr/>
          <p:nvPr/>
        </p:nvSpPr>
        <p:spPr>
          <a:xfrm>
            <a:off x="1033272" y="4517136"/>
            <a:ext cx="2377440" cy="713232"/>
          </a:xfrm>
          <a:prstGeom prst="rect">
            <a:avLst/>
          </a:prstGeom>
          <a:noFill/>
          <a:ln/>
        </p:spPr>
        <p:txBody>
          <a:bodyPr wrap="square" lIns="0" tIns="0" rIns="0" bIns="0" rtlCol="0" anchor="ctr"/>
          <a:lstStyle/>
          <a:p>
            <a:pPr indent="0" marL="0">
              <a:lnSpc>
                <a:spcPct val="95000"/>
              </a:lnSpc>
              <a:buNone/>
            </a:pPr>
            <a:r>
              <a:rPr lang="en-US" sz="1300" b="1" dirty="0">
                <a:solidFill>
                  <a:srgbClr val="005239"/>
                </a:solidFill>
                <a:latin typeface="Poppins" pitchFamily="34" charset="0"/>
                <a:ea typeface="Poppins" pitchFamily="34" charset="-122"/>
                <a:cs typeface="Poppins" pitchFamily="34" charset="-120"/>
              </a:rPr>
              <a:t>Measurement error</a:t>
            </a:r>
            <a:endParaRPr lang="en-US" sz="1300" dirty="0"/>
          </a:p>
        </p:txBody>
      </p:sp>
      <p:sp>
        <p:nvSpPr>
          <p:cNvPr id="27" name="Text 25"/>
          <p:cNvSpPr/>
          <p:nvPr/>
        </p:nvSpPr>
        <p:spPr>
          <a:xfrm>
            <a:off x="3657600" y="4517136"/>
            <a:ext cx="3566160" cy="713232"/>
          </a:xfrm>
          <a:prstGeom prst="rect">
            <a:avLst/>
          </a:prstGeom>
          <a:noFill/>
          <a:ln/>
        </p:spPr>
        <p:txBody>
          <a:bodyPr wrap="square" lIns="0" tIns="0" rIns="0" bIns="0" rtlCol="0" anchor="ctr"/>
          <a:lstStyle/>
          <a:p>
            <a:pPr indent="0" marL="0">
              <a:lnSpc>
                <a:spcPct val="100000"/>
              </a:lnSpc>
              <a:buNone/>
            </a:pPr>
            <a:r>
              <a:rPr lang="en-US" sz="1100" dirty="0">
                <a:solidFill>
                  <a:srgbClr val="333333"/>
                </a:solidFill>
                <a:latin typeface="Open Sans" pitchFamily="34" charset="0"/>
                <a:ea typeface="Open Sans" pitchFamily="34" charset="-122"/>
                <a:cs typeface="Open Sans" pitchFamily="34" charset="-120"/>
              </a:rPr>
              <a:t>The outcome is noisy or mismeasured, hiding the real effect.</a:t>
            </a:r>
            <a:endParaRPr lang="en-US" sz="1100" dirty="0"/>
          </a:p>
        </p:txBody>
      </p:sp>
      <p:sp>
        <p:nvSpPr>
          <p:cNvPr id="28" name="Text 26"/>
          <p:cNvSpPr/>
          <p:nvPr/>
        </p:nvSpPr>
        <p:spPr>
          <a:xfrm>
            <a:off x="7589520" y="4517136"/>
            <a:ext cx="3687775" cy="713232"/>
          </a:xfrm>
          <a:prstGeom prst="rect">
            <a:avLst/>
          </a:prstGeom>
          <a:noFill/>
          <a:ln/>
        </p:spPr>
        <p:txBody>
          <a:bodyPr wrap="square" lIns="0" tIns="0" rIns="0" bIns="0" rtlCol="0" anchor="ctr"/>
          <a:lstStyle/>
          <a:p>
            <a:pPr indent="0" marL="0">
              <a:lnSpc>
                <a:spcPct val="100000"/>
              </a:lnSpc>
              <a:buNone/>
            </a:pPr>
            <a:r>
              <a:rPr lang="en-US" sz="1100" b="1" dirty="0">
                <a:solidFill>
                  <a:srgbClr val="008285"/>
                </a:solidFill>
                <a:latin typeface="Open Sans" pitchFamily="34" charset="0"/>
                <a:ea typeface="Open Sans" pitchFamily="34" charset="-122"/>
                <a:cs typeface="Open Sans" pitchFamily="34" charset="-120"/>
              </a:rPr>
              <a:t>→  </a:t>
            </a:r>
            <a:pPr indent="0" marL="0">
              <a:lnSpc>
                <a:spcPct val="100000"/>
              </a:lnSpc>
              <a:buNone/>
            </a:pPr>
            <a:r>
              <a:rPr lang="en-US" sz="1100" dirty="0">
                <a:solidFill>
                  <a:srgbClr val="333333"/>
                </a:solidFill>
                <a:latin typeface="Open Sans" pitchFamily="34" charset="0"/>
                <a:ea typeface="Open Sans" pitchFamily="34" charset="-122"/>
                <a:cs typeface="Open Sans" pitchFamily="34" charset="-120"/>
              </a:rPr>
              <a:t>Use the cleanest transaction-level pricing source available.</a:t>
            </a:r>
            <a:endParaRPr lang="en-US" sz="1100" dirty="0"/>
          </a:p>
        </p:txBody>
      </p:sp>
      <p:sp>
        <p:nvSpPr>
          <p:cNvPr id="29" name="Text 27"/>
          <p:cNvSpPr/>
          <p:nvPr/>
        </p:nvSpPr>
        <p:spPr>
          <a:xfrm>
            <a:off x="777240" y="5623560"/>
            <a:ext cx="10637215" cy="365760"/>
          </a:xfrm>
          <a:prstGeom prst="rect">
            <a:avLst/>
          </a:prstGeom>
          <a:noFill/>
          <a:ln/>
        </p:spPr>
        <p:txBody>
          <a:bodyPr wrap="square" lIns="0" tIns="0" rIns="0" bIns="0" rtlCol="0" anchor="ctr"/>
          <a:lstStyle/>
          <a:p>
            <a:pPr algn="ctr" indent="0" marL="0">
              <a:buNone/>
            </a:pPr>
            <a:r>
              <a:rPr lang="en-US" sz="1300" i="1" dirty="0">
                <a:solidFill>
                  <a:srgbClr val="CC4824"/>
                </a:solidFill>
                <a:latin typeface="Open Sans" pitchFamily="34" charset="0"/>
                <a:ea typeface="Open Sans" pitchFamily="34" charset="-122"/>
                <a:cs typeface="Open Sans" pitchFamily="34" charset="-120"/>
              </a:rPr>
              <a:t>This table IS the referee's first page. Build it now and you referee yourself before anyone else does.</a:t>
            </a:r>
            <a:endParaRPr lang="en-US" sz="1300" dirty="0"/>
          </a:p>
        </p:txBody>
      </p:sp>
      <p:sp>
        <p:nvSpPr>
          <p:cNvPr id="30" name="Text 28"/>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31" name="Text 29"/>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5239"/>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08285"/>
          </a:solidFill>
          <a:ln/>
        </p:spPr>
      </p:sp>
      <p:sp>
        <p:nvSpPr>
          <p:cNvPr id="3" name="Text 1"/>
          <p:cNvSpPr/>
          <p:nvPr/>
        </p:nvSpPr>
        <p:spPr>
          <a:xfrm>
            <a:off x="1005840" y="2148840"/>
            <a:ext cx="9144000" cy="457200"/>
          </a:xfrm>
          <a:prstGeom prst="rect">
            <a:avLst/>
          </a:prstGeom>
          <a:noFill/>
          <a:ln/>
        </p:spPr>
        <p:txBody>
          <a:bodyPr wrap="square" lIns="0" tIns="0" rIns="0" bIns="0" rtlCol="0" anchor="ctr"/>
          <a:lstStyle/>
          <a:p>
            <a:pPr algn="l" indent="0" marL="0">
              <a:buNone/>
            </a:pPr>
            <a:r>
              <a:rPr lang="en-US" sz="1600" b="1" spc="400" kern="0" dirty="0">
                <a:solidFill>
                  <a:srgbClr val="008285"/>
                </a:solidFill>
                <a:latin typeface="Open Sans" pitchFamily="34" charset="0"/>
                <a:ea typeface="Open Sans" pitchFamily="34" charset="-122"/>
                <a:cs typeface="Open Sans" pitchFamily="34" charset="-120"/>
              </a:rPr>
              <a:t>BLOCK B</a:t>
            </a:r>
            <a:endParaRPr lang="en-US" sz="1600" dirty="0"/>
          </a:p>
        </p:txBody>
      </p:sp>
      <p:sp>
        <p:nvSpPr>
          <p:cNvPr id="4" name="Text 2"/>
          <p:cNvSpPr/>
          <p:nvPr/>
        </p:nvSpPr>
        <p:spPr>
          <a:xfrm>
            <a:off x="1005840" y="2606040"/>
            <a:ext cx="1042416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Poppins" pitchFamily="34" charset="0"/>
                <a:ea typeface="Poppins" pitchFamily="34" charset="-122"/>
                <a:cs typeface="Poppins" pitchFamily="34" charset="-120"/>
              </a:rPr>
              <a:t>The Pre-Analysis Plan &amp; the Data</a:t>
            </a:r>
            <a:endParaRPr lang="en-US" sz="4000" dirty="0"/>
          </a:p>
        </p:txBody>
      </p:sp>
      <p:sp>
        <p:nvSpPr>
          <p:cNvPr id="5" name="Text 3"/>
          <p:cNvSpPr/>
          <p:nvPr/>
        </p:nvSpPr>
        <p:spPr>
          <a:xfrm>
            <a:off x="1024128" y="4114800"/>
            <a:ext cx="9875520" cy="822960"/>
          </a:xfrm>
          <a:prstGeom prst="rect">
            <a:avLst/>
          </a:prstGeom>
          <a:noFill/>
          <a:ln/>
        </p:spPr>
        <p:txBody>
          <a:bodyPr wrap="square" lIns="0" tIns="0" rIns="0" bIns="0" rtlCol="0" anchor="t"/>
          <a:lstStyle/>
          <a:p>
            <a:pPr algn="l" indent="0" marL="0">
              <a:buNone/>
            </a:pPr>
            <a:r>
              <a:rPr lang="en-US" sz="1700" i="1" dirty="0">
                <a:solidFill>
                  <a:srgbClr val="CFE0D8"/>
                </a:solidFill>
                <a:latin typeface="Open Sans" pitchFamily="34" charset="0"/>
                <a:ea typeface="Open Sans" pitchFamily="34" charset="-122"/>
                <a:cs typeface="Open Sans" pitchFamily="34" charset="-120"/>
              </a:rPr>
              <a:t>Commit your primary spec before you see outcomes — then pull the data so cleanly anyone could reproduce it.</a:t>
            </a:r>
            <a:endParaRPr lang="en-US" sz="1700" dirty="0"/>
          </a:p>
        </p:txBody>
      </p:sp>
      <p:sp>
        <p:nvSpPr>
          <p:cNvPr id="6" name="Shape 4"/>
          <p:cNvSpPr/>
          <p:nvPr/>
        </p:nvSpPr>
        <p:spPr>
          <a:xfrm>
            <a:off x="1024128" y="5120640"/>
            <a:ext cx="2377440" cy="457200"/>
          </a:xfrm>
          <a:prstGeom prst="rect">
            <a:avLst/>
          </a:prstGeom>
          <a:solidFill>
            <a:srgbClr val="0A6247"/>
          </a:solidFill>
          <a:ln w="12700">
            <a:solidFill>
              <a:srgbClr val="008285"/>
            </a:solidFill>
            <a:prstDash val="solid"/>
          </a:ln>
        </p:spPr>
      </p:sp>
      <p:sp>
        <p:nvSpPr>
          <p:cNvPr id="7" name="Text 5"/>
          <p:cNvSpPr/>
          <p:nvPr/>
        </p:nvSpPr>
        <p:spPr>
          <a:xfrm>
            <a:off x="1024128" y="5120640"/>
            <a:ext cx="2377440" cy="457200"/>
          </a:xfrm>
          <a:prstGeom prst="rect">
            <a:avLst/>
          </a:prstGeom>
          <a:noFill/>
          <a:ln/>
        </p:spPr>
        <p:txBody>
          <a:bodyPr wrap="square" lIns="0" tIns="0" rIns="0" bIns="0" rtlCol="0" anchor="ctr"/>
          <a:lstStyle/>
          <a:p>
            <a:pPr algn="ctr" indent="0" marL="0">
              <a:buNone/>
            </a:pPr>
            <a:r>
              <a:rPr lang="en-US" sz="1300" b="1" dirty="0">
                <a:solidFill>
                  <a:srgbClr val="CFE0D8"/>
                </a:solidFill>
                <a:latin typeface="Open Sans" pitchFamily="34" charset="0"/>
                <a:ea typeface="Open Sans" pitchFamily="34" charset="-122"/>
                <a:cs typeface="Open Sans" pitchFamily="34" charset="-120"/>
              </a:rPr>
              <a:t>12:50 – 1:25</a:t>
            </a:r>
            <a:endParaRPr lang="en-US" sz="1300" dirty="0"/>
          </a:p>
        </p:txBody>
      </p:sp>
      <p:sp>
        <p:nvSpPr>
          <p:cNvPr id="8" name="Text 6"/>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6E8578"/>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9" name="Text 7"/>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6E8578"/>
                </a:solidFill>
                <a:latin typeface="Open Sans" pitchFamily="34" charset="0"/>
                <a:ea typeface="Open Sans" pitchFamily="34" charset="-122"/>
                <a:cs typeface="Open Sa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8285"/>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8285"/>
                </a:solidFill>
                <a:latin typeface="Open Sans" pitchFamily="34" charset="0"/>
                <a:ea typeface="Open Sans" pitchFamily="34" charset="-122"/>
                <a:cs typeface="Open Sans" pitchFamily="34" charset="-120"/>
              </a:rPr>
              <a:t>BLOCK B · COMMIT BEFORE YOU PEEK</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Why pre-register — the garden of forking paths</a:t>
            </a:r>
            <a:endParaRPr lang="en-US" sz="3000" dirty="0"/>
          </a:p>
        </p:txBody>
      </p:sp>
      <p:sp>
        <p:nvSpPr>
          <p:cNvPr id="5" name="Shape 3"/>
          <p:cNvSpPr/>
          <p:nvPr/>
        </p:nvSpPr>
        <p:spPr>
          <a:xfrm>
            <a:off x="777240" y="1783080"/>
            <a:ext cx="10637215" cy="868680"/>
          </a:xfrm>
          <a:prstGeom prst="rect">
            <a:avLst/>
          </a:prstGeom>
          <a:solidFill>
            <a:srgbClr val="F6E3DE"/>
          </a:solidFill>
          <a:ln w="12700">
            <a:solidFill>
              <a:srgbClr val="CC4824"/>
            </a:solidFill>
            <a:prstDash val="solid"/>
          </a:ln>
        </p:spPr>
      </p:sp>
      <p:sp>
        <p:nvSpPr>
          <p:cNvPr id="6" name="Shape 4"/>
          <p:cNvSpPr/>
          <p:nvPr/>
        </p:nvSpPr>
        <p:spPr>
          <a:xfrm>
            <a:off x="777240" y="1783080"/>
            <a:ext cx="109728" cy="868680"/>
          </a:xfrm>
          <a:prstGeom prst="rect">
            <a:avLst/>
          </a:prstGeom>
          <a:solidFill>
            <a:srgbClr val="CC4824"/>
          </a:solidFill>
          <a:ln/>
        </p:spPr>
      </p:sp>
      <p:sp>
        <p:nvSpPr>
          <p:cNvPr id="7" name="Text 5"/>
          <p:cNvSpPr/>
          <p:nvPr/>
        </p:nvSpPr>
        <p:spPr>
          <a:xfrm>
            <a:off x="1097280" y="1783080"/>
            <a:ext cx="10088575" cy="868680"/>
          </a:xfrm>
          <a:prstGeom prst="rect">
            <a:avLst/>
          </a:prstGeom>
          <a:noFill/>
          <a:ln/>
        </p:spPr>
        <p:txBody>
          <a:bodyPr wrap="square" lIns="0" tIns="0" rIns="0" bIns="0" rtlCol="0" anchor="ctr"/>
          <a:lstStyle/>
          <a:p>
            <a:pPr indent="0" marL="0">
              <a:buNone/>
            </a:pPr>
            <a:r>
              <a:rPr lang="en-US" sz="1500" i="1" dirty="0">
                <a:solidFill>
                  <a:srgbClr val="005239"/>
                </a:solidFill>
                <a:latin typeface="Poppins" pitchFamily="34" charset="0"/>
                <a:ea typeface="Poppins" pitchFamily="34" charset="-122"/>
                <a:cs typeface="Poppins" pitchFamily="34" charset="-120"/>
              </a:rPr>
              <a:t>“With enough post-hoc choices — which controls, which sample, which cutoff — you can turn pure noise into a beautiful, significant result, and never feel like you cheated. Every fork felt reasonable at the time.”</a:t>
            </a:r>
            <a:endParaRPr lang="en-US" sz="1500" dirty="0"/>
          </a:p>
        </p:txBody>
      </p:sp>
      <p:sp>
        <p:nvSpPr>
          <p:cNvPr id="8" name="Shape 6"/>
          <p:cNvSpPr/>
          <p:nvPr/>
        </p:nvSpPr>
        <p:spPr>
          <a:xfrm>
            <a:off x="777240" y="2926080"/>
            <a:ext cx="3240938"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9" name="Shape 7"/>
          <p:cNvSpPr/>
          <p:nvPr/>
        </p:nvSpPr>
        <p:spPr>
          <a:xfrm>
            <a:off x="777240" y="2926080"/>
            <a:ext cx="3240938" cy="109728"/>
          </a:xfrm>
          <a:prstGeom prst="rect">
            <a:avLst/>
          </a:prstGeom>
          <a:solidFill>
            <a:srgbClr val="CC4824"/>
          </a:solidFill>
          <a:ln/>
        </p:spPr>
      </p:sp>
      <p:sp>
        <p:nvSpPr>
          <p:cNvPr id="10" name="Shape 8"/>
          <p:cNvSpPr/>
          <p:nvPr/>
        </p:nvSpPr>
        <p:spPr>
          <a:xfrm>
            <a:off x="1143000" y="3273552"/>
            <a:ext cx="694944" cy="694944"/>
          </a:xfrm>
          <a:prstGeom prst="ellipse">
            <a:avLst/>
          </a:prstGeom>
          <a:solidFill>
            <a:srgbClr val="CC4824"/>
          </a:solidFill>
          <a:ln/>
        </p:spPr>
      </p:sp>
      <p:pic>
        <p:nvPicPr>
          <p:cNvPr id="11" name="Image 0" descr="preencoded.png">    </p:cNvPr>
          <p:cNvPicPr>
            <a:picLocks noChangeAspect="1"/>
          </p:cNvPicPr>
          <p:nvPr/>
        </p:nvPicPr>
        <p:blipFill>
          <a:blip r:embed="rId1"/>
          <a:stretch>
            <a:fillRect/>
          </a:stretch>
        </p:blipFill>
        <p:spPr>
          <a:xfrm>
            <a:off x="1323685" y="3454237"/>
            <a:ext cx="333573" cy="333573"/>
          </a:xfrm>
          <a:prstGeom prst="rect">
            <a:avLst/>
          </a:prstGeom>
        </p:spPr>
      </p:pic>
      <p:sp>
        <p:nvSpPr>
          <p:cNvPr id="12" name="Text 9"/>
          <p:cNvSpPr/>
          <p:nvPr/>
        </p:nvSpPr>
        <p:spPr>
          <a:xfrm>
            <a:off x="1143000" y="4114800"/>
            <a:ext cx="2509418" cy="548640"/>
          </a:xfrm>
          <a:prstGeom prst="rect">
            <a:avLst/>
          </a:prstGeom>
          <a:noFill/>
          <a:ln/>
        </p:spPr>
        <p:txBody>
          <a:bodyPr wrap="square" lIns="0" tIns="0" rIns="0" bIns="0" rtlCol="0" anchor="t"/>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The problem: forking paths</a:t>
            </a:r>
            <a:endParaRPr lang="en-US" sz="1400" dirty="0"/>
          </a:p>
        </p:txBody>
      </p:sp>
      <p:sp>
        <p:nvSpPr>
          <p:cNvPr id="13" name="Text 10"/>
          <p:cNvSpPr/>
          <p:nvPr/>
        </p:nvSpPr>
        <p:spPr>
          <a:xfrm>
            <a:off x="1143000" y="4663440"/>
            <a:ext cx="2509418" cy="50292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Choices made AFTER seeing what's significant let you mine noise. The freedom is the danger.</a:t>
            </a:r>
            <a:endParaRPr lang="en-US" sz="1100" dirty="0"/>
          </a:p>
        </p:txBody>
      </p:sp>
      <p:sp>
        <p:nvSpPr>
          <p:cNvPr id="14" name="Shape 11"/>
          <p:cNvSpPr/>
          <p:nvPr/>
        </p:nvSpPr>
        <p:spPr>
          <a:xfrm>
            <a:off x="4475378" y="2926080"/>
            <a:ext cx="3240938" cy="22860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5" name="Shape 12"/>
          <p:cNvSpPr/>
          <p:nvPr/>
        </p:nvSpPr>
        <p:spPr>
          <a:xfrm>
            <a:off x="4475378" y="2926080"/>
            <a:ext cx="3240938" cy="109728"/>
          </a:xfrm>
          <a:prstGeom prst="rect">
            <a:avLst/>
          </a:prstGeom>
          <a:solidFill>
            <a:srgbClr val="004F71"/>
          </a:solidFill>
          <a:ln/>
        </p:spPr>
      </p:sp>
      <p:sp>
        <p:nvSpPr>
          <p:cNvPr id="16" name="Shape 13"/>
          <p:cNvSpPr/>
          <p:nvPr/>
        </p:nvSpPr>
        <p:spPr>
          <a:xfrm>
            <a:off x="4841138" y="3273552"/>
            <a:ext cx="694944" cy="694944"/>
          </a:xfrm>
          <a:prstGeom prst="ellipse">
            <a:avLst/>
          </a:prstGeom>
          <a:solidFill>
            <a:srgbClr val="004F71"/>
          </a:solidFill>
          <a:ln/>
        </p:spPr>
      </p:sp>
      <p:pic>
        <p:nvPicPr>
          <p:cNvPr id="17" name="Image 1" descr="preencoded.png">    </p:cNvPr>
          <p:cNvPicPr>
            <a:picLocks noChangeAspect="1"/>
          </p:cNvPicPr>
          <p:nvPr/>
        </p:nvPicPr>
        <p:blipFill>
          <a:blip r:embed="rId2"/>
          <a:stretch>
            <a:fillRect/>
          </a:stretch>
        </p:blipFill>
        <p:spPr>
          <a:xfrm>
            <a:off x="5021824" y="3454237"/>
            <a:ext cx="333573" cy="333573"/>
          </a:xfrm>
          <a:prstGeom prst="rect">
            <a:avLst/>
          </a:prstGeom>
        </p:spPr>
      </p:pic>
      <p:sp>
        <p:nvSpPr>
          <p:cNvPr id="18" name="Text 14"/>
          <p:cNvSpPr/>
          <p:nvPr/>
        </p:nvSpPr>
        <p:spPr>
          <a:xfrm>
            <a:off x="4841138" y="4114800"/>
            <a:ext cx="2509418" cy="548640"/>
          </a:xfrm>
          <a:prstGeom prst="rect">
            <a:avLst/>
          </a:prstGeom>
          <a:noFill/>
          <a:ln/>
        </p:spPr>
        <p:txBody>
          <a:bodyPr wrap="square" lIns="0" tIns="0" rIns="0" bIns="0" rtlCol="0" anchor="t"/>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The fix: pre-commit</a:t>
            </a:r>
            <a:endParaRPr lang="en-US" sz="1400" dirty="0"/>
          </a:p>
        </p:txBody>
      </p:sp>
      <p:sp>
        <p:nvSpPr>
          <p:cNvPr id="19" name="Text 15"/>
          <p:cNvSpPr/>
          <p:nvPr/>
        </p:nvSpPr>
        <p:spPr>
          <a:xfrm>
            <a:off x="4841138" y="4663440"/>
            <a:ext cx="2509418" cy="50292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Write down your ONE primary specification before you look at any outcome. Then report whatever it gives.</a:t>
            </a:r>
            <a:endParaRPr lang="en-US" sz="1100" dirty="0"/>
          </a:p>
        </p:txBody>
      </p:sp>
      <p:sp>
        <p:nvSpPr>
          <p:cNvPr id="20" name="Shape 16"/>
          <p:cNvSpPr/>
          <p:nvPr/>
        </p:nvSpPr>
        <p:spPr>
          <a:xfrm>
            <a:off x="8173517" y="2926080"/>
            <a:ext cx="3240938" cy="2286000"/>
          </a:xfrm>
          <a:prstGeom prst="rect">
            <a:avLst/>
          </a:prstGeom>
          <a:solidFill>
            <a:srgbClr val="FFFFFF"/>
          </a:solidFill>
          <a:ln w="19050">
            <a:solidFill>
              <a:srgbClr val="008285"/>
            </a:solidFill>
            <a:prstDash val="solid"/>
          </a:ln>
          <a:effectLst>
            <a:outerShdw sx="100000" sy="100000" kx="0" ky="0" algn="bl" rotWithShape="0" blurRad="88900" dist="38100" dir="5400000">
              <a:srgbClr val="9A9488">
                <a:alpha val="22000"/>
              </a:srgbClr>
            </a:outerShdw>
          </a:effectLst>
        </p:spPr>
      </p:sp>
      <p:sp>
        <p:nvSpPr>
          <p:cNvPr id="21" name="Shape 17"/>
          <p:cNvSpPr/>
          <p:nvPr/>
        </p:nvSpPr>
        <p:spPr>
          <a:xfrm>
            <a:off x="8173517" y="2926080"/>
            <a:ext cx="3240938" cy="109728"/>
          </a:xfrm>
          <a:prstGeom prst="rect">
            <a:avLst/>
          </a:prstGeom>
          <a:solidFill>
            <a:srgbClr val="008285"/>
          </a:solidFill>
          <a:ln/>
        </p:spPr>
      </p:sp>
      <p:sp>
        <p:nvSpPr>
          <p:cNvPr id="22" name="Shape 18"/>
          <p:cNvSpPr/>
          <p:nvPr/>
        </p:nvSpPr>
        <p:spPr>
          <a:xfrm>
            <a:off x="8539277" y="3273552"/>
            <a:ext cx="694944" cy="694944"/>
          </a:xfrm>
          <a:prstGeom prst="ellipse">
            <a:avLst/>
          </a:prstGeom>
          <a:solidFill>
            <a:srgbClr val="008285"/>
          </a:solidFill>
          <a:ln/>
        </p:spPr>
      </p:sp>
      <p:pic>
        <p:nvPicPr>
          <p:cNvPr id="23" name="Image 2" descr="preencoded.png">    </p:cNvPr>
          <p:cNvPicPr>
            <a:picLocks noChangeAspect="1"/>
          </p:cNvPicPr>
          <p:nvPr/>
        </p:nvPicPr>
        <p:blipFill>
          <a:blip r:embed="rId3"/>
          <a:stretch>
            <a:fillRect/>
          </a:stretch>
        </p:blipFill>
        <p:spPr>
          <a:xfrm>
            <a:off x="8719962" y="3454237"/>
            <a:ext cx="333573" cy="333573"/>
          </a:xfrm>
          <a:prstGeom prst="rect">
            <a:avLst/>
          </a:prstGeom>
        </p:spPr>
      </p:pic>
      <p:sp>
        <p:nvSpPr>
          <p:cNvPr id="24" name="Text 19"/>
          <p:cNvSpPr/>
          <p:nvPr/>
        </p:nvSpPr>
        <p:spPr>
          <a:xfrm>
            <a:off x="8539277" y="4114800"/>
            <a:ext cx="2509418" cy="548640"/>
          </a:xfrm>
          <a:prstGeom prst="rect">
            <a:avLst/>
          </a:prstGeom>
          <a:noFill/>
          <a:ln/>
        </p:spPr>
        <p:txBody>
          <a:bodyPr wrap="square" lIns="0" tIns="0" rIns="0" bIns="0" rtlCol="0" anchor="t"/>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The payoff: a null informs</a:t>
            </a:r>
            <a:endParaRPr lang="en-US" sz="1400" dirty="0"/>
          </a:p>
        </p:txBody>
      </p:sp>
      <p:sp>
        <p:nvSpPr>
          <p:cNvPr id="25" name="Text 20"/>
          <p:cNvSpPr/>
          <p:nvPr/>
        </p:nvSpPr>
        <p:spPr>
          <a:xfrm>
            <a:off x="8539277" y="4663440"/>
            <a:ext cx="2509418" cy="50292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Everyone knows you didn't keep digging — so a finding of nothing is now believable, and an effect is trustworthy.</a:t>
            </a:r>
            <a:endParaRPr lang="en-US" sz="1100" dirty="0"/>
          </a:p>
        </p:txBody>
      </p:sp>
      <p:sp>
        <p:nvSpPr>
          <p:cNvPr id="26" name="Text 21"/>
          <p:cNvSpPr/>
          <p:nvPr/>
        </p:nvSpPr>
        <p:spPr>
          <a:xfrm>
            <a:off x="777240" y="5486400"/>
            <a:ext cx="10637215" cy="365760"/>
          </a:xfrm>
          <a:prstGeom prst="rect">
            <a:avLst/>
          </a:prstGeom>
          <a:noFill/>
          <a:ln/>
        </p:spPr>
        <p:txBody>
          <a:bodyPr wrap="square" lIns="0" tIns="0" rIns="0" bIns="0" rtlCol="0" anchor="ctr"/>
          <a:lstStyle/>
          <a:p>
            <a:pPr algn="ctr" indent="0" marL="0">
              <a:buNone/>
            </a:pPr>
            <a:r>
              <a:rPr lang="en-US" sz="1300" i="1" dirty="0">
                <a:solidFill>
                  <a:srgbClr val="008285"/>
                </a:solidFill>
                <a:latin typeface="Open Sans" pitchFamily="34" charset="0"/>
                <a:ea typeface="Open Sans" pitchFamily="34" charset="-122"/>
                <a:cs typeface="Open Sans" pitchFamily="34" charset="-120"/>
              </a:rPr>
              <a:t>Pre-registration doesn't make your result positive. It makes your result credible — and credible is the whole game.</a:t>
            </a:r>
            <a:endParaRPr lang="en-US" sz="1300" dirty="0"/>
          </a:p>
        </p:txBody>
      </p:sp>
      <p:sp>
        <p:nvSpPr>
          <p:cNvPr id="27" name="Text 22"/>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28" name="Text 23"/>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8285"/>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8285"/>
                </a:solidFill>
                <a:latin typeface="Open Sans" pitchFamily="34" charset="0"/>
                <a:ea typeface="Open Sans" pitchFamily="34" charset="-122"/>
                <a:cs typeface="Open Sans" pitchFamily="34" charset="-120"/>
              </a:rPr>
              <a:t>BLOCK B · THE RECIPE</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short-form pre-analysis plan — six items (Olken 2015)</a:t>
            </a:r>
            <a:endParaRPr lang="en-US" sz="3000" dirty="0"/>
          </a:p>
        </p:txBody>
      </p:sp>
      <p:sp>
        <p:nvSpPr>
          <p:cNvPr id="5" name="Shape 3"/>
          <p:cNvSpPr/>
          <p:nvPr/>
        </p:nvSpPr>
        <p:spPr>
          <a:xfrm>
            <a:off x="777240" y="1783080"/>
            <a:ext cx="10637215" cy="603504"/>
          </a:xfrm>
          <a:prstGeom prst="rect">
            <a:avLst/>
          </a:prstGeom>
          <a:solidFill>
            <a:srgbClr val="FFFFFF"/>
          </a:solidFill>
          <a:ln w="9525">
            <a:solidFill>
              <a:srgbClr val="E2E1DC"/>
            </a:solidFill>
            <a:prstDash val="solid"/>
          </a:ln>
        </p:spPr>
      </p:sp>
      <p:sp>
        <p:nvSpPr>
          <p:cNvPr id="6" name="Shape 4"/>
          <p:cNvSpPr/>
          <p:nvPr/>
        </p:nvSpPr>
        <p:spPr>
          <a:xfrm>
            <a:off x="978408" y="1874520"/>
            <a:ext cx="420624" cy="420624"/>
          </a:xfrm>
          <a:prstGeom prst="ellipse">
            <a:avLst/>
          </a:prstGeom>
          <a:solidFill>
            <a:srgbClr val="008285"/>
          </a:solidFill>
          <a:ln/>
        </p:spPr>
      </p:sp>
      <p:sp>
        <p:nvSpPr>
          <p:cNvPr id="7" name="Text 5"/>
          <p:cNvSpPr/>
          <p:nvPr/>
        </p:nvSpPr>
        <p:spPr>
          <a:xfrm>
            <a:off x="978408" y="1874520"/>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1</a:t>
            </a:r>
            <a:endParaRPr lang="en-US" sz="1700" dirty="0"/>
          </a:p>
        </p:txBody>
      </p:sp>
      <p:sp>
        <p:nvSpPr>
          <p:cNvPr id="8" name="Text 6"/>
          <p:cNvSpPr/>
          <p:nvPr/>
        </p:nvSpPr>
        <p:spPr>
          <a:xfrm>
            <a:off x="1600200" y="1783080"/>
            <a:ext cx="3200400" cy="603504"/>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Directional hypotheses</a:t>
            </a:r>
            <a:endParaRPr lang="en-US" sz="1400" dirty="0"/>
          </a:p>
        </p:txBody>
      </p:sp>
      <p:sp>
        <p:nvSpPr>
          <p:cNvPr id="9" name="Text 7"/>
          <p:cNvSpPr/>
          <p:nvPr/>
        </p:nvSpPr>
        <p:spPr>
          <a:xfrm>
            <a:off x="4892040" y="1783080"/>
            <a:ext cx="6430975" cy="603504"/>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Not just “there's an effect” — which sign you expect, and why.</a:t>
            </a:r>
            <a:endParaRPr lang="en-US" sz="1150" dirty="0"/>
          </a:p>
        </p:txBody>
      </p:sp>
      <p:sp>
        <p:nvSpPr>
          <p:cNvPr id="10" name="Shape 8"/>
          <p:cNvSpPr/>
          <p:nvPr/>
        </p:nvSpPr>
        <p:spPr>
          <a:xfrm>
            <a:off x="777240" y="2432304"/>
            <a:ext cx="10637215" cy="603504"/>
          </a:xfrm>
          <a:prstGeom prst="rect">
            <a:avLst/>
          </a:prstGeom>
          <a:solidFill>
            <a:srgbClr val="F4F4F2"/>
          </a:solidFill>
          <a:ln w="9525">
            <a:solidFill>
              <a:srgbClr val="E2E1DC"/>
            </a:solidFill>
            <a:prstDash val="solid"/>
          </a:ln>
        </p:spPr>
      </p:sp>
      <p:sp>
        <p:nvSpPr>
          <p:cNvPr id="11" name="Shape 9"/>
          <p:cNvSpPr/>
          <p:nvPr/>
        </p:nvSpPr>
        <p:spPr>
          <a:xfrm>
            <a:off x="978408" y="2523744"/>
            <a:ext cx="420624" cy="420624"/>
          </a:xfrm>
          <a:prstGeom prst="ellipse">
            <a:avLst/>
          </a:prstGeom>
          <a:solidFill>
            <a:srgbClr val="008285"/>
          </a:solidFill>
          <a:ln/>
        </p:spPr>
      </p:sp>
      <p:sp>
        <p:nvSpPr>
          <p:cNvPr id="12" name="Text 10"/>
          <p:cNvSpPr/>
          <p:nvPr/>
        </p:nvSpPr>
        <p:spPr>
          <a:xfrm>
            <a:off x="978408" y="2523744"/>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2</a:t>
            </a:r>
            <a:endParaRPr lang="en-US" sz="1700" dirty="0"/>
          </a:p>
        </p:txBody>
      </p:sp>
      <p:sp>
        <p:nvSpPr>
          <p:cNvPr id="13" name="Text 11"/>
          <p:cNvSpPr/>
          <p:nvPr/>
        </p:nvSpPr>
        <p:spPr>
          <a:xfrm>
            <a:off x="1600200" y="2432304"/>
            <a:ext cx="3200400" cy="603504"/>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One primary specification</a:t>
            </a:r>
            <a:endParaRPr lang="en-US" sz="1400" dirty="0"/>
          </a:p>
        </p:txBody>
      </p:sp>
      <p:sp>
        <p:nvSpPr>
          <p:cNvPr id="14" name="Text 12"/>
          <p:cNvSpPr/>
          <p:nvPr/>
        </p:nvSpPr>
        <p:spPr>
          <a:xfrm>
            <a:off x="4892040" y="2432304"/>
            <a:ext cx="6430975" cy="603504"/>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The single regression that is the headline test. Exactly one.</a:t>
            </a:r>
            <a:endParaRPr lang="en-US" sz="1150" dirty="0"/>
          </a:p>
        </p:txBody>
      </p:sp>
      <p:sp>
        <p:nvSpPr>
          <p:cNvPr id="15" name="Shape 13"/>
          <p:cNvSpPr/>
          <p:nvPr/>
        </p:nvSpPr>
        <p:spPr>
          <a:xfrm>
            <a:off x="777240" y="3081528"/>
            <a:ext cx="10637215" cy="603504"/>
          </a:xfrm>
          <a:prstGeom prst="rect">
            <a:avLst/>
          </a:prstGeom>
          <a:solidFill>
            <a:srgbClr val="FFFFFF"/>
          </a:solidFill>
          <a:ln w="9525">
            <a:solidFill>
              <a:srgbClr val="E2E1DC"/>
            </a:solidFill>
            <a:prstDash val="solid"/>
          </a:ln>
        </p:spPr>
      </p:sp>
      <p:sp>
        <p:nvSpPr>
          <p:cNvPr id="16" name="Shape 14"/>
          <p:cNvSpPr/>
          <p:nvPr/>
        </p:nvSpPr>
        <p:spPr>
          <a:xfrm>
            <a:off x="978408" y="3172968"/>
            <a:ext cx="420624" cy="420624"/>
          </a:xfrm>
          <a:prstGeom prst="ellipse">
            <a:avLst/>
          </a:prstGeom>
          <a:solidFill>
            <a:srgbClr val="008285"/>
          </a:solidFill>
          <a:ln/>
        </p:spPr>
      </p:sp>
      <p:sp>
        <p:nvSpPr>
          <p:cNvPr id="17" name="Text 15"/>
          <p:cNvSpPr/>
          <p:nvPr/>
        </p:nvSpPr>
        <p:spPr>
          <a:xfrm>
            <a:off x="978408" y="3172968"/>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3</a:t>
            </a:r>
            <a:endParaRPr lang="en-US" sz="1700" dirty="0"/>
          </a:p>
        </p:txBody>
      </p:sp>
      <p:sp>
        <p:nvSpPr>
          <p:cNvPr id="18" name="Text 16"/>
          <p:cNvSpPr/>
          <p:nvPr/>
        </p:nvSpPr>
        <p:spPr>
          <a:xfrm>
            <a:off x="1600200" y="3081528"/>
            <a:ext cx="3200400" cy="603504"/>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Secondary &amp; heterogeneity</a:t>
            </a:r>
            <a:endParaRPr lang="en-US" sz="1400" dirty="0"/>
          </a:p>
        </p:txBody>
      </p:sp>
      <p:sp>
        <p:nvSpPr>
          <p:cNvPr id="19" name="Text 17"/>
          <p:cNvSpPr/>
          <p:nvPr/>
        </p:nvSpPr>
        <p:spPr>
          <a:xfrm>
            <a:off x="4892040" y="3081528"/>
            <a:ext cx="6430975" cy="603504"/>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The follow-up questions — clearly labeled as secondary, not headline.</a:t>
            </a:r>
            <a:endParaRPr lang="en-US" sz="1150" dirty="0"/>
          </a:p>
        </p:txBody>
      </p:sp>
      <p:sp>
        <p:nvSpPr>
          <p:cNvPr id="20" name="Shape 18"/>
          <p:cNvSpPr/>
          <p:nvPr/>
        </p:nvSpPr>
        <p:spPr>
          <a:xfrm>
            <a:off x="777240" y="3730752"/>
            <a:ext cx="10637215" cy="603504"/>
          </a:xfrm>
          <a:prstGeom prst="rect">
            <a:avLst/>
          </a:prstGeom>
          <a:solidFill>
            <a:srgbClr val="F4F4F2"/>
          </a:solidFill>
          <a:ln w="9525">
            <a:solidFill>
              <a:srgbClr val="E2E1DC"/>
            </a:solidFill>
            <a:prstDash val="solid"/>
          </a:ln>
        </p:spPr>
      </p:sp>
      <p:sp>
        <p:nvSpPr>
          <p:cNvPr id="21" name="Shape 19"/>
          <p:cNvSpPr/>
          <p:nvPr/>
        </p:nvSpPr>
        <p:spPr>
          <a:xfrm>
            <a:off x="978408" y="3822192"/>
            <a:ext cx="420624" cy="420624"/>
          </a:xfrm>
          <a:prstGeom prst="ellipse">
            <a:avLst/>
          </a:prstGeom>
          <a:solidFill>
            <a:srgbClr val="008285"/>
          </a:solidFill>
          <a:ln/>
        </p:spPr>
      </p:sp>
      <p:sp>
        <p:nvSpPr>
          <p:cNvPr id="22" name="Text 20"/>
          <p:cNvSpPr/>
          <p:nvPr/>
        </p:nvSpPr>
        <p:spPr>
          <a:xfrm>
            <a:off x="978408" y="3822192"/>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4</a:t>
            </a:r>
            <a:endParaRPr lang="en-US" sz="1700" dirty="0"/>
          </a:p>
        </p:txBody>
      </p:sp>
      <p:sp>
        <p:nvSpPr>
          <p:cNvPr id="23" name="Text 21"/>
          <p:cNvSpPr/>
          <p:nvPr/>
        </p:nvSpPr>
        <p:spPr>
          <a:xfrm>
            <a:off x="1600200" y="3730752"/>
            <a:ext cx="3200400" cy="603504"/>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Multiple-testing control</a:t>
            </a:r>
            <a:endParaRPr lang="en-US" sz="1400" dirty="0"/>
          </a:p>
        </p:txBody>
      </p:sp>
      <p:sp>
        <p:nvSpPr>
          <p:cNvPr id="24" name="Text 22"/>
          <p:cNvSpPr/>
          <p:nvPr/>
        </p:nvSpPr>
        <p:spPr>
          <a:xfrm>
            <a:off x="4892040" y="3730752"/>
            <a:ext cx="6430975" cy="603504"/>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Test several outcomes? Use Benjamini–Hochberg FDR — no celebrating one lucky star in twenty.</a:t>
            </a:r>
            <a:endParaRPr lang="en-US" sz="1150" dirty="0"/>
          </a:p>
        </p:txBody>
      </p:sp>
      <p:sp>
        <p:nvSpPr>
          <p:cNvPr id="25" name="Shape 23"/>
          <p:cNvSpPr/>
          <p:nvPr/>
        </p:nvSpPr>
        <p:spPr>
          <a:xfrm>
            <a:off x="777240" y="4379976"/>
            <a:ext cx="10637215" cy="603504"/>
          </a:xfrm>
          <a:prstGeom prst="rect">
            <a:avLst/>
          </a:prstGeom>
          <a:solidFill>
            <a:srgbClr val="FFFFFF"/>
          </a:solidFill>
          <a:ln w="9525">
            <a:solidFill>
              <a:srgbClr val="E2E1DC"/>
            </a:solidFill>
            <a:prstDash val="solid"/>
          </a:ln>
        </p:spPr>
      </p:sp>
      <p:sp>
        <p:nvSpPr>
          <p:cNvPr id="26" name="Shape 24"/>
          <p:cNvSpPr/>
          <p:nvPr/>
        </p:nvSpPr>
        <p:spPr>
          <a:xfrm>
            <a:off x="978408" y="4471416"/>
            <a:ext cx="420624" cy="420624"/>
          </a:xfrm>
          <a:prstGeom prst="ellipse">
            <a:avLst/>
          </a:prstGeom>
          <a:solidFill>
            <a:srgbClr val="008285"/>
          </a:solidFill>
          <a:ln/>
        </p:spPr>
      </p:sp>
      <p:sp>
        <p:nvSpPr>
          <p:cNvPr id="27" name="Text 25"/>
          <p:cNvSpPr/>
          <p:nvPr/>
        </p:nvSpPr>
        <p:spPr>
          <a:xfrm>
            <a:off x="978408" y="4471416"/>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5</a:t>
            </a:r>
            <a:endParaRPr lang="en-US" sz="1700" dirty="0"/>
          </a:p>
        </p:txBody>
      </p:sp>
      <p:sp>
        <p:nvSpPr>
          <p:cNvPr id="28" name="Text 26"/>
          <p:cNvSpPr/>
          <p:nvPr/>
        </p:nvSpPr>
        <p:spPr>
          <a:xfrm>
            <a:off x="1600200" y="4379976"/>
            <a:ext cx="3200400" cy="603504"/>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Falsification / placebo</a:t>
            </a:r>
            <a:endParaRPr lang="en-US" sz="1400" dirty="0"/>
          </a:p>
        </p:txBody>
      </p:sp>
      <p:sp>
        <p:nvSpPr>
          <p:cNvPr id="29" name="Text 27"/>
          <p:cNvSpPr/>
          <p:nvPr/>
        </p:nvSpPr>
        <p:spPr>
          <a:xfrm>
            <a:off x="4892040" y="4379976"/>
            <a:ext cx="6430975" cy="603504"/>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Checks that SHOULD come back empty if your design is clean.</a:t>
            </a:r>
            <a:endParaRPr lang="en-US" sz="1150" dirty="0"/>
          </a:p>
        </p:txBody>
      </p:sp>
      <p:sp>
        <p:nvSpPr>
          <p:cNvPr id="30" name="Shape 28"/>
          <p:cNvSpPr/>
          <p:nvPr/>
        </p:nvSpPr>
        <p:spPr>
          <a:xfrm>
            <a:off x="777240" y="5029200"/>
            <a:ext cx="10637215" cy="603504"/>
          </a:xfrm>
          <a:prstGeom prst="rect">
            <a:avLst/>
          </a:prstGeom>
          <a:solidFill>
            <a:srgbClr val="F4F4F2"/>
          </a:solidFill>
          <a:ln w="9525">
            <a:solidFill>
              <a:srgbClr val="E2E1DC"/>
            </a:solidFill>
            <a:prstDash val="solid"/>
          </a:ln>
        </p:spPr>
      </p:sp>
      <p:sp>
        <p:nvSpPr>
          <p:cNvPr id="31" name="Shape 29"/>
          <p:cNvSpPr/>
          <p:nvPr/>
        </p:nvSpPr>
        <p:spPr>
          <a:xfrm>
            <a:off x="978408" y="5120640"/>
            <a:ext cx="420624" cy="420624"/>
          </a:xfrm>
          <a:prstGeom prst="ellipse">
            <a:avLst/>
          </a:prstGeom>
          <a:solidFill>
            <a:srgbClr val="008285"/>
          </a:solidFill>
          <a:ln/>
        </p:spPr>
      </p:sp>
      <p:sp>
        <p:nvSpPr>
          <p:cNvPr id="32" name="Text 30"/>
          <p:cNvSpPr/>
          <p:nvPr/>
        </p:nvSpPr>
        <p:spPr>
          <a:xfrm>
            <a:off x="978408" y="5120640"/>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6</a:t>
            </a:r>
            <a:endParaRPr lang="en-US" sz="1700" dirty="0"/>
          </a:p>
        </p:txBody>
      </p:sp>
      <p:sp>
        <p:nvSpPr>
          <p:cNvPr id="33" name="Text 31"/>
          <p:cNvSpPr/>
          <p:nvPr/>
        </p:nvSpPr>
        <p:spPr>
          <a:xfrm>
            <a:off x="1600200" y="5029200"/>
            <a:ext cx="3200400" cy="603504"/>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What would falsify H1</a:t>
            </a:r>
            <a:endParaRPr lang="en-US" sz="1400" dirty="0"/>
          </a:p>
        </p:txBody>
      </p:sp>
      <p:sp>
        <p:nvSpPr>
          <p:cNvPr id="34" name="Text 32"/>
          <p:cNvSpPr/>
          <p:nvPr/>
        </p:nvSpPr>
        <p:spPr>
          <a:xfrm>
            <a:off x="4892040" y="5029200"/>
            <a:ext cx="6430975" cy="603504"/>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State, in advance, the result that would prove your main hypothesis wrong.</a:t>
            </a:r>
            <a:endParaRPr lang="en-US" sz="1150" dirty="0"/>
          </a:p>
        </p:txBody>
      </p:sp>
      <p:sp>
        <p:nvSpPr>
          <p:cNvPr id="35" name="Text 33"/>
          <p:cNvSpPr/>
          <p:nvPr/>
        </p:nvSpPr>
        <p:spPr>
          <a:xfrm>
            <a:off x="777240" y="5806440"/>
            <a:ext cx="10637215" cy="365760"/>
          </a:xfrm>
          <a:prstGeom prst="rect">
            <a:avLst/>
          </a:prstGeom>
          <a:noFill/>
          <a:ln/>
        </p:spPr>
        <p:txBody>
          <a:bodyPr wrap="square" lIns="0" tIns="0" rIns="0" bIns="0" rtlCol="0" anchor="ctr"/>
          <a:lstStyle/>
          <a:p>
            <a:pPr algn="ctr" indent="0" marL="0">
              <a:buNone/>
            </a:pPr>
            <a:r>
              <a:rPr lang="en-US" sz="1250" i="1" dirty="0">
                <a:solidFill>
                  <a:srgbClr val="008285"/>
                </a:solidFill>
                <a:latin typeface="Open Sans" pitchFamily="34" charset="0"/>
                <a:ea typeface="Open Sans" pitchFamily="34" charset="-122"/>
                <a:cs typeface="Open Sans" pitchFamily="34" charset="-120"/>
              </a:rPr>
              <a:t>One to two pages — the value is commitment, not length. A tight PAP filed on time beats a sprawling one filed never.</a:t>
            </a:r>
            <a:endParaRPr lang="en-US" sz="1250" dirty="0"/>
          </a:p>
        </p:txBody>
      </p:sp>
      <p:sp>
        <p:nvSpPr>
          <p:cNvPr id="36" name="Text 34"/>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37" name="Text 35"/>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8285"/>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8285"/>
                </a:solidFill>
                <a:latin typeface="Open Sans" pitchFamily="34" charset="0"/>
                <a:ea typeface="Open Sans" pitchFamily="34" charset="-122"/>
                <a:cs typeface="Open Sans" pitchFamily="34" charset="-120"/>
              </a:rPr>
              <a:t>BLOCK B · THE HEADLINE TEST</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The primary specification — you can name every part</a:t>
            </a:r>
            <a:endParaRPr lang="en-US" sz="3000" dirty="0"/>
          </a:p>
        </p:txBody>
      </p:sp>
      <p:sp>
        <p:nvSpPr>
          <p:cNvPr id="5" name="Shape 3"/>
          <p:cNvSpPr/>
          <p:nvPr/>
        </p:nvSpPr>
        <p:spPr>
          <a:xfrm>
            <a:off x="777240" y="1737360"/>
            <a:ext cx="10637215" cy="1051560"/>
          </a:xfrm>
          <a:prstGeom prst="rect">
            <a:avLst/>
          </a:prstGeom>
          <a:solidFill>
            <a:srgbClr val="005239"/>
          </a:solidFill>
          <a:ln/>
          <a:effectLst>
            <a:outerShdw sx="100000" sy="100000" kx="0" ky="0" algn="bl" rotWithShape="0" blurRad="88900" dist="38100" dir="5400000">
              <a:srgbClr val="9A9488">
                <a:alpha val="22000"/>
              </a:srgbClr>
            </a:outerShdw>
          </a:effectLst>
        </p:spPr>
      </p:sp>
      <p:sp>
        <p:nvSpPr>
          <p:cNvPr id="6" name="Shape 4"/>
          <p:cNvSpPr/>
          <p:nvPr/>
        </p:nvSpPr>
        <p:spPr>
          <a:xfrm>
            <a:off x="777240" y="1737360"/>
            <a:ext cx="128016" cy="1051560"/>
          </a:xfrm>
          <a:prstGeom prst="rect">
            <a:avLst/>
          </a:prstGeom>
          <a:solidFill>
            <a:srgbClr val="FFC733"/>
          </a:solidFill>
          <a:ln/>
        </p:spPr>
      </p:sp>
      <p:sp>
        <p:nvSpPr>
          <p:cNvPr id="7" name="Text 5"/>
          <p:cNvSpPr/>
          <p:nvPr/>
        </p:nvSpPr>
        <p:spPr>
          <a:xfrm>
            <a:off x="1234440" y="1737360"/>
            <a:ext cx="9814255" cy="1051560"/>
          </a:xfrm>
          <a:prstGeom prst="rect">
            <a:avLst/>
          </a:prstGeom>
          <a:noFill/>
          <a:ln/>
        </p:spPr>
        <p:txBody>
          <a:bodyPr wrap="square" lIns="0" tIns="0" rIns="0" bIns="0" rtlCol="0" anchor="ctr"/>
          <a:lstStyle/>
          <a:p>
            <a:pPr algn="ctr" indent="0" marL="0">
              <a:buNone/>
            </a:pPr>
            <a:r>
              <a:rPr lang="en-US" sz="2600" b="1" dirty="0">
                <a:solidFill>
                  <a:srgbClr val="FFFFFF"/>
                </a:solidFill>
                <a:latin typeface="Poppins" pitchFamily="34" charset="0"/>
                <a:ea typeface="Poppins" pitchFamily="34" charset="-122"/>
                <a:cs typeface="Poppins" pitchFamily="34" charset="-120"/>
              </a:rPr>
              <a:t>Spread</a:t>
            </a:r>
            <a:pPr algn="ctr" indent="0" marL="0">
              <a:buNone/>
            </a:pPr>
            <a:r>
              <a:rPr lang="en-US" sz="1200" b="1" dirty="0">
                <a:solidFill>
                  <a:srgbClr val="CFE0D8"/>
                </a:solidFill>
                <a:latin typeface="Poppins" pitchFamily="34" charset="0"/>
                <a:ea typeface="Poppins" pitchFamily="34" charset="-122"/>
                <a:cs typeface="Poppins" pitchFamily="34" charset="-120"/>
              </a:rPr>
              <a:t>i,t</a:t>
            </a:r>
            <a:pPr algn="ctr" indent="0" marL="0">
              <a:buNone/>
            </a:pPr>
            <a:r>
              <a:rPr lang="en-US" sz="2600" b="1" dirty="0">
                <a:solidFill>
                  <a:srgbClr val="FFC733"/>
                </a:solidFill>
                <a:latin typeface="Poppins" pitchFamily="34" charset="0"/>
                <a:ea typeface="Poppins" pitchFamily="34" charset="-122"/>
                <a:cs typeface="Poppins" pitchFamily="34" charset="-120"/>
              </a:rPr>
              <a:t>  =  β·Ban</a:t>
            </a:r>
            <a:pPr algn="ctr" indent="0" marL="0">
              <a:buNone/>
            </a:pPr>
            <a:r>
              <a:rPr lang="en-US" sz="1200" b="1" dirty="0">
                <a:solidFill>
                  <a:srgbClr val="CFE0D8"/>
                </a:solidFill>
                <a:latin typeface="Poppins" pitchFamily="34" charset="0"/>
                <a:ea typeface="Poppins" pitchFamily="34" charset="-122"/>
                <a:cs typeface="Poppins" pitchFamily="34" charset="-120"/>
              </a:rPr>
              <a:t>i,t</a:t>
            </a:r>
            <a:pPr algn="ctr" indent="0" marL="0">
              <a:buNone/>
            </a:pPr>
            <a:r>
              <a:rPr lang="en-US" sz="2600" b="1" dirty="0">
                <a:solidFill>
                  <a:srgbClr val="FFFFFF"/>
                </a:solidFill>
                <a:latin typeface="Poppins" pitchFamily="34" charset="0"/>
                <a:ea typeface="Poppins" pitchFamily="34" charset="-122"/>
                <a:cs typeface="Poppins" pitchFamily="34" charset="-120"/>
              </a:rPr>
              <a:t>  +  X</a:t>
            </a:r>
            <a:pPr algn="ctr" indent="0" marL="0">
              <a:buNone/>
            </a:pPr>
            <a:r>
              <a:rPr lang="en-US" sz="1200" b="1" dirty="0">
                <a:solidFill>
                  <a:srgbClr val="CFE0D8"/>
                </a:solidFill>
                <a:latin typeface="Poppins" pitchFamily="34" charset="0"/>
                <a:ea typeface="Poppins" pitchFamily="34" charset="-122"/>
                <a:cs typeface="Poppins" pitchFamily="34" charset="-120"/>
              </a:rPr>
              <a:t>i,t</a:t>
            </a:r>
            <a:pPr algn="ctr" indent="0" marL="0">
              <a:buNone/>
            </a:pPr>
            <a:r>
              <a:rPr lang="en-US" sz="2600" b="1" dirty="0">
                <a:solidFill>
                  <a:srgbClr val="FFFFFF"/>
                </a:solidFill>
                <a:latin typeface="Poppins" pitchFamily="34" charset="0"/>
                <a:ea typeface="Poppins" pitchFamily="34" charset="-122"/>
                <a:cs typeface="Poppins" pitchFamily="34" charset="-120"/>
              </a:rPr>
              <a:t>γ  +  α</a:t>
            </a:r>
            <a:pPr algn="ctr" indent="0" marL="0">
              <a:buNone/>
            </a:pPr>
            <a:r>
              <a:rPr lang="en-US" sz="1200" b="1" dirty="0">
                <a:solidFill>
                  <a:srgbClr val="CFE0D8"/>
                </a:solidFill>
                <a:latin typeface="Poppins" pitchFamily="34" charset="0"/>
                <a:ea typeface="Poppins" pitchFamily="34" charset="-122"/>
                <a:cs typeface="Poppins" pitchFamily="34" charset="-120"/>
              </a:rPr>
              <a:t>i</a:t>
            </a:r>
            <a:pPr algn="ctr" indent="0" marL="0">
              <a:buNone/>
            </a:pPr>
            <a:r>
              <a:rPr lang="en-US" sz="2600" b="1" dirty="0">
                <a:solidFill>
                  <a:srgbClr val="FFFFFF"/>
                </a:solidFill>
                <a:latin typeface="Poppins" pitchFamily="34" charset="0"/>
                <a:ea typeface="Poppins" pitchFamily="34" charset="-122"/>
                <a:cs typeface="Poppins" pitchFamily="34" charset="-120"/>
              </a:rPr>
              <a:t>  +  δ</a:t>
            </a:r>
            <a:pPr algn="ctr" indent="0" marL="0">
              <a:buNone/>
            </a:pPr>
            <a:r>
              <a:rPr lang="en-US" sz="1200" b="1" dirty="0">
                <a:solidFill>
                  <a:srgbClr val="CFE0D8"/>
                </a:solidFill>
                <a:latin typeface="Poppins" pitchFamily="34" charset="0"/>
                <a:ea typeface="Poppins" pitchFamily="34" charset="-122"/>
                <a:cs typeface="Poppins" pitchFamily="34" charset="-120"/>
              </a:rPr>
              <a:t>t</a:t>
            </a:r>
            <a:pPr algn="ctr" indent="0" marL="0">
              <a:buNone/>
            </a:pPr>
            <a:r>
              <a:rPr lang="en-US" sz="2600" b="1" dirty="0">
                <a:solidFill>
                  <a:srgbClr val="FFFFFF"/>
                </a:solidFill>
                <a:latin typeface="Poppins" pitchFamily="34" charset="0"/>
                <a:ea typeface="Poppins" pitchFamily="34" charset="-122"/>
                <a:cs typeface="Poppins" pitchFamily="34" charset="-120"/>
              </a:rPr>
              <a:t>  +  ε</a:t>
            </a:r>
            <a:pPr algn="ctr" indent="0" marL="0">
              <a:buNone/>
            </a:pPr>
            <a:r>
              <a:rPr lang="en-US" sz="1200" b="1" dirty="0">
                <a:solidFill>
                  <a:srgbClr val="CFE0D8"/>
                </a:solidFill>
                <a:latin typeface="Poppins" pitchFamily="34" charset="0"/>
                <a:ea typeface="Poppins" pitchFamily="34" charset="-122"/>
                <a:cs typeface="Poppins" pitchFamily="34" charset="-120"/>
              </a:rPr>
              <a:t>i,t</a:t>
            </a:r>
            <a:endParaRPr lang="en-US" sz="2600" dirty="0"/>
          </a:p>
        </p:txBody>
      </p:sp>
      <p:sp>
        <p:nvSpPr>
          <p:cNvPr id="8" name="Shape 6"/>
          <p:cNvSpPr/>
          <p:nvPr/>
        </p:nvSpPr>
        <p:spPr>
          <a:xfrm>
            <a:off x="777240" y="3063240"/>
            <a:ext cx="5090008" cy="658368"/>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9" name="Shape 7"/>
          <p:cNvSpPr/>
          <p:nvPr/>
        </p:nvSpPr>
        <p:spPr>
          <a:xfrm>
            <a:off x="777240" y="3063240"/>
            <a:ext cx="91440" cy="658368"/>
          </a:xfrm>
          <a:prstGeom prst="rect">
            <a:avLst/>
          </a:prstGeom>
          <a:solidFill>
            <a:srgbClr val="008285"/>
          </a:solidFill>
          <a:ln/>
        </p:spPr>
      </p:sp>
      <p:sp>
        <p:nvSpPr>
          <p:cNvPr id="10" name="Shape 8"/>
          <p:cNvSpPr/>
          <p:nvPr/>
        </p:nvSpPr>
        <p:spPr>
          <a:xfrm>
            <a:off x="1033272" y="3182112"/>
            <a:ext cx="420624" cy="420624"/>
          </a:xfrm>
          <a:prstGeom prst="ellipse">
            <a:avLst/>
          </a:prstGeom>
          <a:solidFill>
            <a:srgbClr val="008285"/>
          </a:solidFill>
          <a:ln/>
        </p:spPr>
      </p:sp>
      <p:pic>
        <p:nvPicPr>
          <p:cNvPr id="11" name="Image 0" descr="preencoded.png">    </p:cNvPr>
          <p:cNvPicPr>
            <a:picLocks noChangeAspect="1"/>
          </p:cNvPicPr>
          <p:nvPr/>
        </p:nvPicPr>
        <p:blipFill>
          <a:blip r:embed="rId1"/>
          <a:stretch>
            <a:fillRect/>
          </a:stretch>
        </p:blipFill>
        <p:spPr>
          <a:xfrm>
            <a:off x="1142634" y="3291474"/>
            <a:ext cx="201900" cy="201900"/>
          </a:xfrm>
          <a:prstGeom prst="rect">
            <a:avLst/>
          </a:prstGeom>
        </p:spPr>
      </p:pic>
      <p:sp>
        <p:nvSpPr>
          <p:cNvPr id="12" name="Text 9"/>
          <p:cNvSpPr/>
          <p:nvPr/>
        </p:nvSpPr>
        <p:spPr>
          <a:xfrm>
            <a:off x="1600200" y="3063240"/>
            <a:ext cx="1691640" cy="658368"/>
          </a:xfrm>
          <a:prstGeom prst="rect">
            <a:avLst/>
          </a:prstGeom>
          <a:noFill/>
          <a:ln/>
        </p:spPr>
        <p:txBody>
          <a:bodyPr wrap="square" lIns="0" tIns="0" rIns="0" bIns="0" rtlCol="0" anchor="ctr"/>
          <a:lstStyle/>
          <a:p>
            <a:pPr indent="0" marL="0">
              <a:buNone/>
            </a:pPr>
            <a:r>
              <a:rPr lang="en-US" sz="1250" b="1" dirty="0">
                <a:solidFill>
                  <a:srgbClr val="005239"/>
                </a:solidFill>
                <a:latin typeface="Poppins" pitchFamily="34" charset="0"/>
                <a:ea typeface="Poppins" pitchFamily="34" charset="-122"/>
                <a:cs typeface="Poppins" pitchFamily="34" charset="-120"/>
              </a:rPr>
              <a:t>Outcome</a:t>
            </a:r>
            <a:endParaRPr lang="en-US" sz="1250" dirty="0"/>
          </a:p>
        </p:txBody>
      </p:sp>
      <p:sp>
        <p:nvSpPr>
          <p:cNvPr id="13" name="Text 10"/>
          <p:cNvSpPr/>
          <p:nvPr/>
        </p:nvSpPr>
        <p:spPr>
          <a:xfrm>
            <a:off x="3291840" y="3063240"/>
            <a:ext cx="2438248" cy="65836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Open Sans" pitchFamily="34" charset="0"/>
                <a:ea typeface="Open Sans" pitchFamily="34" charset="-122"/>
                <a:cs typeface="Open Sans" pitchFamily="34" charset="-120"/>
              </a:rPr>
              <a:t>Municipal offering spread — what it costs the issuer to borrow.</a:t>
            </a:r>
            <a:endParaRPr lang="en-US" sz="1050" dirty="0"/>
          </a:p>
        </p:txBody>
      </p:sp>
      <p:sp>
        <p:nvSpPr>
          <p:cNvPr id="14" name="Shape 11"/>
          <p:cNvSpPr/>
          <p:nvPr/>
        </p:nvSpPr>
        <p:spPr>
          <a:xfrm>
            <a:off x="6324448" y="3063240"/>
            <a:ext cx="5090008" cy="658368"/>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5" name="Shape 12"/>
          <p:cNvSpPr/>
          <p:nvPr/>
        </p:nvSpPr>
        <p:spPr>
          <a:xfrm>
            <a:off x="6324448" y="3063240"/>
            <a:ext cx="91440" cy="658368"/>
          </a:xfrm>
          <a:prstGeom prst="rect">
            <a:avLst/>
          </a:prstGeom>
          <a:solidFill>
            <a:srgbClr val="008285"/>
          </a:solidFill>
          <a:ln/>
        </p:spPr>
      </p:sp>
      <p:sp>
        <p:nvSpPr>
          <p:cNvPr id="16" name="Shape 13"/>
          <p:cNvSpPr/>
          <p:nvPr/>
        </p:nvSpPr>
        <p:spPr>
          <a:xfrm>
            <a:off x="6580480" y="3182112"/>
            <a:ext cx="420624" cy="420624"/>
          </a:xfrm>
          <a:prstGeom prst="ellipse">
            <a:avLst/>
          </a:prstGeom>
          <a:solidFill>
            <a:srgbClr val="008285"/>
          </a:solidFill>
          <a:ln/>
        </p:spPr>
      </p:sp>
      <p:pic>
        <p:nvPicPr>
          <p:cNvPr id="17" name="Image 1" descr="preencoded.png">    </p:cNvPr>
          <p:cNvPicPr>
            <a:picLocks noChangeAspect="1"/>
          </p:cNvPicPr>
          <p:nvPr/>
        </p:nvPicPr>
        <p:blipFill>
          <a:blip r:embed="rId2"/>
          <a:stretch>
            <a:fillRect/>
          </a:stretch>
        </p:blipFill>
        <p:spPr>
          <a:xfrm>
            <a:off x="6689842" y="3291474"/>
            <a:ext cx="201900" cy="201900"/>
          </a:xfrm>
          <a:prstGeom prst="rect">
            <a:avLst/>
          </a:prstGeom>
        </p:spPr>
      </p:pic>
      <p:sp>
        <p:nvSpPr>
          <p:cNvPr id="18" name="Text 14"/>
          <p:cNvSpPr/>
          <p:nvPr/>
        </p:nvSpPr>
        <p:spPr>
          <a:xfrm>
            <a:off x="7147408" y="3063240"/>
            <a:ext cx="1691640" cy="658368"/>
          </a:xfrm>
          <a:prstGeom prst="rect">
            <a:avLst/>
          </a:prstGeom>
          <a:noFill/>
          <a:ln/>
        </p:spPr>
        <p:txBody>
          <a:bodyPr wrap="square" lIns="0" tIns="0" rIns="0" bIns="0" rtlCol="0" anchor="ctr"/>
          <a:lstStyle/>
          <a:p>
            <a:pPr indent="0" marL="0">
              <a:buNone/>
            </a:pPr>
            <a:r>
              <a:rPr lang="en-US" sz="1250" b="1" dirty="0">
                <a:solidFill>
                  <a:srgbClr val="005239"/>
                </a:solidFill>
                <a:latin typeface="Poppins" pitchFamily="34" charset="0"/>
                <a:ea typeface="Poppins" pitchFamily="34" charset="-122"/>
                <a:cs typeface="Poppins" pitchFamily="34" charset="-120"/>
              </a:rPr>
              <a:t>Treatment</a:t>
            </a:r>
            <a:endParaRPr lang="en-US" sz="1250" dirty="0"/>
          </a:p>
        </p:txBody>
      </p:sp>
      <p:sp>
        <p:nvSpPr>
          <p:cNvPr id="19" name="Text 15"/>
          <p:cNvSpPr/>
          <p:nvPr/>
        </p:nvSpPr>
        <p:spPr>
          <a:xfrm>
            <a:off x="8839048" y="3063240"/>
            <a:ext cx="2438248" cy="65836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Open Sans" pitchFamily="34" charset="0"/>
                <a:ea typeface="Open Sans" pitchFamily="34" charset="-122"/>
                <a:cs typeface="Open Sans" pitchFamily="34" charset="-120"/>
              </a:rPr>
              <a:t>Ban indicator — switches on after a state adopts.</a:t>
            </a:r>
            <a:endParaRPr lang="en-US" sz="1050" dirty="0"/>
          </a:p>
        </p:txBody>
      </p:sp>
      <p:sp>
        <p:nvSpPr>
          <p:cNvPr id="20" name="Shape 16"/>
          <p:cNvSpPr/>
          <p:nvPr/>
        </p:nvSpPr>
        <p:spPr>
          <a:xfrm>
            <a:off x="777240" y="3849624"/>
            <a:ext cx="5090008" cy="658368"/>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1" name="Shape 17"/>
          <p:cNvSpPr/>
          <p:nvPr/>
        </p:nvSpPr>
        <p:spPr>
          <a:xfrm>
            <a:off x="777240" y="3849624"/>
            <a:ext cx="91440" cy="658368"/>
          </a:xfrm>
          <a:prstGeom prst="rect">
            <a:avLst/>
          </a:prstGeom>
          <a:solidFill>
            <a:srgbClr val="008285"/>
          </a:solidFill>
          <a:ln/>
        </p:spPr>
      </p:sp>
      <p:sp>
        <p:nvSpPr>
          <p:cNvPr id="22" name="Shape 18"/>
          <p:cNvSpPr/>
          <p:nvPr/>
        </p:nvSpPr>
        <p:spPr>
          <a:xfrm>
            <a:off x="1033272" y="3968496"/>
            <a:ext cx="420624" cy="420624"/>
          </a:xfrm>
          <a:prstGeom prst="ellipse">
            <a:avLst/>
          </a:prstGeom>
          <a:solidFill>
            <a:srgbClr val="008285"/>
          </a:solidFill>
          <a:ln/>
        </p:spPr>
      </p:sp>
      <p:pic>
        <p:nvPicPr>
          <p:cNvPr id="23" name="Image 2" descr="preencoded.png">    </p:cNvPr>
          <p:cNvPicPr>
            <a:picLocks noChangeAspect="1"/>
          </p:cNvPicPr>
          <p:nvPr/>
        </p:nvPicPr>
        <p:blipFill>
          <a:blip r:embed="rId3"/>
          <a:stretch>
            <a:fillRect/>
          </a:stretch>
        </p:blipFill>
        <p:spPr>
          <a:xfrm>
            <a:off x="1142634" y="4077858"/>
            <a:ext cx="201900" cy="201900"/>
          </a:xfrm>
          <a:prstGeom prst="rect">
            <a:avLst/>
          </a:prstGeom>
        </p:spPr>
      </p:pic>
      <p:sp>
        <p:nvSpPr>
          <p:cNvPr id="24" name="Text 19"/>
          <p:cNvSpPr/>
          <p:nvPr/>
        </p:nvSpPr>
        <p:spPr>
          <a:xfrm>
            <a:off x="1600200" y="3849624"/>
            <a:ext cx="1691640" cy="658368"/>
          </a:xfrm>
          <a:prstGeom prst="rect">
            <a:avLst/>
          </a:prstGeom>
          <a:noFill/>
          <a:ln/>
        </p:spPr>
        <p:txBody>
          <a:bodyPr wrap="square" lIns="0" tIns="0" rIns="0" bIns="0" rtlCol="0" anchor="ctr"/>
          <a:lstStyle/>
          <a:p>
            <a:pPr indent="0" marL="0">
              <a:buNone/>
            </a:pPr>
            <a:r>
              <a:rPr lang="en-US" sz="1250" b="1" dirty="0">
                <a:solidFill>
                  <a:srgbClr val="005239"/>
                </a:solidFill>
                <a:latin typeface="Poppins" pitchFamily="34" charset="0"/>
                <a:ea typeface="Poppins" pitchFamily="34" charset="-122"/>
                <a:cs typeface="Poppins" pitchFamily="34" charset="-120"/>
              </a:rPr>
              <a:t>Controls (X)</a:t>
            </a:r>
            <a:endParaRPr lang="en-US" sz="1250" dirty="0"/>
          </a:p>
        </p:txBody>
      </p:sp>
      <p:sp>
        <p:nvSpPr>
          <p:cNvPr id="25" name="Text 20"/>
          <p:cNvSpPr/>
          <p:nvPr/>
        </p:nvSpPr>
        <p:spPr>
          <a:xfrm>
            <a:off x="3291840" y="3849624"/>
            <a:ext cx="2438248" cy="65836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Open Sans" pitchFamily="34" charset="0"/>
                <a:ea typeface="Open Sans" pitchFamily="34" charset="-122"/>
                <a:cs typeface="Open Sans" pitchFamily="34" charset="-120"/>
              </a:rPr>
              <a:t>Issue &amp; issuer characteristics that shift borrowing costs.</a:t>
            </a:r>
            <a:endParaRPr lang="en-US" sz="1050" dirty="0"/>
          </a:p>
        </p:txBody>
      </p:sp>
      <p:sp>
        <p:nvSpPr>
          <p:cNvPr id="26" name="Shape 21"/>
          <p:cNvSpPr/>
          <p:nvPr/>
        </p:nvSpPr>
        <p:spPr>
          <a:xfrm>
            <a:off x="6324448" y="3849624"/>
            <a:ext cx="5090008" cy="658368"/>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7" name="Shape 22"/>
          <p:cNvSpPr/>
          <p:nvPr/>
        </p:nvSpPr>
        <p:spPr>
          <a:xfrm>
            <a:off x="6324448" y="3849624"/>
            <a:ext cx="91440" cy="658368"/>
          </a:xfrm>
          <a:prstGeom prst="rect">
            <a:avLst/>
          </a:prstGeom>
          <a:solidFill>
            <a:srgbClr val="008285"/>
          </a:solidFill>
          <a:ln/>
        </p:spPr>
      </p:sp>
      <p:sp>
        <p:nvSpPr>
          <p:cNvPr id="28" name="Shape 23"/>
          <p:cNvSpPr/>
          <p:nvPr/>
        </p:nvSpPr>
        <p:spPr>
          <a:xfrm>
            <a:off x="6580480" y="3968496"/>
            <a:ext cx="420624" cy="420624"/>
          </a:xfrm>
          <a:prstGeom prst="ellipse">
            <a:avLst/>
          </a:prstGeom>
          <a:solidFill>
            <a:srgbClr val="008285"/>
          </a:solidFill>
          <a:ln/>
        </p:spPr>
      </p:sp>
      <p:pic>
        <p:nvPicPr>
          <p:cNvPr id="29" name="Image 3" descr="preencoded.png">    </p:cNvPr>
          <p:cNvPicPr>
            <a:picLocks noChangeAspect="1"/>
          </p:cNvPicPr>
          <p:nvPr/>
        </p:nvPicPr>
        <p:blipFill>
          <a:blip r:embed="rId4"/>
          <a:stretch>
            <a:fillRect/>
          </a:stretch>
        </p:blipFill>
        <p:spPr>
          <a:xfrm>
            <a:off x="6689842" y="4077858"/>
            <a:ext cx="201900" cy="201900"/>
          </a:xfrm>
          <a:prstGeom prst="rect">
            <a:avLst/>
          </a:prstGeom>
        </p:spPr>
      </p:pic>
      <p:sp>
        <p:nvSpPr>
          <p:cNvPr id="30" name="Text 24"/>
          <p:cNvSpPr/>
          <p:nvPr/>
        </p:nvSpPr>
        <p:spPr>
          <a:xfrm>
            <a:off x="7147408" y="3849624"/>
            <a:ext cx="1691640" cy="658368"/>
          </a:xfrm>
          <a:prstGeom prst="rect">
            <a:avLst/>
          </a:prstGeom>
          <a:noFill/>
          <a:ln/>
        </p:spPr>
        <p:txBody>
          <a:bodyPr wrap="square" lIns="0" tIns="0" rIns="0" bIns="0" rtlCol="0" anchor="ctr"/>
          <a:lstStyle/>
          <a:p>
            <a:pPr indent="0" marL="0">
              <a:buNone/>
            </a:pPr>
            <a:r>
              <a:rPr lang="en-US" sz="1250" b="1" dirty="0">
                <a:solidFill>
                  <a:srgbClr val="005239"/>
                </a:solidFill>
                <a:latin typeface="Poppins" pitchFamily="34" charset="0"/>
                <a:ea typeface="Poppins" pitchFamily="34" charset="-122"/>
                <a:cs typeface="Poppins" pitchFamily="34" charset="-120"/>
              </a:rPr>
              <a:t>Fixed effects</a:t>
            </a:r>
            <a:endParaRPr lang="en-US" sz="1250" dirty="0"/>
          </a:p>
        </p:txBody>
      </p:sp>
      <p:sp>
        <p:nvSpPr>
          <p:cNvPr id="31" name="Text 25"/>
          <p:cNvSpPr/>
          <p:nvPr/>
        </p:nvSpPr>
        <p:spPr>
          <a:xfrm>
            <a:off x="8839048" y="3849624"/>
            <a:ext cx="2438248" cy="65836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Open Sans" pitchFamily="34" charset="0"/>
                <a:ea typeface="Open Sans" pitchFamily="34" charset="-122"/>
                <a:cs typeface="Open Sans" pitchFamily="34" charset="-120"/>
              </a:rPr>
              <a:t>Issuer (αi) + year (δt) — soak up fixed gaps &amp; common shocks.</a:t>
            </a:r>
            <a:endParaRPr lang="en-US" sz="1050" dirty="0"/>
          </a:p>
        </p:txBody>
      </p:sp>
      <p:sp>
        <p:nvSpPr>
          <p:cNvPr id="32" name="Shape 26"/>
          <p:cNvSpPr/>
          <p:nvPr/>
        </p:nvSpPr>
        <p:spPr>
          <a:xfrm>
            <a:off x="777240" y="4636008"/>
            <a:ext cx="5090008" cy="658368"/>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33" name="Shape 27"/>
          <p:cNvSpPr/>
          <p:nvPr/>
        </p:nvSpPr>
        <p:spPr>
          <a:xfrm>
            <a:off x="777240" y="4636008"/>
            <a:ext cx="91440" cy="658368"/>
          </a:xfrm>
          <a:prstGeom prst="rect">
            <a:avLst/>
          </a:prstGeom>
          <a:solidFill>
            <a:srgbClr val="008285"/>
          </a:solidFill>
          <a:ln/>
        </p:spPr>
      </p:sp>
      <p:sp>
        <p:nvSpPr>
          <p:cNvPr id="34" name="Shape 28"/>
          <p:cNvSpPr/>
          <p:nvPr/>
        </p:nvSpPr>
        <p:spPr>
          <a:xfrm>
            <a:off x="1033272" y="4754880"/>
            <a:ext cx="420624" cy="420624"/>
          </a:xfrm>
          <a:prstGeom prst="ellipse">
            <a:avLst/>
          </a:prstGeom>
          <a:solidFill>
            <a:srgbClr val="008285"/>
          </a:solidFill>
          <a:ln/>
        </p:spPr>
      </p:sp>
      <p:pic>
        <p:nvPicPr>
          <p:cNvPr id="35" name="Image 4" descr="preencoded.png">    </p:cNvPr>
          <p:cNvPicPr>
            <a:picLocks noChangeAspect="1"/>
          </p:cNvPicPr>
          <p:nvPr/>
        </p:nvPicPr>
        <p:blipFill>
          <a:blip r:embed="rId5"/>
          <a:stretch>
            <a:fillRect/>
          </a:stretch>
        </p:blipFill>
        <p:spPr>
          <a:xfrm>
            <a:off x="1142634" y="4864242"/>
            <a:ext cx="201900" cy="201900"/>
          </a:xfrm>
          <a:prstGeom prst="rect">
            <a:avLst/>
          </a:prstGeom>
        </p:spPr>
      </p:pic>
      <p:sp>
        <p:nvSpPr>
          <p:cNvPr id="36" name="Text 29"/>
          <p:cNvSpPr/>
          <p:nvPr/>
        </p:nvSpPr>
        <p:spPr>
          <a:xfrm>
            <a:off x="1600200" y="4636008"/>
            <a:ext cx="1691640" cy="658368"/>
          </a:xfrm>
          <a:prstGeom prst="rect">
            <a:avLst/>
          </a:prstGeom>
          <a:noFill/>
          <a:ln/>
        </p:spPr>
        <p:txBody>
          <a:bodyPr wrap="square" lIns="0" tIns="0" rIns="0" bIns="0" rtlCol="0" anchor="ctr"/>
          <a:lstStyle/>
          <a:p>
            <a:pPr indent="0" marL="0">
              <a:buNone/>
            </a:pPr>
            <a:r>
              <a:rPr lang="en-US" sz="1250" b="1" dirty="0">
                <a:solidFill>
                  <a:srgbClr val="005239"/>
                </a:solidFill>
                <a:latin typeface="Poppins" pitchFamily="34" charset="0"/>
                <a:ea typeface="Poppins" pitchFamily="34" charset="-122"/>
                <a:cs typeface="Poppins" pitchFamily="34" charset="-120"/>
              </a:rPr>
              <a:t>Clustering</a:t>
            </a:r>
            <a:endParaRPr lang="en-US" sz="1250" dirty="0"/>
          </a:p>
        </p:txBody>
      </p:sp>
      <p:sp>
        <p:nvSpPr>
          <p:cNvPr id="37" name="Text 30"/>
          <p:cNvSpPr/>
          <p:nvPr/>
        </p:nvSpPr>
        <p:spPr>
          <a:xfrm>
            <a:off x="3291840" y="4636008"/>
            <a:ext cx="2438248" cy="65836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Open Sans" pitchFamily="34" charset="0"/>
                <a:ea typeface="Open Sans" pitchFamily="34" charset="-122"/>
                <a:cs typeface="Open Sans" pitchFamily="34" charset="-120"/>
              </a:rPr>
              <a:t>Standard errors clustered by state — the level policy varies at.</a:t>
            </a:r>
            <a:endParaRPr lang="en-US" sz="1050" dirty="0"/>
          </a:p>
        </p:txBody>
      </p:sp>
      <p:sp>
        <p:nvSpPr>
          <p:cNvPr id="38" name="Shape 31"/>
          <p:cNvSpPr/>
          <p:nvPr/>
        </p:nvSpPr>
        <p:spPr>
          <a:xfrm>
            <a:off x="6324448" y="4636008"/>
            <a:ext cx="5090008" cy="658368"/>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39" name="Shape 32"/>
          <p:cNvSpPr/>
          <p:nvPr/>
        </p:nvSpPr>
        <p:spPr>
          <a:xfrm>
            <a:off x="6324448" y="4636008"/>
            <a:ext cx="91440" cy="658368"/>
          </a:xfrm>
          <a:prstGeom prst="rect">
            <a:avLst/>
          </a:prstGeom>
          <a:solidFill>
            <a:srgbClr val="008285"/>
          </a:solidFill>
          <a:ln/>
        </p:spPr>
      </p:sp>
      <p:sp>
        <p:nvSpPr>
          <p:cNvPr id="40" name="Shape 33"/>
          <p:cNvSpPr/>
          <p:nvPr/>
        </p:nvSpPr>
        <p:spPr>
          <a:xfrm>
            <a:off x="6580480" y="4754880"/>
            <a:ext cx="420624" cy="420624"/>
          </a:xfrm>
          <a:prstGeom prst="ellipse">
            <a:avLst/>
          </a:prstGeom>
          <a:solidFill>
            <a:srgbClr val="008285"/>
          </a:solidFill>
          <a:ln/>
        </p:spPr>
      </p:sp>
      <p:pic>
        <p:nvPicPr>
          <p:cNvPr id="41" name="Image 5" descr="preencoded.png">    </p:cNvPr>
          <p:cNvPicPr>
            <a:picLocks noChangeAspect="1"/>
          </p:cNvPicPr>
          <p:nvPr/>
        </p:nvPicPr>
        <p:blipFill>
          <a:blip r:embed="rId6"/>
          <a:stretch>
            <a:fillRect/>
          </a:stretch>
        </p:blipFill>
        <p:spPr>
          <a:xfrm>
            <a:off x="6689842" y="4864242"/>
            <a:ext cx="201900" cy="201900"/>
          </a:xfrm>
          <a:prstGeom prst="rect">
            <a:avLst/>
          </a:prstGeom>
        </p:spPr>
      </p:pic>
      <p:sp>
        <p:nvSpPr>
          <p:cNvPr id="42" name="Text 34"/>
          <p:cNvSpPr/>
          <p:nvPr/>
        </p:nvSpPr>
        <p:spPr>
          <a:xfrm>
            <a:off x="7147408" y="4636008"/>
            <a:ext cx="1691640" cy="658368"/>
          </a:xfrm>
          <a:prstGeom prst="rect">
            <a:avLst/>
          </a:prstGeom>
          <a:noFill/>
          <a:ln/>
        </p:spPr>
        <p:txBody>
          <a:bodyPr wrap="square" lIns="0" tIns="0" rIns="0" bIns="0" rtlCol="0" anchor="ctr"/>
          <a:lstStyle/>
          <a:p>
            <a:pPr indent="0" marL="0">
              <a:buNone/>
            </a:pPr>
            <a:r>
              <a:rPr lang="en-US" sz="1250" b="1" dirty="0">
                <a:solidFill>
                  <a:srgbClr val="005239"/>
                </a:solidFill>
                <a:latin typeface="Poppins" pitchFamily="34" charset="0"/>
                <a:ea typeface="Poppins" pitchFamily="34" charset="-122"/>
                <a:cs typeface="Poppins" pitchFamily="34" charset="-120"/>
              </a:rPr>
              <a:t>Estimator</a:t>
            </a:r>
            <a:endParaRPr lang="en-US" sz="1250" dirty="0"/>
          </a:p>
        </p:txBody>
      </p:sp>
      <p:sp>
        <p:nvSpPr>
          <p:cNvPr id="43" name="Text 35"/>
          <p:cNvSpPr/>
          <p:nvPr/>
        </p:nvSpPr>
        <p:spPr>
          <a:xfrm>
            <a:off x="8839048" y="4636008"/>
            <a:ext cx="2438248" cy="65836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Open Sans" pitchFamily="34" charset="0"/>
                <a:ea typeface="Open Sans" pitchFamily="34" charset="-122"/>
                <a:cs typeface="Open Sans" pitchFamily="34" charset="-120"/>
              </a:rPr>
              <a:t>Staggered DiD, done right — Callaway &amp; Sant'Anna (2021).</a:t>
            </a:r>
            <a:endParaRPr lang="en-US" sz="1050" dirty="0"/>
          </a:p>
        </p:txBody>
      </p:sp>
      <p:sp>
        <p:nvSpPr>
          <p:cNvPr id="44" name="Text 36"/>
          <p:cNvSpPr/>
          <p:nvPr/>
        </p:nvSpPr>
        <p:spPr>
          <a:xfrm>
            <a:off x="777240" y="5577840"/>
            <a:ext cx="10637215" cy="365760"/>
          </a:xfrm>
          <a:prstGeom prst="rect">
            <a:avLst/>
          </a:prstGeom>
          <a:noFill/>
          <a:ln/>
        </p:spPr>
        <p:txBody>
          <a:bodyPr wrap="square" lIns="0" tIns="0" rIns="0" bIns="0" rtlCol="0" anchor="ctr"/>
          <a:lstStyle/>
          <a:p>
            <a:pPr algn="ctr" indent="0" marL="0">
              <a:buNone/>
            </a:pPr>
            <a:r>
              <a:rPr lang="en-US" sz="1250" i="1" dirty="0">
                <a:solidFill>
                  <a:srgbClr val="727579"/>
                </a:solidFill>
                <a:latin typeface="Open Sans" pitchFamily="34" charset="0"/>
                <a:ea typeface="Open Sans" pitchFamily="34" charset="-122"/>
                <a:cs typeface="Open Sans" pitchFamily="34" charset="-120"/>
              </a:rPr>
              <a:t>When you can recite yours from outcome to estimator, you have a specification — not a vague intention to run some regressions.</a:t>
            </a:r>
            <a:endParaRPr lang="en-US" sz="1250" dirty="0"/>
          </a:p>
        </p:txBody>
      </p:sp>
      <p:sp>
        <p:nvSpPr>
          <p:cNvPr id="45" name="Text 37"/>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46" name="Text 38"/>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8285"/>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8285"/>
                </a:solidFill>
                <a:latin typeface="Open Sans" pitchFamily="34" charset="0"/>
                <a:ea typeface="Open Sans" pitchFamily="34" charset="-122"/>
                <a:cs typeface="Open Sans" pitchFamily="34" charset="-120"/>
              </a:rPr>
              <a:t>BLOCK B · TRY TO BREAK IT</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Falsification &amp; placebo — a test that SHOULD return nothing</a:t>
            </a:r>
            <a:endParaRPr lang="en-US" sz="3000" dirty="0"/>
          </a:p>
        </p:txBody>
      </p:sp>
      <p:sp>
        <p:nvSpPr>
          <p:cNvPr id="5" name="Shape 3"/>
          <p:cNvSpPr/>
          <p:nvPr/>
        </p:nvSpPr>
        <p:spPr>
          <a:xfrm>
            <a:off x="777240" y="1783080"/>
            <a:ext cx="10637215" cy="777240"/>
          </a:xfrm>
          <a:prstGeom prst="rect">
            <a:avLst/>
          </a:prstGeom>
          <a:solidFill>
            <a:srgbClr val="EAF1EF"/>
          </a:solidFill>
          <a:ln w="12700">
            <a:solidFill>
              <a:srgbClr val="008285"/>
            </a:solidFill>
            <a:prstDash val="solid"/>
          </a:ln>
        </p:spPr>
      </p:sp>
      <p:sp>
        <p:nvSpPr>
          <p:cNvPr id="6" name="Shape 4"/>
          <p:cNvSpPr/>
          <p:nvPr/>
        </p:nvSpPr>
        <p:spPr>
          <a:xfrm>
            <a:off x="777240" y="1783080"/>
            <a:ext cx="109728" cy="777240"/>
          </a:xfrm>
          <a:prstGeom prst="rect">
            <a:avLst/>
          </a:prstGeom>
          <a:solidFill>
            <a:srgbClr val="008285"/>
          </a:solidFill>
          <a:ln/>
        </p:spPr>
      </p:sp>
      <p:sp>
        <p:nvSpPr>
          <p:cNvPr id="7" name="Text 5"/>
          <p:cNvSpPr/>
          <p:nvPr/>
        </p:nvSpPr>
        <p:spPr>
          <a:xfrm>
            <a:off x="1097280" y="1783080"/>
            <a:ext cx="10088575" cy="777240"/>
          </a:xfrm>
          <a:prstGeom prst="rect">
            <a:avLst/>
          </a:prstGeom>
          <a:noFill/>
          <a:ln/>
        </p:spPr>
        <p:txBody>
          <a:bodyPr wrap="square" lIns="0" tIns="0" rIns="0" bIns="0" rtlCol="0" anchor="ctr"/>
          <a:lstStyle/>
          <a:p>
            <a:pPr indent="0" marL="0">
              <a:buNone/>
            </a:pPr>
            <a:r>
              <a:rPr lang="en-US" sz="1450" i="1" dirty="0">
                <a:solidFill>
                  <a:srgbClr val="005239"/>
                </a:solidFill>
                <a:latin typeface="Poppins" pitchFamily="34" charset="0"/>
                <a:ea typeface="Poppins" pitchFamily="34" charset="-122"/>
                <a:cs typeface="Poppins" pitchFamily="34" charset="-120"/>
              </a:rPr>
              <a:t>Build a test that comes back empty if your design is clean. Returns nothing → your story survives. Lights up → you caught your own problem before a referee did.</a:t>
            </a:r>
            <a:endParaRPr lang="en-US" sz="1450" dirty="0"/>
          </a:p>
        </p:txBody>
      </p:sp>
      <p:sp>
        <p:nvSpPr>
          <p:cNvPr id="8" name="Shape 6"/>
          <p:cNvSpPr/>
          <p:nvPr/>
        </p:nvSpPr>
        <p:spPr>
          <a:xfrm>
            <a:off x="777240" y="2834640"/>
            <a:ext cx="3240938" cy="237744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9" name="Shape 7"/>
          <p:cNvSpPr/>
          <p:nvPr/>
        </p:nvSpPr>
        <p:spPr>
          <a:xfrm>
            <a:off x="777240" y="2834640"/>
            <a:ext cx="3240938" cy="109728"/>
          </a:xfrm>
          <a:prstGeom prst="rect">
            <a:avLst/>
          </a:prstGeom>
          <a:solidFill>
            <a:srgbClr val="004F71"/>
          </a:solidFill>
          <a:ln/>
        </p:spPr>
      </p:sp>
      <p:sp>
        <p:nvSpPr>
          <p:cNvPr id="10" name="Shape 8"/>
          <p:cNvSpPr/>
          <p:nvPr/>
        </p:nvSpPr>
        <p:spPr>
          <a:xfrm>
            <a:off x="1143000" y="3182112"/>
            <a:ext cx="731520" cy="731520"/>
          </a:xfrm>
          <a:prstGeom prst="ellipse">
            <a:avLst/>
          </a:prstGeom>
          <a:solidFill>
            <a:srgbClr val="004F71"/>
          </a:solidFill>
          <a:ln/>
        </p:spPr>
      </p:sp>
      <p:pic>
        <p:nvPicPr>
          <p:cNvPr id="11" name="Image 0" descr="preencoded.png">    </p:cNvPr>
          <p:cNvPicPr>
            <a:picLocks noChangeAspect="1"/>
          </p:cNvPicPr>
          <p:nvPr/>
        </p:nvPicPr>
        <p:blipFill>
          <a:blip r:embed="rId1"/>
          <a:stretch>
            <a:fillRect/>
          </a:stretch>
        </p:blipFill>
        <p:spPr>
          <a:xfrm>
            <a:off x="1333195" y="3372307"/>
            <a:ext cx="351130" cy="351130"/>
          </a:xfrm>
          <a:prstGeom prst="rect">
            <a:avLst/>
          </a:prstGeom>
        </p:spPr>
      </p:pic>
      <p:sp>
        <p:nvSpPr>
          <p:cNvPr id="12" name="Text 9"/>
          <p:cNvSpPr/>
          <p:nvPr/>
        </p:nvSpPr>
        <p:spPr>
          <a:xfrm>
            <a:off x="1143000" y="4069080"/>
            <a:ext cx="2509418" cy="457200"/>
          </a:xfrm>
          <a:prstGeom prst="rect">
            <a:avLst/>
          </a:prstGeom>
          <a:noFill/>
          <a:ln/>
        </p:spPr>
        <p:txBody>
          <a:bodyPr wrap="square" lIns="0" tIns="0" rIns="0" bIns="0" rtlCol="0" anchor="t"/>
          <a:lstStyle/>
          <a:p>
            <a:pPr indent="0" marL="0">
              <a:buNone/>
            </a:pPr>
            <a:r>
              <a:rPr lang="en-US" sz="1500" b="1" dirty="0">
                <a:solidFill>
                  <a:srgbClr val="005239"/>
                </a:solidFill>
                <a:latin typeface="Poppins" pitchFamily="34" charset="0"/>
                <a:ea typeface="Poppins" pitchFamily="34" charset="-122"/>
                <a:cs typeface="Poppins" pitchFamily="34" charset="-120"/>
              </a:rPr>
              <a:t>Pre-trend test</a:t>
            </a:r>
            <a:endParaRPr lang="en-US" sz="1500" dirty="0"/>
          </a:p>
        </p:txBody>
      </p:sp>
      <p:sp>
        <p:nvSpPr>
          <p:cNvPr id="13" name="Text 10"/>
          <p:cNvSpPr/>
          <p:nvPr/>
        </p:nvSpPr>
        <p:spPr>
          <a:xfrm>
            <a:off x="1143000" y="4526280"/>
            <a:ext cx="2509418" cy="64008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Were treated &amp; control moving in parallel BEFORE treatment? If they were already diverging, parallel trends is in trouble.</a:t>
            </a:r>
            <a:endParaRPr lang="en-US" sz="1100" dirty="0"/>
          </a:p>
        </p:txBody>
      </p:sp>
      <p:sp>
        <p:nvSpPr>
          <p:cNvPr id="14" name="Shape 11"/>
          <p:cNvSpPr/>
          <p:nvPr/>
        </p:nvSpPr>
        <p:spPr>
          <a:xfrm>
            <a:off x="4475378" y="2834640"/>
            <a:ext cx="3240938" cy="237744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5" name="Shape 12"/>
          <p:cNvSpPr/>
          <p:nvPr/>
        </p:nvSpPr>
        <p:spPr>
          <a:xfrm>
            <a:off x="4475378" y="2834640"/>
            <a:ext cx="3240938" cy="109728"/>
          </a:xfrm>
          <a:prstGeom prst="rect">
            <a:avLst/>
          </a:prstGeom>
          <a:solidFill>
            <a:srgbClr val="CC8A00"/>
          </a:solidFill>
          <a:ln/>
        </p:spPr>
      </p:sp>
      <p:sp>
        <p:nvSpPr>
          <p:cNvPr id="16" name="Shape 13"/>
          <p:cNvSpPr/>
          <p:nvPr/>
        </p:nvSpPr>
        <p:spPr>
          <a:xfrm>
            <a:off x="4841138" y="3182112"/>
            <a:ext cx="731520" cy="731520"/>
          </a:xfrm>
          <a:prstGeom prst="ellipse">
            <a:avLst/>
          </a:prstGeom>
          <a:solidFill>
            <a:srgbClr val="CC8A00"/>
          </a:solidFill>
          <a:ln/>
        </p:spPr>
      </p:sp>
      <p:pic>
        <p:nvPicPr>
          <p:cNvPr id="17" name="Image 1" descr="preencoded.png">    </p:cNvPr>
          <p:cNvPicPr>
            <a:picLocks noChangeAspect="1"/>
          </p:cNvPicPr>
          <p:nvPr/>
        </p:nvPicPr>
        <p:blipFill>
          <a:blip r:embed="rId2"/>
          <a:stretch>
            <a:fillRect/>
          </a:stretch>
        </p:blipFill>
        <p:spPr>
          <a:xfrm>
            <a:off x="5031334" y="3372307"/>
            <a:ext cx="351130" cy="351130"/>
          </a:xfrm>
          <a:prstGeom prst="rect">
            <a:avLst/>
          </a:prstGeom>
        </p:spPr>
      </p:pic>
      <p:sp>
        <p:nvSpPr>
          <p:cNvPr id="18" name="Text 14"/>
          <p:cNvSpPr/>
          <p:nvPr/>
        </p:nvSpPr>
        <p:spPr>
          <a:xfrm>
            <a:off x="4841138" y="4069080"/>
            <a:ext cx="2509418" cy="457200"/>
          </a:xfrm>
          <a:prstGeom prst="rect">
            <a:avLst/>
          </a:prstGeom>
          <a:noFill/>
          <a:ln/>
        </p:spPr>
        <p:txBody>
          <a:bodyPr wrap="square" lIns="0" tIns="0" rIns="0" bIns="0" rtlCol="0" anchor="t"/>
          <a:lstStyle/>
          <a:p>
            <a:pPr indent="0" marL="0">
              <a:buNone/>
            </a:pPr>
            <a:r>
              <a:rPr lang="en-US" sz="1500" b="1" dirty="0">
                <a:solidFill>
                  <a:srgbClr val="005239"/>
                </a:solidFill>
                <a:latin typeface="Poppins" pitchFamily="34" charset="0"/>
                <a:ea typeface="Poppins" pitchFamily="34" charset="-122"/>
                <a:cs typeface="Poppins" pitchFamily="34" charset="-120"/>
              </a:rPr>
              <a:t>Placebo date</a:t>
            </a:r>
            <a:endParaRPr lang="en-US" sz="1500" dirty="0"/>
          </a:p>
        </p:txBody>
      </p:sp>
      <p:sp>
        <p:nvSpPr>
          <p:cNvPr id="19" name="Text 15"/>
          <p:cNvSpPr/>
          <p:nvPr/>
        </p:nvSpPr>
        <p:spPr>
          <a:xfrm>
            <a:off x="4841138" y="4526280"/>
            <a:ext cx="2509418" cy="64008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Pretend the policy hit two years early and re-run it. You should find no effect at the fake date.</a:t>
            </a:r>
            <a:endParaRPr lang="en-US" sz="1100" dirty="0"/>
          </a:p>
        </p:txBody>
      </p:sp>
      <p:sp>
        <p:nvSpPr>
          <p:cNvPr id="20" name="Shape 16"/>
          <p:cNvSpPr/>
          <p:nvPr/>
        </p:nvSpPr>
        <p:spPr>
          <a:xfrm>
            <a:off x="8173517" y="2834640"/>
            <a:ext cx="3240938" cy="237744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1" name="Shape 17"/>
          <p:cNvSpPr/>
          <p:nvPr/>
        </p:nvSpPr>
        <p:spPr>
          <a:xfrm>
            <a:off x="8173517" y="2834640"/>
            <a:ext cx="3240938" cy="109728"/>
          </a:xfrm>
          <a:prstGeom prst="rect">
            <a:avLst/>
          </a:prstGeom>
          <a:solidFill>
            <a:srgbClr val="008285"/>
          </a:solidFill>
          <a:ln/>
        </p:spPr>
      </p:sp>
      <p:sp>
        <p:nvSpPr>
          <p:cNvPr id="22" name="Shape 18"/>
          <p:cNvSpPr/>
          <p:nvPr/>
        </p:nvSpPr>
        <p:spPr>
          <a:xfrm>
            <a:off x="8539277" y="3182112"/>
            <a:ext cx="731520" cy="731520"/>
          </a:xfrm>
          <a:prstGeom prst="ellipse">
            <a:avLst/>
          </a:prstGeom>
          <a:solidFill>
            <a:srgbClr val="008285"/>
          </a:solidFill>
          <a:ln/>
        </p:spPr>
      </p:sp>
      <p:pic>
        <p:nvPicPr>
          <p:cNvPr id="23" name="Image 2" descr="preencoded.png">    </p:cNvPr>
          <p:cNvPicPr>
            <a:picLocks noChangeAspect="1"/>
          </p:cNvPicPr>
          <p:nvPr/>
        </p:nvPicPr>
        <p:blipFill>
          <a:blip r:embed="rId3"/>
          <a:stretch>
            <a:fillRect/>
          </a:stretch>
        </p:blipFill>
        <p:spPr>
          <a:xfrm>
            <a:off x="8729472" y="3372307"/>
            <a:ext cx="351130" cy="351130"/>
          </a:xfrm>
          <a:prstGeom prst="rect">
            <a:avLst/>
          </a:prstGeom>
        </p:spPr>
      </p:pic>
      <p:sp>
        <p:nvSpPr>
          <p:cNvPr id="24" name="Text 19"/>
          <p:cNvSpPr/>
          <p:nvPr/>
        </p:nvSpPr>
        <p:spPr>
          <a:xfrm>
            <a:off x="8539277" y="4069080"/>
            <a:ext cx="2509418" cy="457200"/>
          </a:xfrm>
          <a:prstGeom prst="rect">
            <a:avLst/>
          </a:prstGeom>
          <a:noFill/>
          <a:ln/>
        </p:spPr>
        <p:txBody>
          <a:bodyPr wrap="square" lIns="0" tIns="0" rIns="0" bIns="0" rtlCol="0" anchor="t"/>
          <a:lstStyle/>
          <a:p>
            <a:pPr indent="0" marL="0">
              <a:buNone/>
            </a:pPr>
            <a:r>
              <a:rPr lang="en-US" sz="1500" b="1" dirty="0">
                <a:solidFill>
                  <a:srgbClr val="005239"/>
                </a:solidFill>
                <a:latin typeface="Poppins" pitchFamily="34" charset="0"/>
                <a:ea typeface="Poppins" pitchFamily="34" charset="-122"/>
                <a:cs typeface="Poppins" pitchFamily="34" charset="-120"/>
              </a:rPr>
              <a:t>Unaffected group</a:t>
            </a:r>
            <a:endParaRPr lang="en-US" sz="1500" dirty="0"/>
          </a:p>
        </p:txBody>
      </p:sp>
      <p:sp>
        <p:nvSpPr>
          <p:cNvPr id="25" name="Text 20"/>
          <p:cNvSpPr/>
          <p:nvPr/>
        </p:nvSpPr>
        <p:spPr>
          <a:xfrm>
            <a:off x="8539277" y="4526280"/>
            <a:ext cx="2509418" cy="64008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Run the same design on a group the policy shouldn't have touched. Again — you want nothing.</a:t>
            </a:r>
            <a:endParaRPr lang="en-US" sz="1100" dirty="0"/>
          </a:p>
        </p:txBody>
      </p:sp>
      <p:sp>
        <p:nvSpPr>
          <p:cNvPr id="26" name="Text 21"/>
          <p:cNvSpPr/>
          <p:nvPr/>
        </p:nvSpPr>
        <p:spPr>
          <a:xfrm>
            <a:off x="777240" y="5532120"/>
            <a:ext cx="10637215" cy="365760"/>
          </a:xfrm>
          <a:prstGeom prst="rect">
            <a:avLst/>
          </a:prstGeom>
          <a:noFill/>
          <a:ln/>
        </p:spPr>
        <p:txBody>
          <a:bodyPr wrap="square" lIns="0" tIns="0" rIns="0" bIns="0" rtlCol="0" anchor="ctr"/>
          <a:lstStyle/>
          <a:p>
            <a:pPr algn="ctr" indent="0" marL="0">
              <a:buNone/>
            </a:pPr>
            <a:r>
              <a:rPr lang="en-US" sz="1200" i="1" dirty="0">
                <a:solidFill>
                  <a:srgbClr val="727579"/>
                </a:solidFill>
                <a:latin typeface="Open Sans" pitchFamily="34" charset="0"/>
                <a:ea typeface="Open Sans" pitchFamily="34" charset="-122"/>
                <a:cs typeface="Open Sans" pitchFamily="34" charset="-120"/>
              </a:rPr>
              <a:t>A design that passes a test genuinely capable of failing is a design people believe. (Recall Reg SHO — Deng, Gao &amp; Kim 2020 — as a clean natural experiment.)</a:t>
            </a:r>
            <a:endParaRPr lang="en-US" sz="1200" dirty="0"/>
          </a:p>
        </p:txBody>
      </p:sp>
      <p:sp>
        <p:nvSpPr>
          <p:cNvPr id="27" name="Text 22"/>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28" name="Text 23"/>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8285"/>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8285"/>
                </a:solidFill>
                <a:latin typeface="Open Sans" pitchFamily="34" charset="0"/>
                <a:ea typeface="Open Sans" pitchFamily="34" charset="-122"/>
                <a:cs typeface="Open Sans" pitchFamily="34" charset="-120"/>
              </a:rPr>
              <a:t>BLOCK B · NAME YOUR SOURCE</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Data acquisition — pick the right source</a:t>
            </a:r>
            <a:endParaRPr lang="en-US" sz="3000" dirty="0"/>
          </a:p>
        </p:txBody>
      </p:sp>
      <p:sp>
        <p:nvSpPr>
          <p:cNvPr id="5" name="Shape 3"/>
          <p:cNvSpPr/>
          <p:nvPr/>
        </p:nvSpPr>
        <p:spPr>
          <a:xfrm>
            <a:off x="777240" y="1783080"/>
            <a:ext cx="5090008" cy="749808"/>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1783080"/>
            <a:ext cx="91440" cy="749808"/>
          </a:xfrm>
          <a:prstGeom prst="rect">
            <a:avLst/>
          </a:prstGeom>
          <a:solidFill>
            <a:srgbClr val="004F71"/>
          </a:solidFill>
          <a:ln/>
        </p:spPr>
      </p:sp>
      <p:sp>
        <p:nvSpPr>
          <p:cNvPr id="7" name="Shape 5"/>
          <p:cNvSpPr/>
          <p:nvPr/>
        </p:nvSpPr>
        <p:spPr>
          <a:xfrm>
            <a:off x="1051560" y="1929384"/>
            <a:ext cx="457200" cy="457200"/>
          </a:xfrm>
          <a:prstGeom prst="ellipse">
            <a:avLst/>
          </a:prstGeom>
          <a:solidFill>
            <a:srgbClr val="004F71"/>
          </a:solidFill>
          <a:ln/>
        </p:spPr>
      </p:sp>
      <p:pic>
        <p:nvPicPr>
          <p:cNvPr id="8" name="Image 0" descr="preencoded.png">    </p:cNvPr>
          <p:cNvPicPr>
            <a:picLocks noChangeAspect="1"/>
          </p:cNvPicPr>
          <p:nvPr/>
        </p:nvPicPr>
        <p:blipFill>
          <a:blip r:embed="rId1"/>
          <a:stretch>
            <a:fillRect/>
          </a:stretch>
        </p:blipFill>
        <p:spPr>
          <a:xfrm>
            <a:off x="1170432" y="2048256"/>
            <a:ext cx="219456" cy="219456"/>
          </a:xfrm>
          <a:prstGeom prst="rect">
            <a:avLst/>
          </a:prstGeom>
        </p:spPr>
      </p:pic>
      <p:sp>
        <p:nvSpPr>
          <p:cNvPr id="9" name="Text 6"/>
          <p:cNvSpPr/>
          <p:nvPr/>
        </p:nvSpPr>
        <p:spPr>
          <a:xfrm>
            <a:off x="1691640" y="1783080"/>
            <a:ext cx="1554480" cy="749808"/>
          </a:xfrm>
          <a:prstGeom prst="rect">
            <a:avLst/>
          </a:prstGeom>
          <a:noFill/>
          <a:ln/>
        </p:spPr>
        <p:txBody>
          <a:bodyPr wrap="square" lIns="0" tIns="0" rIns="0" bIns="0" rtlCol="0" anchor="ctr"/>
          <a:lstStyle/>
          <a:p>
            <a:pPr indent="0" marL="0">
              <a:buNone/>
            </a:pPr>
            <a:r>
              <a:rPr lang="en-US" sz="1450" b="1" dirty="0">
                <a:solidFill>
                  <a:srgbClr val="005239"/>
                </a:solidFill>
                <a:latin typeface="Poppins" pitchFamily="34" charset="0"/>
                <a:ea typeface="Poppins" pitchFamily="34" charset="-122"/>
                <a:cs typeface="Poppins" pitchFamily="34" charset="-120"/>
              </a:rPr>
              <a:t>WRDS</a:t>
            </a:r>
            <a:endParaRPr lang="en-US" sz="1450" dirty="0"/>
          </a:p>
        </p:txBody>
      </p:sp>
      <p:sp>
        <p:nvSpPr>
          <p:cNvPr id="10" name="Text 7"/>
          <p:cNvSpPr/>
          <p:nvPr/>
        </p:nvSpPr>
        <p:spPr>
          <a:xfrm>
            <a:off x="3246120" y="1783080"/>
            <a:ext cx="2483968" cy="749808"/>
          </a:xfrm>
          <a:prstGeom prst="rect">
            <a:avLst/>
          </a:prstGeom>
          <a:noFill/>
          <a:ln/>
        </p:spPr>
        <p:txBody>
          <a:bodyPr wrap="square" lIns="0" tIns="0" rIns="0" bIns="0" rtlCol="0" anchor="ctr"/>
          <a:lstStyle/>
          <a:p>
            <a:pPr indent="0" marL="0">
              <a:lnSpc>
                <a:spcPct val="102000"/>
              </a:lnSpc>
              <a:buNone/>
            </a:pPr>
            <a:r>
              <a:rPr lang="en-US" sz="1050" dirty="0">
                <a:solidFill>
                  <a:srgbClr val="333333"/>
                </a:solidFill>
                <a:latin typeface="Open Sans" pitchFamily="34" charset="0"/>
                <a:ea typeface="Open Sans" pitchFamily="34" charset="-122"/>
                <a:cs typeface="Open Sans" pitchFamily="34" charset="-120"/>
              </a:rPr>
              <a:t>CRSP prices &amp; returns · Compustat fundamentals — the finance workhorses.</a:t>
            </a:r>
            <a:endParaRPr lang="en-US" sz="1050" dirty="0"/>
          </a:p>
        </p:txBody>
      </p:sp>
      <p:sp>
        <p:nvSpPr>
          <p:cNvPr id="11" name="Shape 8"/>
          <p:cNvSpPr/>
          <p:nvPr/>
        </p:nvSpPr>
        <p:spPr>
          <a:xfrm>
            <a:off x="6324448" y="1783080"/>
            <a:ext cx="5090008" cy="749808"/>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2" name="Shape 9"/>
          <p:cNvSpPr/>
          <p:nvPr/>
        </p:nvSpPr>
        <p:spPr>
          <a:xfrm>
            <a:off x="6324448" y="1783080"/>
            <a:ext cx="91440" cy="749808"/>
          </a:xfrm>
          <a:prstGeom prst="rect">
            <a:avLst/>
          </a:prstGeom>
          <a:solidFill>
            <a:srgbClr val="004F71"/>
          </a:solidFill>
          <a:ln/>
        </p:spPr>
      </p:sp>
      <p:sp>
        <p:nvSpPr>
          <p:cNvPr id="13" name="Shape 10"/>
          <p:cNvSpPr/>
          <p:nvPr/>
        </p:nvSpPr>
        <p:spPr>
          <a:xfrm>
            <a:off x="6598768" y="1929384"/>
            <a:ext cx="457200" cy="457200"/>
          </a:xfrm>
          <a:prstGeom prst="ellipse">
            <a:avLst/>
          </a:prstGeom>
          <a:solidFill>
            <a:srgbClr val="004F71"/>
          </a:solidFill>
          <a:ln/>
        </p:spPr>
      </p:sp>
      <p:pic>
        <p:nvPicPr>
          <p:cNvPr id="14" name="Image 1" descr="preencoded.png">    </p:cNvPr>
          <p:cNvPicPr>
            <a:picLocks noChangeAspect="1"/>
          </p:cNvPicPr>
          <p:nvPr/>
        </p:nvPicPr>
        <p:blipFill>
          <a:blip r:embed="rId2"/>
          <a:stretch>
            <a:fillRect/>
          </a:stretch>
        </p:blipFill>
        <p:spPr>
          <a:xfrm>
            <a:off x="6717640" y="2048256"/>
            <a:ext cx="219456" cy="219456"/>
          </a:xfrm>
          <a:prstGeom prst="rect">
            <a:avLst/>
          </a:prstGeom>
        </p:spPr>
      </p:pic>
      <p:sp>
        <p:nvSpPr>
          <p:cNvPr id="15" name="Text 11"/>
          <p:cNvSpPr/>
          <p:nvPr/>
        </p:nvSpPr>
        <p:spPr>
          <a:xfrm>
            <a:off x="7238848" y="1783080"/>
            <a:ext cx="1554480" cy="749808"/>
          </a:xfrm>
          <a:prstGeom prst="rect">
            <a:avLst/>
          </a:prstGeom>
          <a:noFill/>
          <a:ln/>
        </p:spPr>
        <p:txBody>
          <a:bodyPr wrap="square" lIns="0" tIns="0" rIns="0" bIns="0" rtlCol="0" anchor="ctr"/>
          <a:lstStyle/>
          <a:p>
            <a:pPr indent="0" marL="0">
              <a:buNone/>
            </a:pPr>
            <a:r>
              <a:rPr lang="en-US" sz="1450" b="1" dirty="0">
                <a:solidFill>
                  <a:srgbClr val="005239"/>
                </a:solidFill>
                <a:latin typeface="Poppins" pitchFamily="34" charset="0"/>
                <a:ea typeface="Poppins" pitchFamily="34" charset="-122"/>
                <a:cs typeface="Poppins" pitchFamily="34" charset="-120"/>
              </a:rPr>
              <a:t>EDGAR</a:t>
            </a:r>
            <a:endParaRPr lang="en-US" sz="1450" dirty="0"/>
          </a:p>
        </p:txBody>
      </p:sp>
      <p:sp>
        <p:nvSpPr>
          <p:cNvPr id="16" name="Text 12"/>
          <p:cNvSpPr/>
          <p:nvPr/>
        </p:nvSpPr>
        <p:spPr>
          <a:xfrm>
            <a:off x="8793328" y="1783080"/>
            <a:ext cx="2483968" cy="749808"/>
          </a:xfrm>
          <a:prstGeom prst="rect">
            <a:avLst/>
          </a:prstGeom>
          <a:noFill/>
          <a:ln/>
        </p:spPr>
        <p:txBody>
          <a:bodyPr wrap="square" lIns="0" tIns="0" rIns="0" bIns="0" rtlCol="0" anchor="ctr"/>
          <a:lstStyle/>
          <a:p>
            <a:pPr indent="0" marL="0">
              <a:lnSpc>
                <a:spcPct val="102000"/>
              </a:lnSpc>
              <a:buNone/>
            </a:pPr>
            <a:r>
              <a:rPr lang="en-US" sz="1050" dirty="0">
                <a:solidFill>
                  <a:srgbClr val="333333"/>
                </a:solidFill>
                <a:latin typeface="Open Sans" pitchFamily="34" charset="0"/>
                <a:ea typeface="Open Sans" pitchFamily="34" charset="-122"/>
                <a:cs typeface="Open Sans" pitchFamily="34" charset="-120"/>
              </a:rPr>
              <a:t>Raw SEC filings — 10-Ks, 8-Ks, proxy statements, the primary documents.</a:t>
            </a:r>
            <a:endParaRPr lang="en-US" sz="1050" dirty="0"/>
          </a:p>
        </p:txBody>
      </p:sp>
      <p:sp>
        <p:nvSpPr>
          <p:cNvPr id="17" name="Shape 13"/>
          <p:cNvSpPr/>
          <p:nvPr/>
        </p:nvSpPr>
        <p:spPr>
          <a:xfrm>
            <a:off x="777240" y="2642616"/>
            <a:ext cx="5090008" cy="749808"/>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8" name="Shape 14"/>
          <p:cNvSpPr/>
          <p:nvPr/>
        </p:nvSpPr>
        <p:spPr>
          <a:xfrm>
            <a:off x="777240" y="2642616"/>
            <a:ext cx="91440" cy="749808"/>
          </a:xfrm>
          <a:prstGeom prst="rect">
            <a:avLst/>
          </a:prstGeom>
          <a:solidFill>
            <a:srgbClr val="004F71"/>
          </a:solidFill>
          <a:ln/>
        </p:spPr>
      </p:sp>
      <p:sp>
        <p:nvSpPr>
          <p:cNvPr id="19" name="Shape 15"/>
          <p:cNvSpPr/>
          <p:nvPr/>
        </p:nvSpPr>
        <p:spPr>
          <a:xfrm>
            <a:off x="1051560" y="2788920"/>
            <a:ext cx="457200" cy="457200"/>
          </a:xfrm>
          <a:prstGeom prst="ellipse">
            <a:avLst/>
          </a:prstGeom>
          <a:solidFill>
            <a:srgbClr val="004F71"/>
          </a:solidFill>
          <a:ln/>
        </p:spPr>
      </p:sp>
      <p:pic>
        <p:nvPicPr>
          <p:cNvPr id="20" name="Image 2" descr="preencoded.png">    </p:cNvPr>
          <p:cNvPicPr>
            <a:picLocks noChangeAspect="1"/>
          </p:cNvPicPr>
          <p:nvPr/>
        </p:nvPicPr>
        <p:blipFill>
          <a:blip r:embed="rId3"/>
          <a:stretch>
            <a:fillRect/>
          </a:stretch>
        </p:blipFill>
        <p:spPr>
          <a:xfrm>
            <a:off x="1170432" y="2907792"/>
            <a:ext cx="219456" cy="219456"/>
          </a:xfrm>
          <a:prstGeom prst="rect">
            <a:avLst/>
          </a:prstGeom>
        </p:spPr>
      </p:pic>
      <p:sp>
        <p:nvSpPr>
          <p:cNvPr id="21" name="Text 16"/>
          <p:cNvSpPr/>
          <p:nvPr/>
        </p:nvSpPr>
        <p:spPr>
          <a:xfrm>
            <a:off x="1691640" y="2642616"/>
            <a:ext cx="1554480" cy="749808"/>
          </a:xfrm>
          <a:prstGeom prst="rect">
            <a:avLst/>
          </a:prstGeom>
          <a:noFill/>
          <a:ln/>
        </p:spPr>
        <p:txBody>
          <a:bodyPr wrap="square" lIns="0" tIns="0" rIns="0" bIns="0" rtlCol="0" anchor="ctr"/>
          <a:lstStyle/>
          <a:p>
            <a:pPr indent="0" marL="0">
              <a:buNone/>
            </a:pPr>
            <a:r>
              <a:rPr lang="en-US" sz="1450" b="1" dirty="0">
                <a:solidFill>
                  <a:srgbClr val="005239"/>
                </a:solidFill>
                <a:latin typeface="Poppins" pitchFamily="34" charset="0"/>
                <a:ea typeface="Poppins" pitchFamily="34" charset="-122"/>
                <a:cs typeface="Poppins" pitchFamily="34" charset="-120"/>
              </a:rPr>
              <a:t>FRED</a:t>
            </a:r>
            <a:endParaRPr lang="en-US" sz="1450" dirty="0"/>
          </a:p>
        </p:txBody>
      </p:sp>
      <p:sp>
        <p:nvSpPr>
          <p:cNvPr id="22" name="Text 17"/>
          <p:cNvSpPr/>
          <p:nvPr/>
        </p:nvSpPr>
        <p:spPr>
          <a:xfrm>
            <a:off x="3246120" y="2642616"/>
            <a:ext cx="2483968" cy="749808"/>
          </a:xfrm>
          <a:prstGeom prst="rect">
            <a:avLst/>
          </a:prstGeom>
          <a:noFill/>
          <a:ln/>
        </p:spPr>
        <p:txBody>
          <a:bodyPr wrap="square" lIns="0" tIns="0" rIns="0" bIns="0" rtlCol="0" anchor="ctr"/>
          <a:lstStyle/>
          <a:p>
            <a:pPr indent="0" marL="0">
              <a:lnSpc>
                <a:spcPct val="102000"/>
              </a:lnSpc>
              <a:buNone/>
            </a:pPr>
            <a:r>
              <a:rPr lang="en-US" sz="1050" dirty="0">
                <a:solidFill>
                  <a:srgbClr val="333333"/>
                </a:solidFill>
                <a:latin typeface="Open Sans" pitchFamily="34" charset="0"/>
                <a:ea typeface="Open Sans" pitchFamily="34" charset="-122"/>
                <a:cs typeface="Open Sans" pitchFamily="34" charset="-120"/>
              </a:rPr>
              <a:t>Macro &amp; interest-rate series — the home of rates, inflation, output.</a:t>
            </a:r>
            <a:endParaRPr lang="en-US" sz="1050" dirty="0"/>
          </a:p>
        </p:txBody>
      </p:sp>
      <p:sp>
        <p:nvSpPr>
          <p:cNvPr id="23" name="Shape 18"/>
          <p:cNvSpPr/>
          <p:nvPr/>
        </p:nvSpPr>
        <p:spPr>
          <a:xfrm>
            <a:off x="6324448" y="2642616"/>
            <a:ext cx="5090008" cy="749808"/>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4" name="Shape 19"/>
          <p:cNvSpPr/>
          <p:nvPr/>
        </p:nvSpPr>
        <p:spPr>
          <a:xfrm>
            <a:off x="6324448" y="2642616"/>
            <a:ext cx="91440" cy="749808"/>
          </a:xfrm>
          <a:prstGeom prst="rect">
            <a:avLst/>
          </a:prstGeom>
          <a:solidFill>
            <a:srgbClr val="004F71"/>
          </a:solidFill>
          <a:ln/>
        </p:spPr>
      </p:sp>
      <p:sp>
        <p:nvSpPr>
          <p:cNvPr id="25" name="Shape 20"/>
          <p:cNvSpPr/>
          <p:nvPr/>
        </p:nvSpPr>
        <p:spPr>
          <a:xfrm>
            <a:off x="6598768" y="2788920"/>
            <a:ext cx="457200" cy="457200"/>
          </a:xfrm>
          <a:prstGeom prst="ellipse">
            <a:avLst/>
          </a:prstGeom>
          <a:solidFill>
            <a:srgbClr val="004F71"/>
          </a:solidFill>
          <a:ln/>
        </p:spPr>
      </p:sp>
      <p:pic>
        <p:nvPicPr>
          <p:cNvPr id="26" name="Image 3" descr="preencoded.png">    </p:cNvPr>
          <p:cNvPicPr>
            <a:picLocks noChangeAspect="1"/>
          </p:cNvPicPr>
          <p:nvPr/>
        </p:nvPicPr>
        <p:blipFill>
          <a:blip r:embed="rId4"/>
          <a:stretch>
            <a:fillRect/>
          </a:stretch>
        </p:blipFill>
        <p:spPr>
          <a:xfrm>
            <a:off x="6717640" y="2907792"/>
            <a:ext cx="219456" cy="219456"/>
          </a:xfrm>
          <a:prstGeom prst="rect">
            <a:avLst/>
          </a:prstGeom>
        </p:spPr>
      </p:pic>
      <p:sp>
        <p:nvSpPr>
          <p:cNvPr id="27" name="Text 21"/>
          <p:cNvSpPr/>
          <p:nvPr/>
        </p:nvSpPr>
        <p:spPr>
          <a:xfrm>
            <a:off x="7238848" y="2642616"/>
            <a:ext cx="1554480" cy="749808"/>
          </a:xfrm>
          <a:prstGeom prst="rect">
            <a:avLst/>
          </a:prstGeom>
          <a:noFill/>
          <a:ln/>
        </p:spPr>
        <p:txBody>
          <a:bodyPr wrap="square" lIns="0" tIns="0" rIns="0" bIns="0" rtlCol="0" anchor="ctr"/>
          <a:lstStyle/>
          <a:p>
            <a:pPr indent="0" marL="0">
              <a:buNone/>
            </a:pPr>
            <a:r>
              <a:rPr lang="en-US" sz="1450" b="1" dirty="0">
                <a:solidFill>
                  <a:srgbClr val="005239"/>
                </a:solidFill>
                <a:latin typeface="Poppins" pitchFamily="34" charset="0"/>
                <a:ea typeface="Poppins" pitchFamily="34" charset="-122"/>
                <a:cs typeface="Poppins" pitchFamily="34" charset="-120"/>
              </a:rPr>
              <a:t>HMDA</a:t>
            </a:r>
            <a:endParaRPr lang="en-US" sz="1450" dirty="0"/>
          </a:p>
        </p:txBody>
      </p:sp>
      <p:sp>
        <p:nvSpPr>
          <p:cNvPr id="28" name="Text 22"/>
          <p:cNvSpPr/>
          <p:nvPr/>
        </p:nvSpPr>
        <p:spPr>
          <a:xfrm>
            <a:off x="8793328" y="2642616"/>
            <a:ext cx="2483968" cy="749808"/>
          </a:xfrm>
          <a:prstGeom prst="rect">
            <a:avLst/>
          </a:prstGeom>
          <a:noFill/>
          <a:ln/>
        </p:spPr>
        <p:txBody>
          <a:bodyPr wrap="square" lIns="0" tIns="0" rIns="0" bIns="0" rtlCol="0" anchor="ctr"/>
          <a:lstStyle/>
          <a:p>
            <a:pPr indent="0" marL="0">
              <a:lnSpc>
                <a:spcPct val="102000"/>
              </a:lnSpc>
              <a:buNone/>
            </a:pPr>
            <a:r>
              <a:rPr lang="en-US" sz="1050" dirty="0">
                <a:solidFill>
                  <a:srgbClr val="333333"/>
                </a:solidFill>
                <a:latin typeface="Open Sans" pitchFamily="34" charset="0"/>
                <a:ea typeface="Open Sans" pitchFamily="34" charset="-122"/>
                <a:cs typeface="Open Sans" pitchFamily="34" charset="-120"/>
              </a:rPr>
              <a:t>Loan-level mortgage data (the source behind Gao &amp; Sun 2019, PNAS).</a:t>
            </a:r>
            <a:endParaRPr lang="en-US" sz="1050" dirty="0"/>
          </a:p>
        </p:txBody>
      </p:sp>
      <p:sp>
        <p:nvSpPr>
          <p:cNvPr id="29" name="Shape 23"/>
          <p:cNvSpPr/>
          <p:nvPr/>
        </p:nvSpPr>
        <p:spPr>
          <a:xfrm>
            <a:off x="777240" y="3502152"/>
            <a:ext cx="5090008" cy="749808"/>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30" name="Shape 24"/>
          <p:cNvSpPr/>
          <p:nvPr/>
        </p:nvSpPr>
        <p:spPr>
          <a:xfrm>
            <a:off x="777240" y="3502152"/>
            <a:ext cx="91440" cy="749808"/>
          </a:xfrm>
          <a:prstGeom prst="rect">
            <a:avLst/>
          </a:prstGeom>
          <a:solidFill>
            <a:srgbClr val="004F71"/>
          </a:solidFill>
          <a:ln/>
        </p:spPr>
      </p:sp>
      <p:sp>
        <p:nvSpPr>
          <p:cNvPr id="31" name="Shape 25"/>
          <p:cNvSpPr/>
          <p:nvPr/>
        </p:nvSpPr>
        <p:spPr>
          <a:xfrm>
            <a:off x="1051560" y="3648456"/>
            <a:ext cx="457200" cy="457200"/>
          </a:xfrm>
          <a:prstGeom prst="ellipse">
            <a:avLst/>
          </a:prstGeom>
          <a:solidFill>
            <a:srgbClr val="004F71"/>
          </a:solidFill>
          <a:ln/>
        </p:spPr>
      </p:sp>
      <p:pic>
        <p:nvPicPr>
          <p:cNvPr id="32" name="Image 4" descr="preencoded.png">    </p:cNvPr>
          <p:cNvPicPr>
            <a:picLocks noChangeAspect="1"/>
          </p:cNvPicPr>
          <p:nvPr/>
        </p:nvPicPr>
        <p:blipFill>
          <a:blip r:embed="rId5"/>
          <a:stretch>
            <a:fillRect/>
          </a:stretch>
        </p:blipFill>
        <p:spPr>
          <a:xfrm>
            <a:off x="1170432" y="3767328"/>
            <a:ext cx="219456" cy="219456"/>
          </a:xfrm>
          <a:prstGeom prst="rect">
            <a:avLst/>
          </a:prstGeom>
        </p:spPr>
      </p:pic>
      <p:sp>
        <p:nvSpPr>
          <p:cNvPr id="33" name="Text 26"/>
          <p:cNvSpPr/>
          <p:nvPr/>
        </p:nvSpPr>
        <p:spPr>
          <a:xfrm>
            <a:off x="1691640" y="3502152"/>
            <a:ext cx="1554480" cy="749808"/>
          </a:xfrm>
          <a:prstGeom prst="rect">
            <a:avLst/>
          </a:prstGeom>
          <a:noFill/>
          <a:ln/>
        </p:spPr>
        <p:txBody>
          <a:bodyPr wrap="square" lIns="0" tIns="0" rIns="0" bIns="0" rtlCol="0" anchor="ctr"/>
          <a:lstStyle/>
          <a:p>
            <a:pPr indent="0" marL="0">
              <a:buNone/>
            </a:pPr>
            <a:r>
              <a:rPr lang="en-US" sz="1450" b="1" dirty="0">
                <a:solidFill>
                  <a:srgbClr val="005239"/>
                </a:solidFill>
                <a:latin typeface="Poppins" pitchFamily="34" charset="0"/>
                <a:ea typeface="Poppins" pitchFamily="34" charset="-122"/>
                <a:cs typeface="Poppins" pitchFamily="34" charset="-120"/>
              </a:rPr>
              <a:t>13F</a:t>
            </a:r>
            <a:endParaRPr lang="en-US" sz="1450" dirty="0"/>
          </a:p>
        </p:txBody>
      </p:sp>
      <p:sp>
        <p:nvSpPr>
          <p:cNvPr id="34" name="Text 27"/>
          <p:cNvSpPr/>
          <p:nvPr/>
        </p:nvSpPr>
        <p:spPr>
          <a:xfrm>
            <a:off x="3246120" y="3502152"/>
            <a:ext cx="2483968" cy="749808"/>
          </a:xfrm>
          <a:prstGeom prst="rect">
            <a:avLst/>
          </a:prstGeom>
          <a:noFill/>
          <a:ln/>
        </p:spPr>
        <p:txBody>
          <a:bodyPr wrap="square" lIns="0" tIns="0" rIns="0" bIns="0" rtlCol="0" anchor="ctr"/>
          <a:lstStyle/>
          <a:p>
            <a:pPr indent="0" marL="0">
              <a:lnSpc>
                <a:spcPct val="102000"/>
              </a:lnSpc>
              <a:buNone/>
            </a:pPr>
            <a:r>
              <a:rPr lang="en-US" sz="1050" dirty="0">
                <a:solidFill>
                  <a:srgbClr val="333333"/>
                </a:solidFill>
                <a:latin typeface="Open Sans" pitchFamily="34" charset="0"/>
                <a:ea typeface="Open Sans" pitchFamily="34" charset="-122"/>
                <a:cs typeface="Open Sans" pitchFamily="34" charset="-120"/>
              </a:rPr>
              <a:t>Institutional holdings — who owns what, quarter by quarter.</a:t>
            </a:r>
            <a:endParaRPr lang="en-US" sz="1050" dirty="0"/>
          </a:p>
        </p:txBody>
      </p:sp>
      <p:sp>
        <p:nvSpPr>
          <p:cNvPr id="35" name="Shape 28"/>
          <p:cNvSpPr/>
          <p:nvPr/>
        </p:nvSpPr>
        <p:spPr>
          <a:xfrm>
            <a:off x="6324448" y="3502152"/>
            <a:ext cx="5090008" cy="749808"/>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36" name="Shape 29"/>
          <p:cNvSpPr/>
          <p:nvPr/>
        </p:nvSpPr>
        <p:spPr>
          <a:xfrm>
            <a:off x="6324448" y="3502152"/>
            <a:ext cx="91440" cy="749808"/>
          </a:xfrm>
          <a:prstGeom prst="rect">
            <a:avLst/>
          </a:prstGeom>
          <a:solidFill>
            <a:srgbClr val="004F71"/>
          </a:solidFill>
          <a:ln/>
        </p:spPr>
      </p:sp>
      <p:sp>
        <p:nvSpPr>
          <p:cNvPr id="37" name="Shape 30"/>
          <p:cNvSpPr/>
          <p:nvPr/>
        </p:nvSpPr>
        <p:spPr>
          <a:xfrm>
            <a:off x="6598768" y="3648456"/>
            <a:ext cx="457200" cy="457200"/>
          </a:xfrm>
          <a:prstGeom prst="ellipse">
            <a:avLst/>
          </a:prstGeom>
          <a:solidFill>
            <a:srgbClr val="004F71"/>
          </a:solidFill>
          <a:ln/>
        </p:spPr>
      </p:sp>
      <p:pic>
        <p:nvPicPr>
          <p:cNvPr id="38" name="Image 5" descr="preencoded.png">    </p:cNvPr>
          <p:cNvPicPr>
            <a:picLocks noChangeAspect="1"/>
          </p:cNvPicPr>
          <p:nvPr/>
        </p:nvPicPr>
        <p:blipFill>
          <a:blip r:embed="rId6"/>
          <a:stretch>
            <a:fillRect/>
          </a:stretch>
        </p:blipFill>
        <p:spPr>
          <a:xfrm>
            <a:off x="6717640" y="3767328"/>
            <a:ext cx="219456" cy="219456"/>
          </a:xfrm>
          <a:prstGeom prst="rect">
            <a:avLst/>
          </a:prstGeom>
        </p:spPr>
      </p:pic>
      <p:sp>
        <p:nvSpPr>
          <p:cNvPr id="39" name="Text 31"/>
          <p:cNvSpPr/>
          <p:nvPr/>
        </p:nvSpPr>
        <p:spPr>
          <a:xfrm>
            <a:off x="7238848" y="3502152"/>
            <a:ext cx="1554480" cy="749808"/>
          </a:xfrm>
          <a:prstGeom prst="rect">
            <a:avLst/>
          </a:prstGeom>
          <a:noFill/>
          <a:ln/>
        </p:spPr>
        <p:txBody>
          <a:bodyPr wrap="square" lIns="0" tIns="0" rIns="0" bIns="0" rtlCol="0" anchor="ctr"/>
          <a:lstStyle/>
          <a:p>
            <a:pPr indent="0" marL="0">
              <a:buNone/>
            </a:pPr>
            <a:r>
              <a:rPr lang="en-US" sz="1450" b="1" dirty="0">
                <a:solidFill>
                  <a:srgbClr val="005239"/>
                </a:solidFill>
                <a:latin typeface="Poppins" pitchFamily="34" charset="0"/>
                <a:ea typeface="Poppins" pitchFamily="34" charset="-122"/>
                <a:cs typeface="Poppins" pitchFamily="34" charset="-120"/>
              </a:rPr>
              <a:t>PatentsView</a:t>
            </a:r>
            <a:endParaRPr lang="en-US" sz="1450" dirty="0"/>
          </a:p>
        </p:txBody>
      </p:sp>
      <p:sp>
        <p:nvSpPr>
          <p:cNvPr id="40" name="Text 32"/>
          <p:cNvSpPr/>
          <p:nvPr/>
        </p:nvSpPr>
        <p:spPr>
          <a:xfrm>
            <a:off x="8793328" y="3502152"/>
            <a:ext cx="2483968" cy="749808"/>
          </a:xfrm>
          <a:prstGeom prst="rect">
            <a:avLst/>
          </a:prstGeom>
          <a:noFill/>
          <a:ln/>
        </p:spPr>
        <p:txBody>
          <a:bodyPr wrap="square" lIns="0" tIns="0" rIns="0" bIns="0" rtlCol="0" anchor="ctr"/>
          <a:lstStyle/>
          <a:p>
            <a:pPr indent="0" marL="0">
              <a:lnSpc>
                <a:spcPct val="102000"/>
              </a:lnSpc>
              <a:buNone/>
            </a:pPr>
            <a:r>
              <a:rPr lang="en-US" sz="1050" dirty="0">
                <a:solidFill>
                  <a:srgbClr val="333333"/>
                </a:solidFill>
                <a:latin typeface="Open Sans" pitchFamily="34" charset="0"/>
                <a:ea typeface="Open Sans" pitchFamily="34" charset="-122"/>
                <a:cs typeface="Open Sans" pitchFamily="34" charset="-120"/>
              </a:rPr>
              <a:t>Innovation &amp; patent data — inventors, assignees, citations.</a:t>
            </a:r>
            <a:endParaRPr lang="en-US" sz="1050" dirty="0"/>
          </a:p>
        </p:txBody>
      </p:sp>
      <p:sp>
        <p:nvSpPr>
          <p:cNvPr id="41" name="Shape 33"/>
          <p:cNvSpPr/>
          <p:nvPr/>
        </p:nvSpPr>
        <p:spPr>
          <a:xfrm>
            <a:off x="777240" y="4361688"/>
            <a:ext cx="5090008" cy="749808"/>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42" name="Shape 34"/>
          <p:cNvSpPr/>
          <p:nvPr/>
        </p:nvSpPr>
        <p:spPr>
          <a:xfrm>
            <a:off x="777240" y="4361688"/>
            <a:ext cx="91440" cy="749808"/>
          </a:xfrm>
          <a:prstGeom prst="rect">
            <a:avLst/>
          </a:prstGeom>
          <a:solidFill>
            <a:srgbClr val="004F71"/>
          </a:solidFill>
          <a:ln/>
        </p:spPr>
      </p:sp>
      <p:sp>
        <p:nvSpPr>
          <p:cNvPr id="43" name="Shape 35"/>
          <p:cNvSpPr/>
          <p:nvPr/>
        </p:nvSpPr>
        <p:spPr>
          <a:xfrm>
            <a:off x="1051560" y="4507992"/>
            <a:ext cx="457200" cy="457200"/>
          </a:xfrm>
          <a:prstGeom prst="ellipse">
            <a:avLst/>
          </a:prstGeom>
          <a:solidFill>
            <a:srgbClr val="004F71"/>
          </a:solidFill>
          <a:ln/>
        </p:spPr>
      </p:sp>
      <p:pic>
        <p:nvPicPr>
          <p:cNvPr id="44" name="Image 6" descr="preencoded.png">    </p:cNvPr>
          <p:cNvPicPr>
            <a:picLocks noChangeAspect="1"/>
          </p:cNvPicPr>
          <p:nvPr/>
        </p:nvPicPr>
        <p:blipFill>
          <a:blip r:embed="rId7"/>
          <a:stretch>
            <a:fillRect/>
          </a:stretch>
        </p:blipFill>
        <p:spPr>
          <a:xfrm>
            <a:off x="1170432" y="4626864"/>
            <a:ext cx="219456" cy="219456"/>
          </a:xfrm>
          <a:prstGeom prst="rect">
            <a:avLst/>
          </a:prstGeom>
        </p:spPr>
      </p:pic>
      <p:sp>
        <p:nvSpPr>
          <p:cNvPr id="45" name="Text 36"/>
          <p:cNvSpPr/>
          <p:nvPr/>
        </p:nvSpPr>
        <p:spPr>
          <a:xfrm>
            <a:off x="1691640" y="4361688"/>
            <a:ext cx="1554480" cy="749808"/>
          </a:xfrm>
          <a:prstGeom prst="rect">
            <a:avLst/>
          </a:prstGeom>
          <a:noFill/>
          <a:ln/>
        </p:spPr>
        <p:txBody>
          <a:bodyPr wrap="square" lIns="0" tIns="0" rIns="0" bIns="0" rtlCol="0" anchor="ctr"/>
          <a:lstStyle/>
          <a:p>
            <a:pPr indent="0" marL="0">
              <a:buNone/>
            </a:pPr>
            <a:r>
              <a:rPr lang="en-US" sz="1450" b="1" dirty="0">
                <a:solidFill>
                  <a:srgbClr val="005239"/>
                </a:solidFill>
                <a:latin typeface="Poppins" pitchFamily="34" charset="0"/>
                <a:ea typeface="Poppins" pitchFamily="34" charset="-122"/>
                <a:cs typeface="Poppins" pitchFamily="34" charset="-120"/>
              </a:rPr>
              <a:t>yfinance</a:t>
            </a:r>
            <a:endParaRPr lang="en-US" sz="1450" dirty="0"/>
          </a:p>
        </p:txBody>
      </p:sp>
      <p:sp>
        <p:nvSpPr>
          <p:cNvPr id="46" name="Text 37"/>
          <p:cNvSpPr/>
          <p:nvPr/>
        </p:nvSpPr>
        <p:spPr>
          <a:xfrm>
            <a:off x="3246120" y="4361688"/>
            <a:ext cx="2483968" cy="749808"/>
          </a:xfrm>
          <a:prstGeom prst="rect">
            <a:avLst/>
          </a:prstGeom>
          <a:noFill/>
          <a:ln/>
        </p:spPr>
        <p:txBody>
          <a:bodyPr wrap="square" lIns="0" tIns="0" rIns="0" bIns="0" rtlCol="0" anchor="ctr"/>
          <a:lstStyle/>
          <a:p>
            <a:pPr indent="0" marL="0">
              <a:lnSpc>
                <a:spcPct val="102000"/>
              </a:lnSpc>
              <a:buNone/>
            </a:pPr>
            <a:r>
              <a:rPr lang="en-US" sz="1050" dirty="0">
                <a:solidFill>
                  <a:srgbClr val="333333"/>
                </a:solidFill>
                <a:latin typeface="Open Sans" pitchFamily="34" charset="0"/>
                <a:ea typeface="Open Sans" pitchFamily="34" charset="-122"/>
                <a:cs typeface="Open Sans" pitchFamily="34" charset="-120"/>
              </a:rPr>
              <a:t>Quick, free market prices when you don't need the heavy machinery.</a:t>
            </a:r>
            <a:endParaRPr lang="en-US" sz="1050" dirty="0"/>
          </a:p>
        </p:txBody>
      </p:sp>
      <p:sp>
        <p:nvSpPr>
          <p:cNvPr id="47" name="Text 38"/>
          <p:cNvSpPr/>
          <p:nvPr/>
        </p:nvSpPr>
        <p:spPr>
          <a:xfrm>
            <a:off x="777240" y="5440680"/>
            <a:ext cx="10637215" cy="365760"/>
          </a:xfrm>
          <a:prstGeom prst="rect">
            <a:avLst/>
          </a:prstGeom>
          <a:noFill/>
          <a:ln/>
        </p:spPr>
        <p:txBody>
          <a:bodyPr wrap="square" lIns="0" tIns="0" rIns="0" bIns="0" rtlCol="0" anchor="ctr"/>
          <a:lstStyle/>
          <a:p>
            <a:pPr algn="ctr" indent="0" marL="0">
              <a:buNone/>
            </a:pPr>
            <a:r>
              <a:rPr lang="en-US" sz="1250" i="1" dirty="0">
                <a:solidFill>
                  <a:srgbClr val="727579"/>
                </a:solidFill>
                <a:latin typeface="Open Sans" pitchFamily="34" charset="0"/>
                <a:ea typeface="Open Sans" pitchFamily="34" charset="-122"/>
                <a:cs typeface="Open Sans" pitchFamily="34" charset="-120"/>
              </a:rPr>
              <a:t>The skill isn't knowing all seven — it's matching your outcome variable to the one source that has it, cleanly, at the right frequency.</a:t>
            </a:r>
            <a:endParaRPr lang="en-US" sz="1250" dirty="0"/>
          </a:p>
        </p:txBody>
      </p:sp>
      <p:sp>
        <p:nvSpPr>
          <p:cNvPr id="48" name="Text 39"/>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49" name="Text 40"/>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8285"/>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8285"/>
                </a:solidFill>
                <a:latin typeface="Open Sans" pitchFamily="34" charset="0"/>
                <a:ea typeface="Open Sans" pitchFamily="34" charset="-122"/>
                <a:cs typeface="Open Sans" pitchFamily="34" charset="-120"/>
              </a:rPr>
              <a:t>BLOCK B · SO ANYONE CAN RERUN IT</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Pull reproducibly — four habits</a:t>
            </a:r>
            <a:endParaRPr lang="en-US" sz="3000" dirty="0"/>
          </a:p>
        </p:txBody>
      </p:sp>
      <p:sp>
        <p:nvSpPr>
          <p:cNvPr id="5" name="Shape 3"/>
          <p:cNvSpPr/>
          <p:nvPr/>
        </p:nvSpPr>
        <p:spPr>
          <a:xfrm>
            <a:off x="777240" y="1828800"/>
            <a:ext cx="10637215" cy="777240"/>
          </a:xfrm>
          <a:prstGeom prst="rect">
            <a:avLst/>
          </a:prstGeom>
          <a:solidFill>
            <a:srgbClr val="FFFFFF"/>
          </a:solidFill>
          <a:ln w="9525">
            <a:solidFill>
              <a:srgbClr val="E2E1DC"/>
            </a:solidFill>
            <a:prstDash val="solid"/>
          </a:ln>
        </p:spPr>
      </p:sp>
      <p:sp>
        <p:nvSpPr>
          <p:cNvPr id="6" name="Shape 4"/>
          <p:cNvSpPr/>
          <p:nvPr/>
        </p:nvSpPr>
        <p:spPr>
          <a:xfrm>
            <a:off x="777240" y="1828800"/>
            <a:ext cx="91440" cy="777240"/>
          </a:xfrm>
          <a:prstGeom prst="rect">
            <a:avLst/>
          </a:prstGeom>
          <a:solidFill>
            <a:srgbClr val="008285"/>
          </a:solidFill>
          <a:ln/>
        </p:spPr>
      </p:sp>
      <p:sp>
        <p:nvSpPr>
          <p:cNvPr id="7" name="Shape 5"/>
          <p:cNvSpPr/>
          <p:nvPr/>
        </p:nvSpPr>
        <p:spPr>
          <a:xfrm>
            <a:off x="1051560" y="1979676"/>
            <a:ext cx="475488" cy="475488"/>
          </a:xfrm>
          <a:prstGeom prst="ellipse">
            <a:avLst/>
          </a:prstGeom>
          <a:solidFill>
            <a:srgbClr val="008285"/>
          </a:solidFill>
          <a:ln/>
        </p:spPr>
      </p:sp>
      <p:pic>
        <p:nvPicPr>
          <p:cNvPr id="8" name="Image 0" descr="preencoded.png">    </p:cNvPr>
          <p:cNvPicPr>
            <a:picLocks noChangeAspect="1"/>
          </p:cNvPicPr>
          <p:nvPr/>
        </p:nvPicPr>
        <p:blipFill>
          <a:blip r:embed="rId1"/>
          <a:stretch>
            <a:fillRect/>
          </a:stretch>
        </p:blipFill>
        <p:spPr>
          <a:xfrm>
            <a:off x="1175187" y="2103303"/>
            <a:ext cx="228234" cy="228234"/>
          </a:xfrm>
          <a:prstGeom prst="rect">
            <a:avLst/>
          </a:prstGeom>
        </p:spPr>
      </p:pic>
      <p:sp>
        <p:nvSpPr>
          <p:cNvPr id="9" name="Text 6"/>
          <p:cNvSpPr/>
          <p:nvPr/>
        </p:nvSpPr>
        <p:spPr>
          <a:xfrm>
            <a:off x="1737360" y="1828800"/>
            <a:ext cx="2926080" cy="777240"/>
          </a:xfrm>
          <a:prstGeom prst="rect">
            <a:avLst/>
          </a:prstGeom>
          <a:noFill/>
          <a:ln/>
        </p:spPr>
        <p:txBody>
          <a:bodyPr wrap="square" lIns="0" tIns="0" rIns="0" bIns="0" rtlCol="0" anchor="ctr"/>
          <a:lstStyle/>
          <a:p>
            <a:pPr indent="0" marL="0">
              <a:buNone/>
            </a:pPr>
            <a:r>
              <a:rPr lang="en-US" sz="1500" b="1" dirty="0">
                <a:solidFill>
                  <a:srgbClr val="005239"/>
                </a:solidFill>
                <a:latin typeface="Poppins" pitchFamily="34" charset="0"/>
                <a:ea typeface="Poppins" pitchFamily="34" charset="-122"/>
                <a:cs typeface="Poppins" pitchFamily="34" charset="-120"/>
              </a:rPr>
              <a:t>Cache-or-fetch</a:t>
            </a:r>
            <a:endParaRPr lang="en-US" sz="1500" dirty="0"/>
          </a:p>
        </p:txBody>
      </p:sp>
      <p:sp>
        <p:nvSpPr>
          <p:cNvPr id="10" name="Text 7"/>
          <p:cNvSpPr/>
          <p:nvPr/>
        </p:nvSpPr>
        <p:spPr>
          <a:xfrm>
            <a:off x="4754880" y="1828800"/>
            <a:ext cx="6522415" cy="777240"/>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Code checks for a local copy first, downloads only if missing — no hammering the server, no shifting results.</a:t>
            </a:r>
            <a:endParaRPr lang="en-US" sz="1150" dirty="0"/>
          </a:p>
        </p:txBody>
      </p:sp>
      <p:sp>
        <p:nvSpPr>
          <p:cNvPr id="11" name="Shape 8"/>
          <p:cNvSpPr/>
          <p:nvPr/>
        </p:nvSpPr>
        <p:spPr>
          <a:xfrm>
            <a:off x="777240" y="2670048"/>
            <a:ext cx="10637215" cy="777240"/>
          </a:xfrm>
          <a:prstGeom prst="rect">
            <a:avLst/>
          </a:prstGeom>
          <a:solidFill>
            <a:srgbClr val="F4F4F2"/>
          </a:solidFill>
          <a:ln w="9525">
            <a:solidFill>
              <a:srgbClr val="E2E1DC"/>
            </a:solidFill>
            <a:prstDash val="solid"/>
          </a:ln>
        </p:spPr>
      </p:sp>
      <p:sp>
        <p:nvSpPr>
          <p:cNvPr id="12" name="Shape 9"/>
          <p:cNvSpPr/>
          <p:nvPr/>
        </p:nvSpPr>
        <p:spPr>
          <a:xfrm>
            <a:off x="777240" y="2670048"/>
            <a:ext cx="91440" cy="777240"/>
          </a:xfrm>
          <a:prstGeom prst="rect">
            <a:avLst/>
          </a:prstGeom>
          <a:solidFill>
            <a:srgbClr val="008285"/>
          </a:solidFill>
          <a:ln/>
        </p:spPr>
      </p:sp>
      <p:sp>
        <p:nvSpPr>
          <p:cNvPr id="13" name="Shape 10"/>
          <p:cNvSpPr/>
          <p:nvPr/>
        </p:nvSpPr>
        <p:spPr>
          <a:xfrm>
            <a:off x="1051560" y="2820924"/>
            <a:ext cx="475488" cy="475488"/>
          </a:xfrm>
          <a:prstGeom prst="ellipse">
            <a:avLst/>
          </a:prstGeom>
          <a:solidFill>
            <a:srgbClr val="008285"/>
          </a:solidFill>
          <a:ln/>
        </p:spPr>
      </p:sp>
      <p:pic>
        <p:nvPicPr>
          <p:cNvPr id="14" name="Image 1" descr="preencoded.png">    </p:cNvPr>
          <p:cNvPicPr>
            <a:picLocks noChangeAspect="1"/>
          </p:cNvPicPr>
          <p:nvPr/>
        </p:nvPicPr>
        <p:blipFill>
          <a:blip r:embed="rId2"/>
          <a:stretch>
            <a:fillRect/>
          </a:stretch>
        </p:blipFill>
        <p:spPr>
          <a:xfrm>
            <a:off x="1175187" y="2944551"/>
            <a:ext cx="228234" cy="228234"/>
          </a:xfrm>
          <a:prstGeom prst="rect">
            <a:avLst/>
          </a:prstGeom>
        </p:spPr>
      </p:pic>
      <p:sp>
        <p:nvSpPr>
          <p:cNvPr id="15" name="Text 11"/>
          <p:cNvSpPr/>
          <p:nvPr/>
        </p:nvSpPr>
        <p:spPr>
          <a:xfrm>
            <a:off x="1737360" y="2670048"/>
            <a:ext cx="2926080" cy="777240"/>
          </a:xfrm>
          <a:prstGeom prst="rect">
            <a:avLst/>
          </a:prstGeom>
          <a:noFill/>
          <a:ln/>
        </p:spPr>
        <p:txBody>
          <a:bodyPr wrap="square" lIns="0" tIns="0" rIns="0" bIns="0" rtlCol="0" anchor="ctr"/>
          <a:lstStyle/>
          <a:p>
            <a:pPr indent="0" marL="0">
              <a:buNone/>
            </a:pPr>
            <a:r>
              <a:rPr lang="en-US" sz="1500" b="1" dirty="0">
                <a:solidFill>
                  <a:srgbClr val="005239"/>
                </a:solidFill>
                <a:latin typeface="Poppins" pitchFamily="34" charset="0"/>
                <a:ea typeface="Poppins" pitchFamily="34" charset="-122"/>
                <a:cs typeface="Poppins" pitchFamily="34" charset="-120"/>
              </a:rPr>
              <a:t>Pin a data vintage</a:t>
            </a:r>
            <a:endParaRPr lang="en-US" sz="1500" dirty="0"/>
          </a:p>
        </p:txBody>
      </p:sp>
      <p:sp>
        <p:nvSpPr>
          <p:cNvPr id="16" name="Text 12"/>
          <p:cNvSpPr/>
          <p:nvPr/>
        </p:nvSpPr>
        <p:spPr>
          <a:xfrm>
            <a:off x="4754880" y="2670048"/>
            <a:ext cx="6522415" cy="777240"/>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Databases get revised. Record the exact version &amp; download date, so your numbers are frozen in time.</a:t>
            </a:r>
            <a:endParaRPr lang="en-US" sz="1150" dirty="0"/>
          </a:p>
        </p:txBody>
      </p:sp>
      <p:sp>
        <p:nvSpPr>
          <p:cNvPr id="17" name="Shape 13"/>
          <p:cNvSpPr/>
          <p:nvPr/>
        </p:nvSpPr>
        <p:spPr>
          <a:xfrm>
            <a:off x="777240" y="3511296"/>
            <a:ext cx="10637215" cy="777240"/>
          </a:xfrm>
          <a:prstGeom prst="rect">
            <a:avLst/>
          </a:prstGeom>
          <a:solidFill>
            <a:srgbClr val="FFFFFF"/>
          </a:solidFill>
          <a:ln w="9525">
            <a:solidFill>
              <a:srgbClr val="E2E1DC"/>
            </a:solidFill>
            <a:prstDash val="solid"/>
          </a:ln>
        </p:spPr>
      </p:sp>
      <p:sp>
        <p:nvSpPr>
          <p:cNvPr id="18" name="Shape 14"/>
          <p:cNvSpPr/>
          <p:nvPr/>
        </p:nvSpPr>
        <p:spPr>
          <a:xfrm>
            <a:off x="777240" y="3511296"/>
            <a:ext cx="91440" cy="777240"/>
          </a:xfrm>
          <a:prstGeom prst="rect">
            <a:avLst/>
          </a:prstGeom>
          <a:solidFill>
            <a:srgbClr val="008285"/>
          </a:solidFill>
          <a:ln/>
        </p:spPr>
      </p:sp>
      <p:sp>
        <p:nvSpPr>
          <p:cNvPr id="19" name="Shape 15"/>
          <p:cNvSpPr/>
          <p:nvPr/>
        </p:nvSpPr>
        <p:spPr>
          <a:xfrm>
            <a:off x="1051560" y="3662172"/>
            <a:ext cx="475488" cy="475488"/>
          </a:xfrm>
          <a:prstGeom prst="ellipse">
            <a:avLst/>
          </a:prstGeom>
          <a:solidFill>
            <a:srgbClr val="008285"/>
          </a:solidFill>
          <a:ln/>
        </p:spPr>
      </p:sp>
      <p:pic>
        <p:nvPicPr>
          <p:cNvPr id="20" name="Image 2" descr="preencoded.png">    </p:cNvPr>
          <p:cNvPicPr>
            <a:picLocks noChangeAspect="1"/>
          </p:cNvPicPr>
          <p:nvPr/>
        </p:nvPicPr>
        <p:blipFill>
          <a:blip r:embed="rId3"/>
          <a:stretch>
            <a:fillRect/>
          </a:stretch>
        </p:blipFill>
        <p:spPr>
          <a:xfrm>
            <a:off x="1175187" y="3785799"/>
            <a:ext cx="228234" cy="228234"/>
          </a:xfrm>
          <a:prstGeom prst="rect">
            <a:avLst/>
          </a:prstGeom>
        </p:spPr>
      </p:pic>
      <p:sp>
        <p:nvSpPr>
          <p:cNvPr id="21" name="Text 16"/>
          <p:cNvSpPr/>
          <p:nvPr/>
        </p:nvSpPr>
        <p:spPr>
          <a:xfrm>
            <a:off x="1737360" y="3511296"/>
            <a:ext cx="2926080" cy="777240"/>
          </a:xfrm>
          <a:prstGeom prst="rect">
            <a:avLst/>
          </a:prstGeom>
          <a:noFill/>
          <a:ln/>
        </p:spPr>
        <p:txBody>
          <a:bodyPr wrap="square" lIns="0" tIns="0" rIns="0" bIns="0" rtlCol="0" anchor="ctr"/>
          <a:lstStyle/>
          <a:p>
            <a:pPr indent="0" marL="0">
              <a:buNone/>
            </a:pPr>
            <a:r>
              <a:rPr lang="en-US" sz="1500" b="1" dirty="0">
                <a:solidFill>
                  <a:srgbClr val="005239"/>
                </a:solidFill>
                <a:latin typeface="Poppins" pitchFamily="34" charset="0"/>
                <a:ea typeface="Poppins" pitchFamily="34" charset="-122"/>
                <a:cs typeface="Poppins" pitchFamily="34" charset="-120"/>
              </a:rPr>
              <a:t>Keep an audit log</a:t>
            </a:r>
            <a:endParaRPr lang="en-US" sz="1500" dirty="0"/>
          </a:p>
        </p:txBody>
      </p:sp>
      <p:sp>
        <p:nvSpPr>
          <p:cNvPr id="22" name="Text 17"/>
          <p:cNvSpPr/>
          <p:nvPr/>
        </p:nvSpPr>
        <p:spPr>
          <a:xfrm>
            <a:off x="4754880" y="3511296"/>
            <a:ext cx="6522415" cy="777240"/>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Write down what you pulled, when, and how — so future-you can retrace every step.</a:t>
            </a:r>
            <a:endParaRPr lang="en-US" sz="1150" dirty="0"/>
          </a:p>
        </p:txBody>
      </p:sp>
      <p:sp>
        <p:nvSpPr>
          <p:cNvPr id="23" name="Shape 18"/>
          <p:cNvSpPr/>
          <p:nvPr/>
        </p:nvSpPr>
        <p:spPr>
          <a:xfrm>
            <a:off x="777240" y="4352544"/>
            <a:ext cx="10637215" cy="777240"/>
          </a:xfrm>
          <a:prstGeom prst="rect">
            <a:avLst/>
          </a:prstGeom>
          <a:solidFill>
            <a:srgbClr val="F6E3DE"/>
          </a:solidFill>
          <a:ln w="15875">
            <a:solidFill>
              <a:srgbClr val="CC4824"/>
            </a:solidFill>
            <a:prstDash val="solid"/>
          </a:ln>
        </p:spPr>
      </p:sp>
      <p:sp>
        <p:nvSpPr>
          <p:cNvPr id="24" name="Shape 19"/>
          <p:cNvSpPr/>
          <p:nvPr/>
        </p:nvSpPr>
        <p:spPr>
          <a:xfrm>
            <a:off x="777240" y="4352544"/>
            <a:ext cx="91440" cy="777240"/>
          </a:xfrm>
          <a:prstGeom prst="rect">
            <a:avLst/>
          </a:prstGeom>
          <a:solidFill>
            <a:srgbClr val="CC4824"/>
          </a:solidFill>
          <a:ln/>
        </p:spPr>
      </p:sp>
      <p:sp>
        <p:nvSpPr>
          <p:cNvPr id="25" name="Shape 20"/>
          <p:cNvSpPr/>
          <p:nvPr/>
        </p:nvSpPr>
        <p:spPr>
          <a:xfrm>
            <a:off x="1051560" y="4503420"/>
            <a:ext cx="475488" cy="475488"/>
          </a:xfrm>
          <a:prstGeom prst="ellipse">
            <a:avLst/>
          </a:prstGeom>
          <a:solidFill>
            <a:srgbClr val="CC4824"/>
          </a:solidFill>
          <a:ln/>
        </p:spPr>
      </p:sp>
      <p:pic>
        <p:nvPicPr>
          <p:cNvPr id="26" name="Image 3" descr="preencoded.png">    </p:cNvPr>
          <p:cNvPicPr>
            <a:picLocks noChangeAspect="1"/>
          </p:cNvPicPr>
          <p:nvPr/>
        </p:nvPicPr>
        <p:blipFill>
          <a:blip r:embed="rId4"/>
          <a:stretch>
            <a:fillRect/>
          </a:stretch>
        </p:blipFill>
        <p:spPr>
          <a:xfrm>
            <a:off x="1175187" y="4627047"/>
            <a:ext cx="228234" cy="228234"/>
          </a:xfrm>
          <a:prstGeom prst="rect">
            <a:avLst/>
          </a:prstGeom>
        </p:spPr>
      </p:pic>
      <p:sp>
        <p:nvSpPr>
          <p:cNvPr id="27" name="Text 21"/>
          <p:cNvSpPr/>
          <p:nvPr/>
        </p:nvSpPr>
        <p:spPr>
          <a:xfrm>
            <a:off x="1737360" y="4352544"/>
            <a:ext cx="2926080" cy="777240"/>
          </a:xfrm>
          <a:prstGeom prst="rect">
            <a:avLst/>
          </a:prstGeom>
          <a:noFill/>
          <a:ln/>
        </p:spPr>
        <p:txBody>
          <a:bodyPr wrap="square" lIns="0" tIns="0" rIns="0" bIns="0" rtlCol="0" anchor="ctr"/>
          <a:lstStyle/>
          <a:p>
            <a:pPr indent="0" marL="0">
              <a:buNone/>
            </a:pPr>
            <a:r>
              <a:rPr lang="en-US" sz="1500" b="1" dirty="0">
                <a:solidFill>
                  <a:srgbClr val="005239"/>
                </a:solidFill>
                <a:latin typeface="Poppins" pitchFamily="34" charset="0"/>
                <a:ea typeface="Poppins" pitchFamily="34" charset="-122"/>
                <a:cs typeface="Poppins" pitchFamily="34" charset="-120"/>
              </a:rPr>
              <a:t>Never hand-edit a file</a:t>
            </a:r>
            <a:endParaRPr lang="en-US" sz="1500" dirty="0"/>
          </a:p>
        </p:txBody>
      </p:sp>
      <p:sp>
        <p:nvSpPr>
          <p:cNvPr id="28" name="Text 22"/>
          <p:cNvSpPr/>
          <p:nvPr/>
        </p:nvSpPr>
        <p:spPr>
          <a:xfrm>
            <a:off x="4754880" y="4352544"/>
            <a:ext cx="6522415" cy="777240"/>
          </a:xfrm>
          <a:prstGeom prst="rect">
            <a:avLst/>
          </a:prstGeom>
          <a:noFill/>
          <a:ln/>
        </p:spPr>
        <p:txBody>
          <a:bodyPr wrap="square" lIns="0" tIns="0" rIns="0" bIns="0" rtlCol="0" anchor="ctr"/>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Open a spreadsheet, fix one value by hand, and your pipeline is broken. Every change happens in code.</a:t>
            </a:r>
            <a:endParaRPr lang="en-US" sz="1150" dirty="0"/>
          </a:p>
        </p:txBody>
      </p:sp>
      <p:sp>
        <p:nvSpPr>
          <p:cNvPr id="29" name="Text 23"/>
          <p:cNvSpPr/>
          <p:nvPr/>
        </p:nvSpPr>
        <p:spPr>
          <a:xfrm>
            <a:off x="777240" y="5577840"/>
            <a:ext cx="10637215" cy="365760"/>
          </a:xfrm>
          <a:prstGeom prst="rect">
            <a:avLst/>
          </a:prstGeom>
          <a:noFill/>
          <a:ln/>
        </p:spPr>
        <p:txBody>
          <a:bodyPr wrap="square" lIns="0" tIns="0" rIns="0" bIns="0" rtlCol="0" anchor="ctr"/>
          <a:lstStyle/>
          <a:p>
            <a:pPr algn="ctr" indent="0" marL="0">
              <a:buNone/>
            </a:pPr>
            <a:r>
              <a:rPr lang="en-US" sz="1250" i="1" dirty="0">
                <a:solidFill>
                  <a:srgbClr val="008285"/>
                </a:solidFill>
                <a:latin typeface="Open Sans" pitchFamily="34" charset="0"/>
                <a:ea typeface="Open Sans" pitchFamily="34" charset="-122"/>
                <a:cs typeface="Open Sans" pitchFamily="34" charset="-120"/>
              </a:rPr>
              <a:t>If you can't rerun the whole project from raw data with one command, it isn't reproducible — and reproducible is the standard.</a:t>
            </a:r>
            <a:endParaRPr lang="en-US" sz="1250" dirty="0"/>
          </a:p>
        </p:txBody>
      </p:sp>
      <p:sp>
        <p:nvSpPr>
          <p:cNvPr id="30" name="Text 24"/>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31" name="Text 25"/>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8285"/>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8285"/>
                </a:solidFill>
                <a:latin typeface="Open Sans" pitchFamily="34" charset="0"/>
                <a:ea typeface="Open Sans" pitchFamily="34" charset="-122"/>
                <a:cs typeface="Open Sans" pitchFamily="34" charset="-120"/>
              </a:rPr>
              <a:t>BLOCK B · WHERE SILENT BUGS LIVE</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Building the analysis dataset — four traps</a:t>
            </a:r>
            <a:endParaRPr lang="en-US" sz="3000" dirty="0"/>
          </a:p>
        </p:txBody>
      </p:sp>
      <p:sp>
        <p:nvSpPr>
          <p:cNvPr id="5" name="Shape 3"/>
          <p:cNvSpPr/>
          <p:nvPr/>
        </p:nvSpPr>
        <p:spPr>
          <a:xfrm>
            <a:off x="777240" y="1828800"/>
            <a:ext cx="10637215" cy="804672"/>
          </a:xfrm>
          <a:prstGeom prst="rect">
            <a:avLst/>
          </a:prstGeom>
          <a:solidFill>
            <a:srgbClr val="FFFFFF"/>
          </a:solidFill>
          <a:ln w="9525">
            <a:solidFill>
              <a:srgbClr val="E2E1DC"/>
            </a:solidFill>
            <a:prstDash val="solid"/>
          </a:ln>
        </p:spPr>
      </p:sp>
      <p:sp>
        <p:nvSpPr>
          <p:cNvPr id="6" name="Shape 4"/>
          <p:cNvSpPr/>
          <p:nvPr/>
        </p:nvSpPr>
        <p:spPr>
          <a:xfrm>
            <a:off x="777240" y="1828800"/>
            <a:ext cx="91440" cy="804672"/>
          </a:xfrm>
          <a:prstGeom prst="rect">
            <a:avLst/>
          </a:prstGeom>
          <a:solidFill>
            <a:srgbClr val="004F71"/>
          </a:solidFill>
          <a:ln/>
        </p:spPr>
      </p:sp>
      <p:sp>
        <p:nvSpPr>
          <p:cNvPr id="7" name="Shape 5"/>
          <p:cNvSpPr/>
          <p:nvPr/>
        </p:nvSpPr>
        <p:spPr>
          <a:xfrm>
            <a:off x="1051560" y="1993392"/>
            <a:ext cx="475488" cy="475488"/>
          </a:xfrm>
          <a:prstGeom prst="ellipse">
            <a:avLst/>
          </a:prstGeom>
          <a:solidFill>
            <a:srgbClr val="004F71"/>
          </a:solidFill>
          <a:ln/>
        </p:spPr>
      </p:sp>
      <p:pic>
        <p:nvPicPr>
          <p:cNvPr id="8" name="Image 0" descr="preencoded.png">    </p:cNvPr>
          <p:cNvPicPr>
            <a:picLocks noChangeAspect="1"/>
          </p:cNvPicPr>
          <p:nvPr/>
        </p:nvPicPr>
        <p:blipFill>
          <a:blip r:embed="rId1"/>
          <a:stretch>
            <a:fillRect/>
          </a:stretch>
        </p:blipFill>
        <p:spPr>
          <a:xfrm>
            <a:off x="1175187" y="2117019"/>
            <a:ext cx="228234" cy="228234"/>
          </a:xfrm>
          <a:prstGeom prst="rect">
            <a:avLst/>
          </a:prstGeom>
        </p:spPr>
      </p:pic>
      <p:sp>
        <p:nvSpPr>
          <p:cNvPr id="9" name="Text 6"/>
          <p:cNvSpPr/>
          <p:nvPr/>
        </p:nvSpPr>
        <p:spPr>
          <a:xfrm>
            <a:off x="1737360" y="1828800"/>
            <a:ext cx="2788920" cy="804672"/>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Identifier crosswalks</a:t>
            </a:r>
            <a:endParaRPr lang="en-US" sz="1400" dirty="0"/>
          </a:p>
        </p:txBody>
      </p:sp>
      <p:sp>
        <p:nvSpPr>
          <p:cNvPr id="10" name="Text 7"/>
          <p:cNvSpPr/>
          <p:nvPr/>
        </p:nvSpPr>
        <p:spPr>
          <a:xfrm>
            <a:off x="4617720" y="1828800"/>
            <a:ext cx="6659575" cy="804672"/>
          </a:xfrm>
          <a:prstGeom prst="rect">
            <a:avLst/>
          </a:prstGeom>
          <a:noFill/>
          <a:ln/>
        </p:spPr>
        <p:txBody>
          <a:bodyPr wrap="square" lIns="0" tIns="0" rIns="0" bIns="0" rtlCol="0" anchor="ctr"/>
          <a:lstStyle/>
          <a:p>
            <a:pPr indent="0" marL="0">
              <a:lnSpc>
                <a:spcPct val="102000"/>
              </a:lnSpc>
              <a:buNone/>
            </a:pPr>
            <a:r>
              <a:rPr lang="en-US" sz="1100" dirty="0">
                <a:solidFill>
                  <a:srgbClr val="333333"/>
                </a:solidFill>
                <a:latin typeface="Open Sans" pitchFamily="34" charset="0"/>
                <a:ea typeface="Open Sans" pitchFamily="34" charset="-122"/>
                <a:cs typeface="Open Sans" pitchFamily="34" charset="-120"/>
              </a:rPr>
              <a:t>Firms carry different IDs in different databases: PERMNO ↔ GVKEY ↔ CIK. Join on the right crosswalk or you silently merge the wrong companies.</a:t>
            </a:r>
            <a:endParaRPr lang="en-US" sz="1100" dirty="0"/>
          </a:p>
        </p:txBody>
      </p:sp>
      <p:sp>
        <p:nvSpPr>
          <p:cNvPr id="11" name="Shape 8"/>
          <p:cNvSpPr/>
          <p:nvPr/>
        </p:nvSpPr>
        <p:spPr>
          <a:xfrm>
            <a:off x="777240" y="2697480"/>
            <a:ext cx="10637215" cy="804672"/>
          </a:xfrm>
          <a:prstGeom prst="rect">
            <a:avLst/>
          </a:prstGeom>
          <a:solidFill>
            <a:srgbClr val="F4F4F2"/>
          </a:solidFill>
          <a:ln w="9525">
            <a:solidFill>
              <a:srgbClr val="E2E1DC"/>
            </a:solidFill>
            <a:prstDash val="solid"/>
          </a:ln>
        </p:spPr>
      </p:sp>
      <p:sp>
        <p:nvSpPr>
          <p:cNvPr id="12" name="Shape 9"/>
          <p:cNvSpPr/>
          <p:nvPr/>
        </p:nvSpPr>
        <p:spPr>
          <a:xfrm>
            <a:off x="777240" y="2697480"/>
            <a:ext cx="91440" cy="804672"/>
          </a:xfrm>
          <a:prstGeom prst="rect">
            <a:avLst/>
          </a:prstGeom>
          <a:solidFill>
            <a:srgbClr val="004F71"/>
          </a:solidFill>
          <a:ln/>
        </p:spPr>
      </p:sp>
      <p:sp>
        <p:nvSpPr>
          <p:cNvPr id="13" name="Shape 10"/>
          <p:cNvSpPr/>
          <p:nvPr/>
        </p:nvSpPr>
        <p:spPr>
          <a:xfrm>
            <a:off x="1051560" y="2862072"/>
            <a:ext cx="475488" cy="475488"/>
          </a:xfrm>
          <a:prstGeom prst="ellipse">
            <a:avLst/>
          </a:prstGeom>
          <a:solidFill>
            <a:srgbClr val="004F71"/>
          </a:solidFill>
          <a:ln/>
        </p:spPr>
      </p:sp>
      <p:pic>
        <p:nvPicPr>
          <p:cNvPr id="14" name="Image 1" descr="preencoded.png">    </p:cNvPr>
          <p:cNvPicPr>
            <a:picLocks noChangeAspect="1"/>
          </p:cNvPicPr>
          <p:nvPr/>
        </p:nvPicPr>
        <p:blipFill>
          <a:blip r:embed="rId2"/>
          <a:stretch>
            <a:fillRect/>
          </a:stretch>
        </p:blipFill>
        <p:spPr>
          <a:xfrm>
            <a:off x="1175187" y="2985699"/>
            <a:ext cx="228234" cy="228234"/>
          </a:xfrm>
          <a:prstGeom prst="rect">
            <a:avLst/>
          </a:prstGeom>
        </p:spPr>
      </p:pic>
      <p:sp>
        <p:nvSpPr>
          <p:cNvPr id="15" name="Text 11"/>
          <p:cNvSpPr/>
          <p:nvPr/>
        </p:nvSpPr>
        <p:spPr>
          <a:xfrm>
            <a:off x="1737360" y="2697480"/>
            <a:ext cx="2788920" cy="804672"/>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Survivorship &amp; look-ahead</a:t>
            </a:r>
            <a:endParaRPr lang="en-US" sz="1400" dirty="0"/>
          </a:p>
        </p:txBody>
      </p:sp>
      <p:sp>
        <p:nvSpPr>
          <p:cNvPr id="16" name="Text 12"/>
          <p:cNvSpPr/>
          <p:nvPr/>
        </p:nvSpPr>
        <p:spPr>
          <a:xfrm>
            <a:off x="4617720" y="2697480"/>
            <a:ext cx="6659575" cy="804672"/>
          </a:xfrm>
          <a:prstGeom prst="rect">
            <a:avLst/>
          </a:prstGeom>
          <a:noFill/>
          <a:ln/>
        </p:spPr>
        <p:txBody>
          <a:bodyPr wrap="square" lIns="0" tIns="0" rIns="0" bIns="0" rtlCol="0" anchor="ctr"/>
          <a:lstStyle/>
          <a:p>
            <a:pPr indent="0" marL="0">
              <a:lnSpc>
                <a:spcPct val="102000"/>
              </a:lnSpc>
              <a:buNone/>
            </a:pPr>
            <a:r>
              <a:rPr lang="en-US" sz="1100" dirty="0">
                <a:solidFill>
                  <a:srgbClr val="333333"/>
                </a:solidFill>
                <a:latin typeface="Open Sans" pitchFamily="34" charset="0"/>
                <a:ea typeface="Open Sans" pitchFamily="34" charset="-122"/>
                <a:cs typeface="Open Sans" pitchFamily="34" charset="-120"/>
              </a:rPr>
              <a:t>Keeping only survivors, or using info not yet known, bakes in the answer. Fix: an as-of merge — join on what was knowable at each date.</a:t>
            </a:r>
            <a:endParaRPr lang="en-US" sz="1100" dirty="0"/>
          </a:p>
        </p:txBody>
      </p:sp>
      <p:sp>
        <p:nvSpPr>
          <p:cNvPr id="17" name="Shape 13"/>
          <p:cNvSpPr/>
          <p:nvPr/>
        </p:nvSpPr>
        <p:spPr>
          <a:xfrm>
            <a:off x="777240" y="3566160"/>
            <a:ext cx="10637215" cy="804672"/>
          </a:xfrm>
          <a:prstGeom prst="rect">
            <a:avLst/>
          </a:prstGeom>
          <a:solidFill>
            <a:srgbClr val="FFFFFF"/>
          </a:solidFill>
          <a:ln w="9525">
            <a:solidFill>
              <a:srgbClr val="E2E1DC"/>
            </a:solidFill>
            <a:prstDash val="solid"/>
          </a:ln>
        </p:spPr>
      </p:sp>
      <p:sp>
        <p:nvSpPr>
          <p:cNvPr id="18" name="Shape 14"/>
          <p:cNvSpPr/>
          <p:nvPr/>
        </p:nvSpPr>
        <p:spPr>
          <a:xfrm>
            <a:off x="777240" y="3566160"/>
            <a:ext cx="91440" cy="804672"/>
          </a:xfrm>
          <a:prstGeom prst="rect">
            <a:avLst/>
          </a:prstGeom>
          <a:solidFill>
            <a:srgbClr val="004F71"/>
          </a:solidFill>
          <a:ln/>
        </p:spPr>
      </p:sp>
      <p:sp>
        <p:nvSpPr>
          <p:cNvPr id="19" name="Shape 15"/>
          <p:cNvSpPr/>
          <p:nvPr/>
        </p:nvSpPr>
        <p:spPr>
          <a:xfrm>
            <a:off x="1051560" y="3730752"/>
            <a:ext cx="475488" cy="475488"/>
          </a:xfrm>
          <a:prstGeom prst="ellipse">
            <a:avLst/>
          </a:prstGeom>
          <a:solidFill>
            <a:srgbClr val="004F71"/>
          </a:solidFill>
          <a:ln/>
        </p:spPr>
      </p:sp>
      <p:pic>
        <p:nvPicPr>
          <p:cNvPr id="20" name="Image 2" descr="preencoded.png">    </p:cNvPr>
          <p:cNvPicPr>
            <a:picLocks noChangeAspect="1"/>
          </p:cNvPicPr>
          <p:nvPr/>
        </p:nvPicPr>
        <p:blipFill>
          <a:blip r:embed="rId3"/>
          <a:stretch>
            <a:fillRect/>
          </a:stretch>
        </p:blipFill>
        <p:spPr>
          <a:xfrm>
            <a:off x="1175187" y="3854379"/>
            <a:ext cx="228234" cy="228234"/>
          </a:xfrm>
          <a:prstGeom prst="rect">
            <a:avLst/>
          </a:prstGeom>
        </p:spPr>
      </p:pic>
      <p:sp>
        <p:nvSpPr>
          <p:cNvPr id="21" name="Text 16"/>
          <p:cNvSpPr/>
          <p:nvPr/>
        </p:nvSpPr>
        <p:spPr>
          <a:xfrm>
            <a:off x="1737360" y="3566160"/>
            <a:ext cx="2788920" cy="804672"/>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Winsorize by a rule</a:t>
            </a:r>
            <a:endParaRPr lang="en-US" sz="1400" dirty="0"/>
          </a:p>
        </p:txBody>
      </p:sp>
      <p:sp>
        <p:nvSpPr>
          <p:cNvPr id="22" name="Text 17"/>
          <p:cNvSpPr/>
          <p:nvPr/>
        </p:nvSpPr>
        <p:spPr>
          <a:xfrm>
            <a:off x="4617720" y="3566160"/>
            <a:ext cx="6659575" cy="804672"/>
          </a:xfrm>
          <a:prstGeom prst="rect">
            <a:avLst/>
          </a:prstGeom>
          <a:noFill/>
          <a:ln/>
        </p:spPr>
        <p:txBody>
          <a:bodyPr wrap="square" lIns="0" tIns="0" rIns="0" bIns="0" rtlCol="0" anchor="ctr"/>
          <a:lstStyle/>
          <a:p>
            <a:pPr indent="0" marL="0">
              <a:lnSpc>
                <a:spcPct val="102000"/>
              </a:lnSpc>
              <a:buNone/>
            </a:pPr>
            <a:r>
              <a:rPr lang="en-US" sz="1100" dirty="0">
                <a:solidFill>
                  <a:srgbClr val="333333"/>
                </a:solidFill>
                <a:latin typeface="Open Sans" pitchFamily="34" charset="0"/>
                <a:ea typeface="Open Sans" pitchFamily="34" charset="-122"/>
                <a:cs typeface="Open Sans" pitchFamily="34" charset="-120"/>
              </a:rPr>
              <a:t>Outliers can hijack a regression. Trim by a stated rule (e.g. 1st/99th pct) — and write the rule down.</a:t>
            </a:r>
            <a:endParaRPr lang="en-US" sz="1100" dirty="0"/>
          </a:p>
        </p:txBody>
      </p:sp>
      <p:sp>
        <p:nvSpPr>
          <p:cNvPr id="23" name="Shape 18"/>
          <p:cNvSpPr/>
          <p:nvPr/>
        </p:nvSpPr>
        <p:spPr>
          <a:xfrm>
            <a:off x="777240" y="4434840"/>
            <a:ext cx="10637215" cy="804672"/>
          </a:xfrm>
          <a:prstGeom prst="rect">
            <a:avLst/>
          </a:prstGeom>
          <a:solidFill>
            <a:srgbClr val="F4F4F2"/>
          </a:solidFill>
          <a:ln w="9525">
            <a:solidFill>
              <a:srgbClr val="E2E1DC"/>
            </a:solidFill>
            <a:prstDash val="solid"/>
          </a:ln>
        </p:spPr>
      </p:sp>
      <p:sp>
        <p:nvSpPr>
          <p:cNvPr id="24" name="Shape 19"/>
          <p:cNvSpPr/>
          <p:nvPr/>
        </p:nvSpPr>
        <p:spPr>
          <a:xfrm>
            <a:off x="777240" y="4434840"/>
            <a:ext cx="91440" cy="804672"/>
          </a:xfrm>
          <a:prstGeom prst="rect">
            <a:avLst/>
          </a:prstGeom>
          <a:solidFill>
            <a:srgbClr val="004F71"/>
          </a:solidFill>
          <a:ln/>
        </p:spPr>
      </p:sp>
      <p:sp>
        <p:nvSpPr>
          <p:cNvPr id="25" name="Shape 20"/>
          <p:cNvSpPr/>
          <p:nvPr/>
        </p:nvSpPr>
        <p:spPr>
          <a:xfrm>
            <a:off x="1051560" y="4599432"/>
            <a:ext cx="475488" cy="475488"/>
          </a:xfrm>
          <a:prstGeom prst="ellipse">
            <a:avLst/>
          </a:prstGeom>
          <a:solidFill>
            <a:srgbClr val="004F71"/>
          </a:solidFill>
          <a:ln/>
        </p:spPr>
      </p:sp>
      <p:pic>
        <p:nvPicPr>
          <p:cNvPr id="26" name="Image 3" descr="preencoded.png">    </p:cNvPr>
          <p:cNvPicPr>
            <a:picLocks noChangeAspect="1"/>
          </p:cNvPicPr>
          <p:nvPr/>
        </p:nvPicPr>
        <p:blipFill>
          <a:blip r:embed="rId4"/>
          <a:stretch>
            <a:fillRect/>
          </a:stretch>
        </p:blipFill>
        <p:spPr>
          <a:xfrm>
            <a:off x="1175187" y="4723059"/>
            <a:ext cx="228234" cy="228234"/>
          </a:xfrm>
          <a:prstGeom prst="rect">
            <a:avLst/>
          </a:prstGeom>
        </p:spPr>
      </p:pic>
      <p:sp>
        <p:nvSpPr>
          <p:cNvPr id="27" name="Text 21"/>
          <p:cNvSpPr/>
          <p:nvPr/>
        </p:nvSpPr>
        <p:spPr>
          <a:xfrm>
            <a:off x="1737360" y="4434840"/>
            <a:ext cx="2788920" cy="804672"/>
          </a:xfrm>
          <a:prstGeom prst="rect">
            <a:avLst/>
          </a:prstGeom>
          <a:noFill/>
          <a:ln/>
        </p:spPr>
        <p:txBody>
          <a:bodyPr wrap="square" lIns="0" tIns="0" rIns="0" bIns="0" rtlCol="0" anchor="ctr"/>
          <a:lstStyle/>
          <a:p>
            <a:pPr indent="0" marL="0">
              <a:lnSpc>
                <a:spcPct val="95000"/>
              </a:lnSpc>
              <a:buNone/>
            </a:pPr>
            <a:r>
              <a:rPr lang="en-US" sz="1400" b="1" dirty="0">
                <a:solidFill>
                  <a:srgbClr val="005239"/>
                </a:solidFill>
                <a:latin typeface="Poppins" pitchFamily="34" charset="0"/>
                <a:ea typeface="Poppins" pitchFamily="34" charset="-122"/>
                <a:cs typeface="Poppins" pitchFamily="34" charset="-120"/>
              </a:rPr>
              <a:t>Principled missing data</a:t>
            </a:r>
            <a:endParaRPr lang="en-US" sz="1400" dirty="0"/>
          </a:p>
        </p:txBody>
      </p:sp>
      <p:sp>
        <p:nvSpPr>
          <p:cNvPr id="28" name="Text 22"/>
          <p:cNvSpPr/>
          <p:nvPr/>
        </p:nvSpPr>
        <p:spPr>
          <a:xfrm>
            <a:off x="4617720" y="4434840"/>
            <a:ext cx="6659575" cy="804672"/>
          </a:xfrm>
          <a:prstGeom prst="rect">
            <a:avLst/>
          </a:prstGeom>
          <a:noFill/>
          <a:ln/>
        </p:spPr>
        <p:txBody>
          <a:bodyPr wrap="square" lIns="0" tIns="0" rIns="0" bIns="0" rtlCol="0" anchor="ctr"/>
          <a:lstStyle/>
          <a:p>
            <a:pPr indent="0" marL="0">
              <a:lnSpc>
                <a:spcPct val="102000"/>
              </a:lnSpc>
              <a:buNone/>
            </a:pPr>
            <a:r>
              <a:rPr lang="en-US" sz="1100" dirty="0">
                <a:solidFill>
                  <a:srgbClr val="333333"/>
                </a:solidFill>
                <a:latin typeface="Open Sans" pitchFamily="34" charset="0"/>
                <a:ea typeface="Open Sans" pitchFamily="34" charset="-122"/>
                <a:cs typeface="Open Sans" pitchFamily="34" charset="-120"/>
              </a:rPr>
              <a:t>Handle it on purpose, with a stated choice — never by silently dropping rows and hoping.</a:t>
            </a:r>
            <a:endParaRPr lang="en-US" sz="1100" dirty="0"/>
          </a:p>
        </p:txBody>
      </p:sp>
      <p:sp>
        <p:nvSpPr>
          <p:cNvPr id="29" name="Text 23"/>
          <p:cNvSpPr/>
          <p:nvPr/>
        </p:nvSpPr>
        <p:spPr>
          <a:xfrm>
            <a:off x="777240" y="5669280"/>
            <a:ext cx="10637215" cy="365760"/>
          </a:xfrm>
          <a:prstGeom prst="rect">
            <a:avLst/>
          </a:prstGeom>
          <a:noFill/>
          <a:ln/>
        </p:spPr>
        <p:txBody>
          <a:bodyPr wrap="square" lIns="0" tIns="0" rIns="0" bIns="0" rtlCol="0" anchor="ctr"/>
          <a:lstStyle/>
          <a:p>
            <a:pPr algn="ctr" indent="0" marL="0">
              <a:buNone/>
            </a:pPr>
            <a:r>
              <a:rPr lang="en-US" sz="1250" i="1" dirty="0">
                <a:solidFill>
                  <a:srgbClr val="727579"/>
                </a:solidFill>
                <a:latin typeface="Open Sans" pitchFamily="34" charset="0"/>
                <a:ea typeface="Open Sans" pitchFamily="34" charset="-122"/>
                <a:cs typeface="Open Sans" pitchFamily="34" charset="-120"/>
              </a:rPr>
              <a:t>Clean data, built deliberately, is half the paper. The bugs here are silent — they don't error, they just lie.</a:t>
            </a:r>
            <a:endParaRPr lang="en-US" sz="1250" dirty="0"/>
          </a:p>
        </p:txBody>
      </p:sp>
      <p:sp>
        <p:nvSpPr>
          <p:cNvPr id="30" name="Text 24"/>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31" name="Text 25"/>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CC8A00"/>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CC8A00"/>
                </a:solidFill>
                <a:latin typeface="Open Sans" pitchFamily="34" charset="0"/>
                <a:ea typeface="Open Sans" pitchFamily="34" charset="-122"/>
                <a:cs typeface="Open Sans" pitchFamily="34" charset="-120"/>
              </a:rPr>
              <a:t>BLOCK B · THE ONE RULE</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File the PAP before the first outcome regression</a:t>
            </a:r>
            <a:endParaRPr lang="en-US" sz="3000" dirty="0"/>
          </a:p>
        </p:txBody>
      </p:sp>
      <p:sp>
        <p:nvSpPr>
          <p:cNvPr id="5" name="Shape 3"/>
          <p:cNvSpPr/>
          <p:nvPr/>
        </p:nvSpPr>
        <p:spPr>
          <a:xfrm>
            <a:off x="777240" y="1828800"/>
            <a:ext cx="10637215" cy="1371600"/>
          </a:xfrm>
          <a:prstGeom prst="rect">
            <a:avLst/>
          </a:prstGeom>
          <a:solidFill>
            <a:srgbClr val="005239"/>
          </a:solidFill>
          <a:ln/>
          <a:effectLst>
            <a:outerShdw sx="100000" sy="100000" kx="0" ky="0" algn="bl" rotWithShape="0" blurRad="88900" dist="38100" dir="5400000">
              <a:srgbClr val="9A9488">
                <a:alpha val="22000"/>
              </a:srgbClr>
            </a:outerShdw>
          </a:effectLst>
        </p:spPr>
      </p:sp>
      <p:sp>
        <p:nvSpPr>
          <p:cNvPr id="6" name="Shape 4"/>
          <p:cNvSpPr/>
          <p:nvPr/>
        </p:nvSpPr>
        <p:spPr>
          <a:xfrm>
            <a:off x="777240" y="1828800"/>
            <a:ext cx="146304" cy="1371600"/>
          </a:xfrm>
          <a:prstGeom prst="rect">
            <a:avLst/>
          </a:prstGeom>
          <a:solidFill>
            <a:srgbClr val="FFC733"/>
          </a:solidFill>
          <a:ln/>
        </p:spPr>
      </p:sp>
      <p:sp>
        <p:nvSpPr>
          <p:cNvPr id="7" name="Shape 5"/>
          <p:cNvSpPr/>
          <p:nvPr/>
        </p:nvSpPr>
        <p:spPr>
          <a:xfrm>
            <a:off x="1188720" y="2194560"/>
            <a:ext cx="640080" cy="640080"/>
          </a:xfrm>
          <a:prstGeom prst="ellipse">
            <a:avLst/>
          </a:prstGeom>
          <a:solidFill>
            <a:srgbClr val="FFC733"/>
          </a:solidFill>
          <a:ln/>
        </p:spPr>
      </p:sp>
      <p:pic>
        <p:nvPicPr>
          <p:cNvPr id="8" name="Image 0" descr="preencoded.png">    </p:cNvPr>
          <p:cNvPicPr>
            <a:picLocks noChangeAspect="1"/>
          </p:cNvPicPr>
          <p:nvPr/>
        </p:nvPicPr>
        <p:blipFill>
          <a:blip r:embed="rId1"/>
          <a:stretch>
            <a:fillRect/>
          </a:stretch>
        </p:blipFill>
        <p:spPr>
          <a:xfrm>
            <a:off x="1355141" y="2360981"/>
            <a:ext cx="307238" cy="307238"/>
          </a:xfrm>
          <a:prstGeom prst="rect">
            <a:avLst/>
          </a:prstGeom>
        </p:spPr>
      </p:pic>
      <p:sp>
        <p:nvSpPr>
          <p:cNvPr id="9" name="Text 6"/>
          <p:cNvSpPr/>
          <p:nvPr/>
        </p:nvSpPr>
        <p:spPr>
          <a:xfrm>
            <a:off x="2057400" y="1828800"/>
            <a:ext cx="8991295" cy="1371600"/>
          </a:xfrm>
          <a:prstGeom prst="rect">
            <a:avLst/>
          </a:prstGeom>
          <a:noFill/>
          <a:ln/>
        </p:spPr>
        <p:txBody>
          <a:bodyPr wrap="square" lIns="0" tIns="0" rIns="0" bIns="0" rtlCol="0" anchor="ctr"/>
          <a:lstStyle/>
          <a:p>
            <a:pPr algn="l" indent="0" marL="0">
              <a:lnSpc>
                <a:spcPct val="105000"/>
              </a:lnSpc>
              <a:buNone/>
            </a:pPr>
            <a:r>
              <a:rPr lang="en-US" sz="2600" dirty="0">
                <a:solidFill>
                  <a:srgbClr val="FFFFFF"/>
                </a:solidFill>
                <a:latin typeface="Poppins" pitchFamily="34" charset="0"/>
                <a:ea typeface="Poppins" pitchFamily="34" charset="-122"/>
                <a:cs typeface="Poppins" pitchFamily="34" charset="-120"/>
              </a:rPr>
              <a:t>File the PAP as a </a:t>
            </a:r>
            <a:pPr algn="l" indent="0" marL="0">
              <a:lnSpc>
                <a:spcPct val="105000"/>
              </a:lnSpc>
              <a:buNone/>
            </a:pPr>
            <a:r>
              <a:rPr lang="en-US" sz="2600" b="1" dirty="0">
                <a:solidFill>
                  <a:srgbClr val="FFC733"/>
                </a:solidFill>
                <a:latin typeface="Poppins" pitchFamily="34" charset="0"/>
                <a:ea typeface="Poppins" pitchFamily="34" charset="-122"/>
                <a:cs typeface="Poppins" pitchFamily="34" charset="-120"/>
              </a:rPr>
              <a:t>tagged commit</a:t>
            </a:r>
            <a:pPr algn="l" indent="0" marL="0">
              <a:lnSpc>
                <a:spcPct val="105000"/>
              </a:lnSpc>
              <a:buNone/>
            </a:pPr>
            <a:r>
              <a:rPr lang="en-US" sz="2600" dirty="0">
                <a:solidFill>
                  <a:srgbClr val="FFFFFF"/>
                </a:solidFill>
                <a:latin typeface="Poppins" pitchFamily="34" charset="0"/>
                <a:ea typeface="Poppins" pitchFamily="34" charset="-122"/>
                <a:cs typeface="Poppins" pitchFamily="34" charset="-120"/>
              </a:rPr>
              <a:t> — before the first outcome regression.</a:t>
            </a:r>
            <a:endParaRPr lang="en-US" sz="2600" dirty="0"/>
          </a:p>
        </p:txBody>
      </p:sp>
      <p:sp>
        <p:nvSpPr>
          <p:cNvPr id="10" name="Shape 7"/>
          <p:cNvSpPr/>
          <p:nvPr/>
        </p:nvSpPr>
        <p:spPr>
          <a:xfrm>
            <a:off x="777240" y="3520440"/>
            <a:ext cx="3240938" cy="196596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1" name="Shape 8"/>
          <p:cNvSpPr/>
          <p:nvPr/>
        </p:nvSpPr>
        <p:spPr>
          <a:xfrm>
            <a:off x="777240" y="3520440"/>
            <a:ext cx="3240938" cy="91440"/>
          </a:xfrm>
          <a:prstGeom prst="rect">
            <a:avLst/>
          </a:prstGeom>
          <a:solidFill>
            <a:srgbClr val="004F71"/>
          </a:solidFill>
          <a:ln/>
        </p:spPr>
      </p:sp>
      <p:sp>
        <p:nvSpPr>
          <p:cNvPr id="12" name="Shape 9"/>
          <p:cNvSpPr/>
          <p:nvPr/>
        </p:nvSpPr>
        <p:spPr>
          <a:xfrm>
            <a:off x="1097280" y="3794760"/>
            <a:ext cx="548640" cy="548640"/>
          </a:xfrm>
          <a:prstGeom prst="ellipse">
            <a:avLst/>
          </a:prstGeom>
          <a:solidFill>
            <a:srgbClr val="004F71"/>
          </a:solidFill>
          <a:ln/>
        </p:spPr>
      </p:sp>
      <p:pic>
        <p:nvPicPr>
          <p:cNvPr id="13" name="Image 1" descr="preencoded.png">    </p:cNvPr>
          <p:cNvPicPr>
            <a:picLocks noChangeAspect="1"/>
          </p:cNvPicPr>
          <p:nvPr/>
        </p:nvPicPr>
        <p:blipFill>
          <a:blip r:embed="rId2"/>
          <a:stretch>
            <a:fillRect/>
          </a:stretch>
        </p:blipFill>
        <p:spPr>
          <a:xfrm>
            <a:off x="1239926" y="3937406"/>
            <a:ext cx="263347" cy="263347"/>
          </a:xfrm>
          <a:prstGeom prst="rect">
            <a:avLst/>
          </a:prstGeom>
        </p:spPr>
      </p:pic>
      <p:sp>
        <p:nvSpPr>
          <p:cNvPr id="14" name="Text 10"/>
          <p:cNvSpPr/>
          <p:nvPr/>
        </p:nvSpPr>
        <p:spPr>
          <a:xfrm>
            <a:off x="1783080" y="3794760"/>
            <a:ext cx="2006498" cy="548640"/>
          </a:xfrm>
          <a:prstGeom prst="rect">
            <a:avLst/>
          </a:prstGeom>
          <a:noFill/>
          <a:ln/>
        </p:spPr>
        <p:txBody>
          <a:bodyPr wrap="square" lIns="0" tIns="0" rIns="0" bIns="0" rtlCol="0" anchor="ctr"/>
          <a:lstStyle/>
          <a:p>
            <a:pPr indent="0" marL="0">
              <a:lnSpc>
                <a:spcPct val="95000"/>
              </a:lnSpc>
              <a:buNone/>
            </a:pPr>
            <a:r>
              <a:rPr lang="en-US" sz="1250" b="1" dirty="0">
                <a:solidFill>
                  <a:srgbClr val="005239"/>
                </a:solidFill>
                <a:latin typeface="Poppins" pitchFamily="34" charset="0"/>
                <a:ea typeface="Poppins" pitchFamily="34" charset="-122"/>
                <a:cs typeface="Poppins" pitchFamily="34" charset="-120"/>
              </a:rPr>
              <a:t>The timestamp can't be faked</a:t>
            </a:r>
            <a:endParaRPr lang="en-US" sz="1250" dirty="0"/>
          </a:p>
        </p:txBody>
      </p:sp>
      <p:sp>
        <p:nvSpPr>
          <p:cNvPr id="15" name="Text 11"/>
          <p:cNvSpPr/>
          <p:nvPr/>
        </p:nvSpPr>
        <p:spPr>
          <a:xfrm>
            <a:off x="1097280" y="4480560"/>
            <a:ext cx="2600858" cy="86868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A tagged commit carries a time you can't move after the fact — it fixes the moment you committed.</a:t>
            </a:r>
            <a:endParaRPr lang="en-US" sz="1100" dirty="0"/>
          </a:p>
        </p:txBody>
      </p:sp>
      <p:sp>
        <p:nvSpPr>
          <p:cNvPr id="16" name="Shape 12"/>
          <p:cNvSpPr/>
          <p:nvPr/>
        </p:nvSpPr>
        <p:spPr>
          <a:xfrm>
            <a:off x="4475378" y="3520440"/>
            <a:ext cx="3240938" cy="196596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7" name="Shape 13"/>
          <p:cNvSpPr/>
          <p:nvPr/>
        </p:nvSpPr>
        <p:spPr>
          <a:xfrm>
            <a:off x="4475378" y="3520440"/>
            <a:ext cx="3240938" cy="91440"/>
          </a:xfrm>
          <a:prstGeom prst="rect">
            <a:avLst/>
          </a:prstGeom>
          <a:solidFill>
            <a:srgbClr val="008285"/>
          </a:solidFill>
          <a:ln/>
        </p:spPr>
      </p:sp>
      <p:sp>
        <p:nvSpPr>
          <p:cNvPr id="18" name="Shape 14"/>
          <p:cNvSpPr/>
          <p:nvPr/>
        </p:nvSpPr>
        <p:spPr>
          <a:xfrm>
            <a:off x="4795418" y="3794760"/>
            <a:ext cx="548640" cy="548640"/>
          </a:xfrm>
          <a:prstGeom prst="ellipse">
            <a:avLst/>
          </a:prstGeom>
          <a:solidFill>
            <a:srgbClr val="008285"/>
          </a:solidFill>
          <a:ln/>
        </p:spPr>
      </p:sp>
      <p:pic>
        <p:nvPicPr>
          <p:cNvPr id="19" name="Image 2" descr="preencoded.png">    </p:cNvPr>
          <p:cNvPicPr>
            <a:picLocks noChangeAspect="1"/>
          </p:cNvPicPr>
          <p:nvPr/>
        </p:nvPicPr>
        <p:blipFill>
          <a:blip r:embed="rId3"/>
          <a:stretch>
            <a:fillRect/>
          </a:stretch>
        </p:blipFill>
        <p:spPr>
          <a:xfrm>
            <a:off x="4938065" y="3937406"/>
            <a:ext cx="263347" cy="263347"/>
          </a:xfrm>
          <a:prstGeom prst="rect">
            <a:avLst/>
          </a:prstGeom>
        </p:spPr>
      </p:pic>
      <p:sp>
        <p:nvSpPr>
          <p:cNvPr id="20" name="Text 15"/>
          <p:cNvSpPr/>
          <p:nvPr/>
        </p:nvSpPr>
        <p:spPr>
          <a:xfrm>
            <a:off x="5481218" y="3794760"/>
            <a:ext cx="2006498" cy="548640"/>
          </a:xfrm>
          <a:prstGeom prst="rect">
            <a:avLst/>
          </a:prstGeom>
          <a:noFill/>
          <a:ln/>
        </p:spPr>
        <p:txBody>
          <a:bodyPr wrap="square" lIns="0" tIns="0" rIns="0" bIns="0" rtlCol="0" anchor="ctr"/>
          <a:lstStyle/>
          <a:p>
            <a:pPr indent="0" marL="0">
              <a:lnSpc>
                <a:spcPct val="95000"/>
              </a:lnSpc>
              <a:buNone/>
            </a:pPr>
            <a:r>
              <a:rPr lang="en-US" sz="1250" b="1" dirty="0">
                <a:solidFill>
                  <a:srgbClr val="005239"/>
                </a:solidFill>
                <a:latin typeface="Poppins" pitchFamily="34" charset="0"/>
                <a:ea typeface="Poppins" pitchFamily="34" charset="-122"/>
                <a:cs typeface="Poppins" pitchFamily="34" charset="-120"/>
              </a:rPr>
              <a:t>It's your proof</a:t>
            </a:r>
            <a:endParaRPr lang="en-US" sz="1250" dirty="0"/>
          </a:p>
        </p:txBody>
      </p:sp>
      <p:sp>
        <p:nvSpPr>
          <p:cNvPr id="21" name="Text 16"/>
          <p:cNvSpPr/>
          <p:nvPr/>
        </p:nvSpPr>
        <p:spPr>
          <a:xfrm>
            <a:off x="4795418" y="4480560"/>
            <a:ext cx="2600858" cy="86868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When you report the result, the timestamp shows you planned before you saw the answer — no fishing, no forking.</a:t>
            </a:r>
            <a:endParaRPr lang="en-US" sz="1100" dirty="0"/>
          </a:p>
        </p:txBody>
      </p:sp>
      <p:sp>
        <p:nvSpPr>
          <p:cNvPr id="22" name="Shape 17"/>
          <p:cNvSpPr/>
          <p:nvPr/>
        </p:nvSpPr>
        <p:spPr>
          <a:xfrm>
            <a:off x="8173517" y="3520440"/>
            <a:ext cx="3240938" cy="196596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3" name="Shape 18"/>
          <p:cNvSpPr/>
          <p:nvPr/>
        </p:nvSpPr>
        <p:spPr>
          <a:xfrm>
            <a:off x="8173517" y="3520440"/>
            <a:ext cx="3240938" cy="91440"/>
          </a:xfrm>
          <a:prstGeom prst="rect">
            <a:avLst/>
          </a:prstGeom>
          <a:solidFill>
            <a:srgbClr val="CC8A00"/>
          </a:solidFill>
          <a:ln/>
        </p:spPr>
      </p:sp>
      <p:sp>
        <p:nvSpPr>
          <p:cNvPr id="24" name="Shape 19"/>
          <p:cNvSpPr/>
          <p:nvPr/>
        </p:nvSpPr>
        <p:spPr>
          <a:xfrm>
            <a:off x="8493557" y="3794760"/>
            <a:ext cx="548640" cy="548640"/>
          </a:xfrm>
          <a:prstGeom prst="ellipse">
            <a:avLst/>
          </a:prstGeom>
          <a:solidFill>
            <a:srgbClr val="CC8A00"/>
          </a:solidFill>
          <a:ln/>
        </p:spPr>
      </p:sp>
      <p:pic>
        <p:nvPicPr>
          <p:cNvPr id="25" name="Image 3" descr="preencoded.png">    </p:cNvPr>
          <p:cNvPicPr>
            <a:picLocks noChangeAspect="1"/>
          </p:cNvPicPr>
          <p:nvPr/>
        </p:nvPicPr>
        <p:blipFill>
          <a:blip r:embed="rId4"/>
          <a:stretch>
            <a:fillRect/>
          </a:stretch>
        </p:blipFill>
        <p:spPr>
          <a:xfrm>
            <a:off x="8636203" y="3937406"/>
            <a:ext cx="263347" cy="263347"/>
          </a:xfrm>
          <a:prstGeom prst="rect">
            <a:avLst/>
          </a:prstGeom>
        </p:spPr>
      </p:pic>
      <p:sp>
        <p:nvSpPr>
          <p:cNvPr id="26" name="Text 20"/>
          <p:cNvSpPr/>
          <p:nvPr/>
        </p:nvSpPr>
        <p:spPr>
          <a:xfrm>
            <a:off x="9179357" y="3794760"/>
            <a:ext cx="2006498" cy="548640"/>
          </a:xfrm>
          <a:prstGeom prst="rect">
            <a:avLst/>
          </a:prstGeom>
          <a:noFill/>
          <a:ln/>
        </p:spPr>
        <p:txBody>
          <a:bodyPr wrap="square" lIns="0" tIns="0" rIns="0" bIns="0" rtlCol="0" anchor="ctr"/>
          <a:lstStyle/>
          <a:p>
            <a:pPr indent="0" marL="0">
              <a:lnSpc>
                <a:spcPct val="95000"/>
              </a:lnSpc>
              <a:buNone/>
            </a:pPr>
            <a:r>
              <a:rPr lang="en-US" sz="1250" b="1" dirty="0">
                <a:solidFill>
                  <a:srgbClr val="005239"/>
                </a:solidFill>
                <a:latin typeface="Poppins" pitchFamily="34" charset="0"/>
                <a:ea typeface="Poppins" pitchFamily="34" charset="-122"/>
                <a:cs typeface="Poppins" pitchFamily="34" charset="-120"/>
              </a:rPr>
              <a:t>Two minutes, honesty made checkable</a:t>
            </a:r>
            <a:endParaRPr lang="en-US" sz="1250" dirty="0"/>
          </a:p>
        </p:txBody>
      </p:sp>
      <p:sp>
        <p:nvSpPr>
          <p:cNvPr id="27" name="Text 21"/>
          <p:cNvSpPr/>
          <p:nvPr/>
        </p:nvSpPr>
        <p:spPr>
          <a:xfrm>
            <a:off x="8493557" y="4480560"/>
            <a:ext cx="2600858" cy="868680"/>
          </a:xfrm>
          <a:prstGeom prst="rect">
            <a:avLst/>
          </a:prstGeom>
          <a:noFill/>
          <a:ln/>
        </p:spPr>
        <p:txBody>
          <a:bodyPr wrap="square" lIns="0" tIns="0" rIns="0" bIns="0" rtlCol="0" anchor="t"/>
          <a:lstStyle/>
          <a:p>
            <a:pPr indent="0" marL="0">
              <a:lnSpc>
                <a:spcPct val="103000"/>
              </a:lnSpc>
              <a:buNone/>
            </a:pPr>
            <a:r>
              <a:rPr lang="en-US" sz="1100" dirty="0">
                <a:solidFill>
                  <a:srgbClr val="333333"/>
                </a:solidFill>
                <a:latin typeface="Open Sans" pitchFamily="34" charset="0"/>
                <a:ea typeface="Open Sans" pitchFamily="34" charset="-122"/>
                <a:cs typeface="Open Sans" pitchFamily="34" charset="-120"/>
              </a:rPr>
              <a:t>Write the plan, commit it, tag it. You've converted “trust me” into something anyone can verify.</a:t>
            </a:r>
            <a:endParaRPr lang="en-US" sz="1100" dirty="0"/>
          </a:p>
        </p:txBody>
      </p:sp>
      <p:sp>
        <p:nvSpPr>
          <p:cNvPr id="28" name="Text 22"/>
          <p:cNvSpPr/>
          <p:nvPr/>
        </p:nvSpPr>
        <p:spPr>
          <a:xfrm>
            <a:off x="777240" y="5669280"/>
            <a:ext cx="10637215" cy="365760"/>
          </a:xfrm>
          <a:prstGeom prst="rect">
            <a:avLst/>
          </a:prstGeom>
          <a:noFill/>
          <a:ln/>
        </p:spPr>
        <p:txBody>
          <a:bodyPr wrap="square" lIns="0" tIns="0" rIns="0" bIns="0" rtlCol="0" anchor="ctr"/>
          <a:lstStyle/>
          <a:p>
            <a:pPr algn="ctr" indent="0" marL="0">
              <a:buNone/>
            </a:pPr>
            <a:r>
              <a:rPr lang="en-US" sz="1300" i="1" dirty="0">
                <a:solidFill>
                  <a:srgbClr val="CC8A00"/>
                </a:solidFill>
                <a:latin typeface="Open Sans" pitchFamily="34" charset="0"/>
                <a:ea typeface="Open Sans" pitchFamily="34" charset="-122"/>
                <a:cs typeface="Open Sans" pitchFamily="34" charset="-120"/>
              </a:rPr>
              <a:t>Do it before you peek. Not after. The timestamp is your evidence you did not fish.</a:t>
            </a:r>
            <a:endParaRPr lang="en-US" sz="1300" dirty="0"/>
          </a:p>
        </p:txBody>
      </p:sp>
      <p:sp>
        <p:nvSpPr>
          <p:cNvPr id="29" name="Text 23"/>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30" name="Text 24"/>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5239"/>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C8A00"/>
          </a:solidFill>
          <a:ln/>
        </p:spPr>
      </p:sp>
      <p:sp>
        <p:nvSpPr>
          <p:cNvPr id="3" name="Text 1"/>
          <p:cNvSpPr/>
          <p:nvPr/>
        </p:nvSpPr>
        <p:spPr>
          <a:xfrm>
            <a:off x="1005840" y="2148840"/>
            <a:ext cx="9144000" cy="457200"/>
          </a:xfrm>
          <a:prstGeom prst="rect">
            <a:avLst/>
          </a:prstGeom>
          <a:noFill/>
          <a:ln/>
        </p:spPr>
        <p:txBody>
          <a:bodyPr wrap="square" lIns="0" tIns="0" rIns="0" bIns="0" rtlCol="0" anchor="ctr"/>
          <a:lstStyle/>
          <a:p>
            <a:pPr algn="l" indent="0" marL="0">
              <a:buNone/>
            </a:pPr>
            <a:r>
              <a:rPr lang="en-US" sz="1600" b="1" spc="400" kern="0" dirty="0">
                <a:solidFill>
                  <a:srgbClr val="CC8A00"/>
                </a:solidFill>
                <a:latin typeface="Open Sans" pitchFamily="34" charset="0"/>
                <a:ea typeface="Open Sans" pitchFamily="34" charset="-122"/>
                <a:cs typeface="Open Sans" pitchFamily="34" charset="-120"/>
              </a:rPr>
              <a:t>BLOCK C</a:t>
            </a:r>
            <a:endParaRPr lang="en-US" sz="1600" dirty="0"/>
          </a:p>
        </p:txBody>
      </p:sp>
      <p:sp>
        <p:nvSpPr>
          <p:cNvPr id="4" name="Text 2"/>
          <p:cNvSpPr/>
          <p:nvPr/>
        </p:nvSpPr>
        <p:spPr>
          <a:xfrm>
            <a:off x="1005840" y="2606040"/>
            <a:ext cx="10424160" cy="1371600"/>
          </a:xfrm>
          <a:prstGeom prst="rect">
            <a:avLst/>
          </a:prstGeom>
          <a:noFill/>
          <a:ln/>
        </p:spPr>
        <p:txBody>
          <a:bodyPr wrap="square" lIns="0" tIns="0" rIns="0" bIns="0" rtlCol="0" anchor="t"/>
          <a:lstStyle/>
          <a:p>
            <a:pPr algn="l" indent="0" marL="0">
              <a:buNone/>
            </a:pPr>
            <a:r>
              <a:rPr lang="en-US" sz="4000" b="1" dirty="0">
                <a:solidFill>
                  <a:srgbClr val="FFFFFF"/>
                </a:solidFill>
                <a:latin typeface="Poppins" pitchFamily="34" charset="0"/>
                <a:ea typeface="Poppins" pitchFamily="34" charset="-122"/>
                <a:cs typeface="Poppins" pitchFamily="34" charset="-120"/>
              </a:rPr>
              <a:t>Workshop: Lock Your Own Project</a:t>
            </a:r>
            <a:endParaRPr lang="en-US" sz="4000" dirty="0"/>
          </a:p>
        </p:txBody>
      </p:sp>
      <p:sp>
        <p:nvSpPr>
          <p:cNvPr id="5" name="Text 3"/>
          <p:cNvSpPr/>
          <p:nvPr/>
        </p:nvSpPr>
        <p:spPr>
          <a:xfrm>
            <a:off x="1024128" y="4114800"/>
            <a:ext cx="9875520" cy="822960"/>
          </a:xfrm>
          <a:prstGeom prst="rect">
            <a:avLst/>
          </a:prstGeom>
          <a:noFill/>
          <a:ln/>
        </p:spPr>
        <p:txBody>
          <a:bodyPr wrap="square" lIns="0" tIns="0" rIns="0" bIns="0" rtlCol="0" anchor="t"/>
          <a:lstStyle/>
          <a:p>
            <a:pPr algn="l" indent="0" marL="0">
              <a:buNone/>
            </a:pPr>
            <a:r>
              <a:rPr lang="en-US" sz="1700" i="1" dirty="0">
                <a:solidFill>
                  <a:srgbClr val="CFE0D8"/>
                </a:solidFill>
                <a:latin typeface="Open Sans" pitchFamily="34" charset="0"/>
                <a:ea typeface="Open Sans" pitchFamily="34" charset="-122"/>
                <a:cs typeface="Open Sans" pitchFamily="34" charset="-120"/>
              </a:rPr>
              <a:t>Draft your one page — assumption, threats, spec — then read it aloud and let the room stress-test it.</a:t>
            </a:r>
            <a:endParaRPr lang="en-US" sz="1700" dirty="0"/>
          </a:p>
        </p:txBody>
      </p:sp>
      <p:sp>
        <p:nvSpPr>
          <p:cNvPr id="6" name="Shape 4"/>
          <p:cNvSpPr/>
          <p:nvPr/>
        </p:nvSpPr>
        <p:spPr>
          <a:xfrm>
            <a:off x="1024128" y="5120640"/>
            <a:ext cx="2377440" cy="457200"/>
          </a:xfrm>
          <a:prstGeom prst="rect">
            <a:avLst/>
          </a:prstGeom>
          <a:solidFill>
            <a:srgbClr val="0A6247"/>
          </a:solidFill>
          <a:ln w="12700">
            <a:solidFill>
              <a:srgbClr val="CC8A00"/>
            </a:solidFill>
            <a:prstDash val="solid"/>
          </a:ln>
        </p:spPr>
      </p:sp>
      <p:sp>
        <p:nvSpPr>
          <p:cNvPr id="7" name="Text 5"/>
          <p:cNvSpPr/>
          <p:nvPr/>
        </p:nvSpPr>
        <p:spPr>
          <a:xfrm>
            <a:off x="1024128" y="5120640"/>
            <a:ext cx="2377440" cy="457200"/>
          </a:xfrm>
          <a:prstGeom prst="rect">
            <a:avLst/>
          </a:prstGeom>
          <a:noFill/>
          <a:ln/>
        </p:spPr>
        <p:txBody>
          <a:bodyPr wrap="square" lIns="0" tIns="0" rIns="0" bIns="0" rtlCol="0" anchor="ctr"/>
          <a:lstStyle/>
          <a:p>
            <a:pPr algn="ctr" indent="0" marL="0">
              <a:buNone/>
            </a:pPr>
            <a:r>
              <a:rPr lang="en-US" sz="1300" b="1" dirty="0">
                <a:solidFill>
                  <a:srgbClr val="CFE0D8"/>
                </a:solidFill>
                <a:latin typeface="Open Sans" pitchFamily="34" charset="0"/>
                <a:ea typeface="Open Sans" pitchFamily="34" charset="-122"/>
                <a:cs typeface="Open Sans" pitchFamily="34" charset="-120"/>
              </a:rPr>
              <a:t>1:25 – 1:55</a:t>
            </a:r>
            <a:endParaRPr lang="en-US" sz="1300" dirty="0"/>
          </a:p>
        </p:txBody>
      </p:sp>
      <p:sp>
        <p:nvSpPr>
          <p:cNvPr id="8" name="Text 6"/>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6E8578"/>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9" name="Text 7"/>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6E8578"/>
                </a:solidFill>
                <a:latin typeface="Open Sans" pitchFamily="34" charset="0"/>
                <a:ea typeface="Open Sans" pitchFamily="34" charset="-122"/>
                <a:cs typeface="Open San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CC8A00"/>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CC8A00"/>
                </a:solidFill>
                <a:latin typeface="Open Sans" pitchFamily="34" charset="0"/>
                <a:ea typeface="Open Sans" pitchFamily="34" charset="-122"/>
                <a:cs typeface="Open Sans" pitchFamily="34" charset="-120"/>
              </a:rPr>
              <a:t>BLOCK C · DRAFT IT NOW</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Your one page — three things, and only three</a:t>
            </a:r>
            <a:endParaRPr lang="en-US" sz="3000" dirty="0"/>
          </a:p>
        </p:txBody>
      </p:sp>
      <p:sp>
        <p:nvSpPr>
          <p:cNvPr id="5" name="Shape 3"/>
          <p:cNvSpPr/>
          <p:nvPr/>
        </p:nvSpPr>
        <p:spPr>
          <a:xfrm>
            <a:off x="777240" y="1874520"/>
            <a:ext cx="10637215" cy="9144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1874520"/>
            <a:ext cx="822960" cy="914400"/>
          </a:xfrm>
          <a:prstGeom prst="rect">
            <a:avLst/>
          </a:prstGeom>
          <a:solidFill>
            <a:srgbClr val="CC8A00"/>
          </a:solidFill>
          <a:ln/>
        </p:spPr>
      </p:sp>
      <p:sp>
        <p:nvSpPr>
          <p:cNvPr id="7" name="Text 5"/>
          <p:cNvSpPr/>
          <p:nvPr/>
        </p:nvSpPr>
        <p:spPr>
          <a:xfrm>
            <a:off x="777240" y="1874520"/>
            <a:ext cx="82296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Poppins" pitchFamily="34" charset="0"/>
                <a:ea typeface="Poppins" pitchFamily="34" charset="-122"/>
                <a:cs typeface="Poppins" pitchFamily="34" charset="-120"/>
              </a:rPr>
              <a:t>A</a:t>
            </a:r>
            <a:endParaRPr lang="en-US" sz="3200" dirty="0"/>
          </a:p>
        </p:txBody>
      </p:sp>
      <p:sp>
        <p:nvSpPr>
          <p:cNvPr id="8" name="Shape 6"/>
          <p:cNvSpPr/>
          <p:nvPr/>
        </p:nvSpPr>
        <p:spPr>
          <a:xfrm>
            <a:off x="1828800" y="2057400"/>
            <a:ext cx="548640" cy="548640"/>
          </a:xfrm>
          <a:prstGeom prst="ellipse">
            <a:avLst/>
          </a:prstGeom>
          <a:solidFill>
            <a:srgbClr val="005239"/>
          </a:solidFill>
          <a:ln/>
        </p:spPr>
      </p:sp>
      <p:pic>
        <p:nvPicPr>
          <p:cNvPr id="9" name="Image 0" descr="preencoded.png">    </p:cNvPr>
          <p:cNvPicPr>
            <a:picLocks noChangeAspect="1"/>
          </p:cNvPicPr>
          <p:nvPr/>
        </p:nvPicPr>
        <p:blipFill>
          <a:blip r:embed="rId1"/>
          <a:stretch>
            <a:fillRect/>
          </a:stretch>
        </p:blipFill>
        <p:spPr>
          <a:xfrm>
            <a:off x="1971446" y="2200046"/>
            <a:ext cx="263347" cy="263347"/>
          </a:xfrm>
          <a:prstGeom prst="rect">
            <a:avLst/>
          </a:prstGeom>
        </p:spPr>
      </p:pic>
      <p:sp>
        <p:nvSpPr>
          <p:cNvPr id="10" name="Text 7"/>
          <p:cNvSpPr/>
          <p:nvPr/>
        </p:nvSpPr>
        <p:spPr>
          <a:xfrm>
            <a:off x="2606040" y="2002536"/>
            <a:ext cx="8534095" cy="365760"/>
          </a:xfrm>
          <a:prstGeom prst="rect">
            <a:avLst/>
          </a:prstGeom>
          <a:noFill/>
          <a:ln/>
        </p:spPr>
        <p:txBody>
          <a:bodyPr wrap="square" lIns="0" tIns="0" rIns="0" bIns="0" rtlCol="0" anchor="t"/>
          <a:lstStyle/>
          <a:p>
            <a:pPr indent="0" marL="0">
              <a:buNone/>
            </a:pPr>
            <a:r>
              <a:rPr lang="en-US" sz="1550" b="1" dirty="0">
                <a:solidFill>
                  <a:srgbClr val="005239"/>
                </a:solidFill>
                <a:latin typeface="Poppins" pitchFamily="34" charset="0"/>
                <a:ea typeface="Poppins" pitchFamily="34" charset="-122"/>
                <a:cs typeface="Poppins" pitchFamily="34" charset="-120"/>
              </a:rPr>
              <a:t>The identifying-assumption sentence</a:t>
            </a:r>
            <a:endParaRPr lang="en-US" sz="1550" dirty="0"/>
          </a:p>
        </p:txBody>
      </p:sp>
      <p:sp>
        <p:nvSpPr>
          <p:cNvPr id="11" name="Text 8"/>
          <p:cNvSpPr/>
          <p:nvPr/>
        </p:nvSpPr>
        <p:spPr>
          <a:xfrm>
            <a:off x="2606040" y="2350008"/>
            <a:ext cx="8534095" cy="384048"/>
          </a:xfrm>
          <a:prstGeom prst="rect">
            <a:avLst/>
          </a:prstGeom>
          <a:noFill/>
          <a:ln/>
        </p:spPr>
        <p:txBody>
          <a:bodyPr wrap="square" lIns="0" tIns="0" rIns="0" bIns="0" rtlCol="0" anchor="t"/>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Fill in every blank from slide 8: treated, controls, the effect, the assumption, and the BECAUSE.</a:t>
            </a:r>
            <a:endParaRPr lang="en-US" sz="1150" dirty="0"/>
          </a:p>
        </p:txBody>
      </p:sp>
      <p:sp>
        <p:nvSpPr>
          <p:cNvPr id="12" name="Shape 9"/>
          <p:cNvSpPr/>
          <p:nvPr/>
        </p:nvSpPr>
        <p:spPr>
          <a:xfrm>
            <a:off x="777240" y="2935224"/>
            <a:ext cx="10637215" cy="9144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3" name="Shape 10"/>
          <p:cNvSpPr/>
          <p:nvPr/>
        </p:nvSpPr>
        <p:spPr>
          <a:xfrm>
            <a:off x="777240" y="2935224"/>
            <a:ext cx="822960" cy="914400"/>
          </a:xfrm>
          <a:prstGeom prst="rect">
            <a:avLst/>
          </a:prstGeom>
          <a:solidFill>
            <a:srgbClr val="CC8A00"/>
          </a:solidFill>
          <a:ln/>
        </p:spPr>
      </p:sp>
      <p:sp>
        <p:nvSpPr>
          <p:cNvPr id="14" name="Text 11"/>
          <p:cNvSpPr/>
          <p:nvPr/>
        </p:nvSpPr>
        <p:spPr>
          <a:xfrm>
            <a:off x="777240" y="2935224"/>
            <a:ext cx="82296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Poppins" pitchFamily="34" charset="0"/>
                <a:ea typeface="Poppins" pitchFamily="34" charset="-122"/>
                <a:cs typeface="Poppins" pitchFamily="34" charset="-120"/>
              </a:rPr>
              <a:t>B</a:t>
            </a:r>
            <a:endParaRPr lang="en-US" sz="3200" dirty="0"/>
          </a:p>
        </p:txBody>
      </p:sp>
      <p:sp>
        <p:nvSpPr>
          <p:cNvPr id="15" name="Shape 12"/>
          <p:cNvSpPr/>
          <p:nvPr/>
        </p:nvSpPr>
        <p:spPr>
          <a:xfrm>
            <a:off x="1828800" y="3118104"/>
            <a:ext cx="548640" cy="548640"/>
          </a:xfrm>
          <a:prstGeom prst="ellipse">
            <a:avLst/>
          </a:prstGeom>
          <a:solidFill>
            <a:srgbClr val="005239"/>
          </a:solidFill>
          <a:ln/>
        </p:spPr>
      </p:sp>
      <p:pic>
        <p:nvPicPr>
          <p:cNvPr id="16" name="Image 1" descr="preencoded.png">    </p:cNvPr>
          <p:cNvPicPr>
            <a:picLocks noChangeAspect="1"/>
          </p:cNvPicPr>
          <p:nvPr/>
        </p:nvPicPr>
        <p:blipFill>
          <a:blip r:embed="rId2"/>
          <a:stretch>
            <a:fillRect/>
          </a:stretch>
        </p:blipFill>
        <p:spPr>
          <a:xfrm>
            <a:off x="1971446" y="3260750"/>
            <a:ext cx="263347" cy="263347"/>
          </a:xfrm>
          <a:prstGeom prst="rect">
            <a:avLst/>
          </a:prstGeom>
        </p:spPr>
      </p:pic>
      <p:sp>
        <p:nvSpPr>
          <p:cNvPr id="17" name="Text 13"/>
          <p:cNvSpPr/>
          <p:nvPr/>
        </p:nvSpPr>
        <p:spPr>
          <a:xfrm>
            <a:off x="2606040" y="3063240"/>
            <a:ext cx="8534095" cy="365760"/>
          </a:xfrm>
          <a:prstGeom prst="rect">
            <a:avLst/>
          </a:prstGeom>
          <a:noFill/>
          <a:ln/>
        </p:spPr>
        <p:txBody>
          <a:bodyPr wrap="square" lIns="0" tIns="0" rIns="0" bIns="0" rtlCol="0" anchor="t"/>
          <a:lstStyle/>
          <a:p>
            <a:pPr indent="0" marL="0">
              <a:buNone/>
            </a:pPr>
            <a:r>
              <a:rPr lang="en-US" sz="1550" b="1" dirty="0">
                <a:solidFill>
                  <a:srgbClr val="005239"/>
                </a:solidFill>
                <a:latin typeface="Poppins" pitchFamily="34" charset="0"/>
                <a:ea typeface="Poppins" pitchFamily="34" charset="-122"/>
                <a:cs typeface="Poppins" pitchFamily="34" charset="-120"/>
              </a:rPr>
              <a:t>A 3-row threats-and-responses table</a:t>
            </a:r>
            <a:endParaRPr lang="en-US" sz="1550" dirty="0"/>
          </a:p>
        </p:txBody>
      </p:sp>
      <p:sp>
        <p:nvSpPr>
          <p:cNvPr id="18" name="Text 14"/>
          <p:cNvSpPr/>
          <p:nvPr/>
        </p:nvSpPr>
        <p:spPr>
          <a:xfrm>
            <a:off x="2606040" y="3410712"/>
            <a:ext cx="8534095" cy="384048"/>
          </a:xfrm>
          <a:prstGeom prst="rect">
            <a:avLst/>
          </a:prstGeom>
          <a:noFill/>
          <a:ln/>
        </p:spPr>
        <p:txBody>
          <a:bodyPr wrap="square" lIns="0" tIns="0" rIns="0" bIns="0" rtlCol="0" anchor="t"/>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Your three biggest threats, each with its design response — you refereeing yourself.</a:t>
            </a:r>
            <a:endParaRPr lang="en-US" sz="1150" dirty="0"/>
          </a:p>
        </p:txBody>
      </p:sp>
      <p:sp>
        <p:nvSpPr>
          <p:cNvPr id="19" name="Shape 15"/>
          <p:cNvSpPr/>
          <p:nvPr/>
        </p:nvSpPr>
        <p:spPr>
          <a:xfrm>
            <a:off x="777240" y="3995928"/>
            <a:ext cx="10637215" cy="9144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0" name="Shape 16"/>
          <p:cNvSpPr/>
          <p:nvPr/>
        </p:nvSpPr>
        <p:spPr>
          <a:xfrm>
            <a:off x="777240" y="3995928"/>
            <a:ext cx="822960" cy="914400"/>
          </a:xfrm>
          <a:prstGeom prst="rect">
            <a:avLst/>
          </a:prstGeom>
          <a:solidFill>
            <a:srgbClr val="CC8A00"/>
          </a:solidFill>
          <a:ln/>
        </p:spPr>
      </p:sp>
      <p:sp>
        <p:nvSpPr>
          <p:cNvPr id="21" name="Text 17"/>
          <p:cNvSpPr/>
          <p:nvPr/>
        </p:nvSpPr>
        <p:spPr>
          <a:xfrm>
            <a:off x="777240" y="3995928"/>
            <a:ext cx="82296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Poppins" pitchFamily="34" charset="0"/>
                <a:ea typeface="Poppins" pitchFamily="34" charset="-122"/>
                <a:cs typeface="Poppins" pitchFamily="34" charset="-120"/>
              </a:rPr>
              <a:t>C</a:t>
            </a:r>
            <a:endParaRPr lang="en-US" sz="3200" dirty="0"/>
          </a:p>
        </p:txBody>
      </p:sp>
      <p:sp>
        <p:nvSpPr>
          <p:cNvPr id="22" name="Shape 18"/>
          <p:cNvSpPr/>
          <p:nvPr/>
        </p:nvSpPr>
        <p:spPr>
          <a:xfrm>
            <a:off x="1828800" y="4178808"/>
            <a:ext cx="548640" cy="548640"/>
          </a:xfrm>
          <a:prstGeom prst="ellipse">
            <a:avLst/>
          </a:prstGeom>
          <a:solidFill>
            <a:srgbClr val="005239"/>
          </a:solidFill>
          <a:ln/>
        </p:spPr>
      </p:sp>
      <p:pic>
        <p:nvPicPr>
          <p:cNvPr id="23" name="Image 2" descr="preencoded.png">    </p:cNvPr>
          <p:cNvPicPr>
            <a:picLocks noChangeAspect="1"/>
          </p:cNvPicPr>
          <p:nvPr/>
        </p:nvPicPr>
        <p:blipFill>
          <a:blip r:embed="rId3"/>
          <a:stretch>
            <a:fillRect/>
          </a:stretch>
        </p:blipFill>
        <p:spPr>
          <a:xfrm>
            <a:off x="1971446" y="4321454"/>
            <a:ext cx="263347" cy="263347"/>
          </a:xfrm>
          <a:prstGeom prst="rect">
            <a:avLst/>
          </a:prstGeom>
        </p:spPr>
      </p:pic>
      <p:sp>
        <p:nvSpPr>
          <p:cNvPr id="24" name="Text 19"/>
          <p:cNvSpPr/>
          <p:nvPr/>
        </p:nvSpPr>
        <p:spPr>
          <a:xfrm>
            <a:off x="2606040" y="4123944"/>
            <a:ext cx="8534095" cy="365760"/>
          </a:xfrm>
          <a:prstGeom prst="rect">
            <a:avLst/>
          </a:prstGeom>
          <a:noFill/>
          <a:ln/>
        </p:spPr>
        <p:txBody>
          <a:bodyPr wrap="square" lIns="0" tIns="0" rIns="0" bIns="0" rtlCol="0" anchor="t"/>
          <a:lstStyle/>
          <a:p>
            <a:pPr indent="0" marL="0">
              <a:buNone/>
            </a:pPr>
            <a:r>
              <a:rPr lang="en-US" sz="1550" b="1" dirty="0">
                <a:solidFill>
                  <a:srgbClr val="005239"/>
                </a:solidFill>
                <a:latin typeface="Poppins" pitchFamily="34" charset="0"/>
                <a:ea typeface="Poppins" pitchFamily="34" charset="-122"/>
                <a:cs typeface="Poppins" pitchFamily="34" charset="-120"/>
              </a:rPr>
              <a:t>The primary-specification line</a:t>
            </a:r>
            <a:endParaRPr lang="en-US" sz="1550" dirty="0"/>
          </a:p>
        </p:txBody>
      </p:sp>
      <p:sp>
        <p:nvSpPr>
          <p:cNvPr id="25" name="Text 20"/>
          <p:cNvSpPr/>
          <p:nvPr/>
        </p:nvSpPr>
        <p:spPr>
          <a:xfrm>
            <a:off x="2606040" y="4471416"/>
            <a:ext cx="8534095" cy="384048"/>
          </a:xfrm>
          <a:prstGeom prst="rect">
            <a:avLst/>
          </a:prstGeom>
          <a:noFill/>
          <a:ln/>
        </p:spPr>
        <p:txBody>
          <a:bodyPr wrap="square" lIns="0" tIns="0" rIns="0" bIns="0" rtlCol="0" anchor="t"/>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outcome ~ treatment + controls + FE, clustered by ___, estimated by ___ — every part named.</a:t>
            </a:r>
            <a:endParaRPr lang="en-US" sz="1150" dirty="0"/>
          </a:p>
        </p:txBody>
      </p:sp>
      <p:sp>
        <p:nvSpPr>
          <p:cNvPr id="26" name="Text 21"/>
          <p:cNvSpPr/>
          <p:nvPr/>
        </p:nvSpPr>
        <p:spPr>
          <a:xfrm>
            <a:off x="777240" y="5257800"/>
            <a:ext cx="10637215" cy="365760"/>
          </a:xfrm>
          <a:prstGeom prst="rect">
            <a:avLst/>
          </a:prstGeom>
          <a:noFill/>
          <a:ln/>
        </p:spPr>
        <p:txBody>
          <a:bodyPr wrap="square" lIns="0" tIns="0" rIns="0" bIns="0" rtlCol="0" anchor="ctr"/>
          <a:lstStyle/>
          <a:p>
            <a:pPr algn="ctr" indent="0" marL="0">
              <a:buNone/>
            </a:pPr>
            <a:r>
              <a:rPr lang="en-US" sz="1300" i="1" dirty="0">
                <a:solidFill>
                  <a:srgbClr val="CC8A00"/>
                </a:solidFill>
                <a:latin typeface="Open Sans" pitchFamily="34" charset="0"/>
                <a:ea typeface="Open Sans" pitchFamily="34" charset="-122"/>
                <a:cs typeface="Open Sans" pitchFamily="34" charset="-120"/>
              </a:rPr>
              <a:t>Get all three down honestly and you have the design half of your capstone paper — Week 8 is just execution.</a:t>
            </a:r>
            <a:endParaRPr lang="en-US" sz="1300" dirty="0"/>
          </a:p>
        </p:txBody>
      </p:sp>
      <p:sp>
        <p:nvSpPr>
          <p:cNvPr id="27" name="Text 22"/>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28" name="Text 23"/>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CC8A00"/>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CC8A00"/>
                </a:solidFill>
                <a:latin typeface="Open Sans" pitchFamily="34" charset="0"/>
                <a:ea typeface="Open Sans" pitchFamily="34" charset="-122"/>
                <a:cs typeface="Open Sans" pitchFamily="34" charset="-120"/>
              </a:rPr>
              <a:t>BLOCK C · THE HEART OF TODAY</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Round-robin — 2 minutes each</a:t>
            </a:r>
            <a:endParaRPr lang="en-US" sz="3000" dirty="0"/>
          </a:p>
        </p:txBody>
      </p:sp>
      <p:sp>
        <p:nvSpPr>
          <p:cNvPr id="5" name="Text 3"/>
          <p:cNvSpPr/>
          <p:nvPr/>
        </p:nvSpPr>
        <p:spPr>
          <a:xfrm>
            <a:off x="777240" y="1828800"/>
            <a:ext cx="10637215" cy="365760"/>
          </a:xfrm>
          <a:prstGeom prst="rect">
            <a:avLst/>
          </a:prstGeom>
          <a:noFill/>
          <a:ln/>
        </p:spPr>
        <p:txBody>
          <a:bodyPr wrap="square" lIns="0" tIns="0" rIns="0" bIns="0" rtlCol="0" anchor="ctr"/>
          <a:lstStyle/>
          <a:p>
            <a:pPr indent="0" marL="0">
              <a:buNone/>
            </a:pPr>
            <a:r>
              <a:rPr lang="en-US" sz="1500" b="1" dirty="0">
                <a:solidFill>
                  <a:srgbClr val="005239"/>
                </a:solidFill>
                <a:latin typeface="Open Sans" pitchFamily="34" charset="0"/>
                <a:ea typeface="Open Sans" pitchFamily="34" charset="-122"/>
                <a:cs typeface="Open Sans" pitchFamily="34" charset="-120"/>
              </a:rPr>
              <a:t>Read your identifying-assumption sentence to the room. Then the room does its job:</a:t>
            </a:r>
            <a:endParaRPr lang="en-US" sz="1500" dirty="0"/>
          </a:p>
        </p:txBody>
      </p:sp>
      <p:sp>
        <p:nvSpPr>
          <p:cNvPr id="6" name="Shape 4"/>
          <p:cNvSpPr/>
          <p:nvPr/>
        </p:nvSpPr>
        <p:spPr>
          <a:xfrm>
            <a:off x="777240" y="2331720"/>
            <a:ext cx="3240938" cy="18288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7" name="Shape 5"/>
          <p:cNvSpPr/>
          <p:nvPr/>
        </p:nvSpPr>
        <p:spPr>
          <a:xfrm>
            <a:off x="1986229" y="2606040"/>
            <a:ext cx="822960" cy="822960"/>
          </a:xfrm>
          <a:prstGeom prst="ellipse">
            <a:avLst/>
          </a:prstGeom>
          <a:solidFill>
            <a:srgbClr val="CC8A00"/>
          </a:solidFill>
          <a:ln/>
        </p:spPr>
      </p:sp>
      <p:pic>
        <p:nvPicPr>
          <p:cNvPr id="8" name="Image 0" descr="preencoded.png">    </p:cNvPr>
          <p:cNvPicPr>
            <a:picLocks noChangeAspect="1"/>
          </p:cNvPicPr>
          <p:nvPr/>
        </p:nvPicPr>
        <p:blipFill>
          <a:blip r:embed="rId1"/>
          <a:stretch>
            <a:fillRect/>
          </a:stretch>
        </p:blipFill>
        <p:spPr>
          <a:xfrm>
            <a:off x="2200199" y="2820010"/>
            <a:ext cx="395021" cy="395021"/>
          </a:xfrm>
          <a:prstGeom prst="rect">
            <a:avLst/>
          </a:prstGeom>
        </p:spPr>
      </p:pic>
      <p:sp>
        <p:nvSpPr>
          <p:cNvPr id="9" name="Text 6"/>
          <p:cNvSpPr/>
          <p:nvPr/>
        </p:nvSpPr>
        <p:spPr>
          <a:xfrm>
            <a:off x="1051560" y="3474720"/>
            <a:ext cx="2692298" cy="365760"/>
          </a:xfrm>
          <a:prstGeom prst="rect">
            <a:avLst/>
          </a:prstGeom>
          <a:noFill/>
          <a:ln/>
        </p:spPr>
        <p:txBody>
          <a:bodyPr wrap="square" lIns="0" tIns="0" rIns="0" bIns="0" rtlCol="0" anchor="t"/>
          <a:lstStyle/>
          <a:p>
            <a:pPr algn="ctr" indent="0" marL="0">
              <a:buNone/>
            </a:pPr>
            <a:r>
              <a:rPr lang="en-US" sz="1550" b="1" dirty="0">
                <a:solidFill>
                  <a:srgbClr val="005239"/>
                </a:solidFill>
                <a:latin typeface="Poppins" pitchFamily="34" charset="0"/>
                <a:ea typeface="Poppins" pitchFamily="34" charset="-122"/>
                <a:cs typeface="Poppins" pitchFamily="34" charset="-120"/>
              </a:rPr>
              <a:t>You read it aloud</a:t>
            </a:r>
            <a:endParaRPr lang="en-US" sz="1550" dirty="0"/>
          </a:p>
        </p:txBody>
      </p:sp>
      <p:sp>
        <p:nvSpPr>
          <p:cNvPr id="10" name="Text 7"/>
          <p:cNvSpPr/>
          <p:nvPr/>
        </p:nvSpPr>
        <p:spPr>
          <a:xfrm>
            <a:off x="1051560" y="3813048"/>
            <a:ext cx="2692298" cy="320040"/>
          </a:xfrm>
          <a:prstGeom prst="rect">
            <a:avLst/>
          </a:prstGeom>
          <a:noFill/>
          <a:ln/>
        </p:spPr>
        <p:txBody>
          <a:bodyPr wrap="square" lIns="0" tIns="0" rIns="0" bIns="0" rtlCol="0" anchor="t"/>
          <a:lstStyle/>
          <a:p>
            <a:pPr algn="ctr" indent="0" marL="0">
              <a:lnSpc>
                <a:spcPct val="100000"/>
              </a:lnSpc>
              <a:buNone/>
            </a:pPr>
            <a:r>
              <a:rPr lang="en-US" sz="1050" dirty="0">
                <a:solidFill>
                  <a:srgbClr val="333333"/>
                </a:solidFill>
                <a:latin typeface="Open Sans" pitchFamily="34" charset="0"/>
                <a:ea typeface="Open Sans" pitchFamily="34" charset="-122"/>
                <a:cs typeface="Open Sans" pitchFamily="34" charset="-120"/>
              </a:rPr>
              <a:t>one sentence — who you compare, what you estimate, the assumption, the because.</a:t>
            </a:r>
            <a:endParaRPr lang="en-US" sz="1050" dirty="0"/>
          </a:p>
        </p:txBody>
      </p:sp>
      <p:sp>
        <p:nvSpPr>
          <p:cNvPr id="11" name="Shape 8"/>
          <p:cNvSpPr/>
          <p:nvPr/>
        </p:nvSpPr>
        <p:spPr>
          <a:xfrm>
            <a:off x="4475378" y="2331720"/>
            <a:ext cx="3240938" cy="18288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2" name="Shape 9"/>
          <p:cNvSpPr/>
          <p:nvPr/>
        </p:nvSpPr>
        <p:spPr>
          <a:xfrm>
            <a:off x="5684368" y="2606040"/>
            <a:ext cx="822960" cy="822960"/>
          </a:xfrm>
          <a:prstGeom prst="ellipse">
            <a:avLst/>
          </a:prstGeom>
          <a:solidFill>
            <a:srgbClr val="CC8A00"/>
          </a:solidFill>
          <a:ln/>
        </p:spPr>
      </p:sp>
      <p:pic>
        <p:nvPicPr>
          <p:cNvPr id="13" name="Image 1" descr="preencoded.png">    </p:cNvPr>
          <p:cNvPicPr>
            <a:picLocks noChangeAspect="1"/>
          </p:cNvPicPr>
          <p:nvPr/>
        </p:nvPicPr>
        <p:blipFill>
          <a:blip r:embed="rId2"/>
          <a:stretch>
            <a:fillRect/>
          </a:stretch>
        </p:blipFill>
        <p:spPr>
          <a:xfrm>
            <a:off x="5898337" y="2820010"/>
            <a:ext cx="395021" cy="395021"/>
          </a:xfrm>
          <a:prstGeom prst="rect">
            <a:avLst/>
          </a:prstGeom>
        </p:spPr>
      </p:pic>
      <p:sp>
        <p:nvSpPr>
          <p:cNvPr id="14" name="Text 10"/>
          <p:cNvSpPr/>
          <p:nvPr/>
        </p:nvSpPr>
        <p:spPr>
          <a:xfrm>
            <a:off x="4749698" y="3474720"/>
            <a:ext cx="2692298" cy="365760"/>
          </a:xfrm>
          <a:prstGeom prst="rect">
            <a:avLst/>
          </a:prstGeom>
          <a:noFill/>
          <a:ln/>
        </p:spPr>
        <p:txBody>
          <a:bodyPr wrap="square" lIns="0" tIns="0" rIns="0" bIns="0" rtlCol="0" anchor="t"/>
          <a:lstStyle/>
          <a:p>
            <a:pPr algn="ctr" indent="0" marL="0">
              <a:buNone/>
            </a:pPr>
            <a:r>
              <a:rPr lang="en-US" sz="1550" b="1" dirty="0">
                <a:solidFill>
                  <a:srgbClr val="005239"/>
                </a:solidFill>
                <a:latin typeface="Poppins" pitchFamily="34" charset="0"/>
                <a:ea typeface="Poppins" pitchFamily="34" charset="-122"/>
                <a:cs typeface="Poppins" pitchFamily="34" charset="-120"/>
              </a:rPr>
              <a:t>The room responds</a:t>
            </a:r>
            <a:endParaRPr lang="en-US" sz="1550" dirty="0"/>
          </a:p>
        </p:txBody>
      </p:sp>
      <p:sp>
        <p:nvSpPr>
          <p:cNvPr id="15" name="Text 11"/>
          <p:cNvSpPr/>
          <p:nvPr/>
        </p:nvSpPr>
        <p:spPr>
          <a:xfrm>
            <a:off x="4749698" y="3813048"/>
            <a:ext cx="2692298" cy="320040"/>
          </a:xfrm>
          <a:prstGeom prst="rect">
            <a:avLst/>
          </a:prstGeom>
          <a:noFill/>
          <a:ln/>
        </p:spPr>
        <p:txBody>
          <a:bodyPr wrap="square" lIns="0" tIns="0" rIns="0" bIns="0" rtlCol="0" anchor="t"/>
          <a:lstStyle/>
          <a:p>
            <a:pPr algn="ctr" indent="0" marL="0">
              <a:lnSpc>
                <a:spcPct val="100000"/>
              </a:lnSpc>
              <a:buNone/>
            </a:pPr>
            <a:r>
              <a:rPr lang="en-US" sz="1050" dirty="0">
                <a:solidFill>
                  <a:srgbClr val="333333"/>
                </a:solidFill>
                <a:latin typeface="Open Sans" pitchFamily="34" charset="0"/>
                <a:ea typeface="Open Sans" pitchFamily="34" charset="-122"/>
                <a:cs typeface="Open Sans" pitchFamily="34" charset="-120"/>
              </a:rPr>
              <a:t>everyone else names ONE threat you missed — not to tear you down, to save you.</a:t>
            </a:r>
            <a:endParaRPr lang="en-US" sz="1050" dirty="0"/>
          </a:p>
        </p:txBody>
      </p:sp>
      <p:sp>
        <p:nvSpPr>
          <p:cNvPr id="16" name="Shape 12"/>
          <p:cNvSpPr/>
          <p:nvPr/>
        </p:nvSpPr>
        <p:spPr>
          <a:xfrm>
            <a:off x="8173517" y="2331720"/>
            <a:ext cx="3240938" cy="182880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17" name="Shape 13"/>
          <p:cNvSpPr/>
          <p:nvPr/>
        </p:nvSpPr>
        <p:spPr>
          <a:xfrm>
            <a:off x="9382506" y="2606040"/>
            <a:ext cx="822960" cy="822960"/>
          </a:xfrm>
          <a:prstGeom prst="ellipse">
            <a:avLst/>
          </a:prstGeom>
          <a:solidFill>
            <a:srgbClr val="CC8A00"/>
          </a:solidFill>
          <a:ln/>
        </p:spPr>
      </p:sp>
      <p:pic>
        <p:nvPicPr>
          <p:cNvPr id="18" name="Image 2" descr="preencoded.png">    </p:cNvPr>
          <p:cNvPicPr>
            <a:picLocks noChangeAspect="1"/>
          </p:cNvPicPr>
          <p:nvPr/>
        </p:nvPicPr>
        <p:blipFill>
          <a:blip r:embed="rId3"/>
          <a:stretch>
            <a:fillRect/>
          </a:stretch>
        </p:blipFill>
        <p:spPr>
          <a:xfrm>
            <a:off x="9596476" y="2820010"/>
            <a:ext cx="395021" cy="395021"/>
          </a:xfrm>
          <a:prstGeom prst="rect">
            <a:avLst/>
          </a:prstGeom>
        </p:spPr>
      </p:pic>
      <p:sp>
        <p:nvSpPr>
          <p:cNvPr id="19" name="Text 14"/>
          <p:cNvSpPr/>
          <p:nvPr/>
        </p:nvSpPr>
        <p:spPr>
          <a:xfrm>
            <a:off x="8447837" y="3474720"/>
            <a:ext cx="2692298" cy="365760"/>
          </a:xfrm>
          <a:prstGeom prst="rect">
            <a:avLst/>
          </a:prstGeom>
          <a:noFill/>
          <a:ln/>
        </p:spPr>
        <p:txBody>
          <a:bodyPr wrap="square" lIns="0" tIns="0" rIns="0" bIns="0" rtlCol="0" anchor="t"/>
          <a:lstStyle/>
          <a:p>
            <a:pPr algn="ctr" indent="0" marL="0">
              <a:buNone/>
            </a:pPr>
            <a:r>
              <a:rPr lang="en-US" sz="1550" b="1" dirty="0">
                <a:solidFill>
                  <a:srgbClr val="005239"/>
                </a:solidFill>
                <a:latin typeface="Poppins" pitchFamily="34" charset="0"/>
                <a:ea typeface="Poppins" pitchFamily="34" charset="-122"/>
                <a:cs typeface="Poppins" pitchFamily="34" charset="-120"/>
              </a:rPr>
              <a:t>Catch it while it's cheap</a:t>
            </a:r>
            <a:endParaRPr lang="en-US" sz="1550" dirty="0"/>
          </a:p>
        </p:txBody>
      </p:sp>
      <p:sp>
        <p:nvSpPr>
          <p:cNvPr id="20" name="Text 15"/>
          <p:cNvSpPr/>
          <p:nvPr/>
        </p:nvSpPr>
        <p:spPr>
          <a:xfrm>
            <a:off x="8447837" y="3813048"/>
            <a:ext cx="2692298" cy="320040"/>
          </a:xfrm>
          <a:prstGeom prst="rect">
            <a:avLst/>
          </a:prstGeom>
          <a:noFill/>
          <a:ln/>
        </p:spPr>
        <p:txBody>
          <a:bodyPr wrap="square" lIns="0" tIns="0" rIns="0" bIns="0" rtlCol="0" anchor="t"/>
          <a:lstStyle/>
          <a:p>
            <a:pPr algn="ctr" indent="0" marL="0">
              <a:lnSpc>
                <a:spcPct val="100000"/>
              </a:lnSpc>
              <a:buNone/>
            </a:pPr>
            <a:r>
              <a:rPr lang="en-US" sz="1050" dirty="0">
                <a:solidFill>
                  <a:srgbClr val="333333"/>
                </a:solidFill>
                <a:latin typeface="Open Sans" pitchFamily="34" charset="0"/>
                <a:ea typeface="Open Sans" pitchFamily="34" charset="-122"/>
                <a:cs typeface="Open Sans" pitchFamily="34" charset="-120"/>
              </a:rPr>
              <a:t>a fatal flaw caught here in August is free; caught after you've run the data, it's a week of your life.</a:t>
            </a:r>
            <a:endParaRPr lang="en-US" sz="1050" dirty="0"/>
          </a:p>
        </p:txBody>
      </p:sp>
      <p:sp>
        <p:nvSpPr>
          <p:cNvPr id="21" name="Shape 16"/>
          <p:cNvSpPr/>
          <p:nvPr/>
        </p:nvSpPr>
        <p:spPr>
          <a:xfrm>
            <a:off x="777240" y="4480560"/>
            <a:ext cx="10637215" cy="1143000"/>
          </a:xfrm>
          <a:prstGeom prst="rect">
            <a:avLst/>
          </a:prstGeom>
          <a:solidFill>
            <a:srgbClr val="005239"/>
          </a:solidFill>
          <a:ln/>
          <a:effectLst>
            <a:outerShdw sx="100000" sy="100000" kx="0" ky="0" algn="bl" rotWithShape="0" blurRad="88900" dist="38100" dir="5400000">
              <a:srgbClr val="9A9488">
                <a:alpha val="22000"/>
              </a:srgbClr>
            </a:outerShdw>
          </a:effectLst>
        </p:spPr>
      </p:sp>
      <p:sp>
        <p:nvSpPr>
          <p:cNvPr id="22" name="Text 17"/>
          <p:cNvSpPr/>
          <p:nvPr/>
        </p:nvSpPr>
        <p:spPr>
          <a:xfrm>
            <a:off x="1097280" y="4590288"/>
            <a:ext cx="9997135" cy="320040"/>
          </a:xfrm>
          <a:prstGeom prst="rect">
            <a:avLst/>
          </a:prstGeom>
          <a:noFill/>
          <a:ln/>
        </p:spPr>
        <p:txBody>
          <a:bodyPr wrap="square" lIns="0" tIns="0" rIns="0" bIns="0" rtlCol="0" anchor="ctr"/>
          <a:lstStyle/>
          <a:p>
            <a:pPr indent="0" marL="0">
              <a:buNone/>
            </a:pPr>
            <a:r>
              <a:rPr lang="en-US" sz="1250" b="1" dirty="0">
                <a:solidFill>
                  <a:srgbClr val="FFC733"/>
                </a:solidFill>
                <a:latin typeface="Open Sans" pitchFamily="34" charset="0"/>
                <a:ea typeface="Open Sans" pitchFamily="34" charset="-122"/>
                <a:cs typeface="Open Sans" pitchFamily="34" charset="-120"/>
              </a:rPr>
              <a:t>When it's your turn:</a:t>
            </a:r>
            <a:endParaRPr lang="en-US" sz="1250" dirty="0"/>
          </a:p>
        </p:txBody>
      </p:sp>
      <p:sp>
        <p:nvSpPr>
          <p:cNvPr id="23" name="Text 18"/>
          <p:cNvSpPr/>
          <p:nvPr/>
        </p:nvSpPr>
        <p:spPr>
          <a:xfrm>
            <a:off x="1097280" y="4937760"/>
            <a:ext cx="9997135" cy="640080"/>
          </a:xfrm>
          <a:prstGeom prst="rect">
            <a:avLst/>
          </a:prstGeom>
          <a:noFill/>
          <a:ln/>
        </p:spPr>
        <p:txBody>
          <a:bodyPr wrap="square" lIns="0" tIns="0" rIns="0" bIns="0" rtlCol="0" anchor="t"/>
          <a:lstStyle/>
          <a:p>
            <a:pPr indent="0" marL="0">
              <a:lnSpc>
                <a:spcPct val="115000"/>
              </a:lnSpc>
              <a:buNone/>
            </a:pPr>
            <a:r>
              <a:rPr lang="en-US" sz="1250" b="1" dirty="0">
                <a:solidFill>
                  <a:srgbClr val="FFFFFF"/>
                </a:solidFill>
                <a:latin typeface="Open Sans" pitchFamily="34" charset="0"/>
                <a:ea typeface="Open Sans" pitchFamily="34" charset="-122"/>
                <a:cs typeface="Open Sans" pitchFamily="34" charset="-120"/>
              </a:rPr>
              <a:t>①  Say the sentence clearly.      </a:t>
            </a:r>
            <a:pPr indent="0" marL="0">
              <a:lnSpc>
                <a:spcPct val="115000"/>
              </a:lnSpc>
              <a:buNone/>
            </a:pPr>
            <a:r>
              <a:rPr lang="en-US" sz="1250" b="1" dirty="0">
                <a:solidFill>
                  <a:srgbClr val="FFFFFF"/>
                </a:solidFill>
                <a:latin typeface="Open Sans" pitchFamily="34" charset="0"/>
                <a:ea typeface="Open Sans" pitchFamily="34" charset="-122"/>
                <a:cs typeface="Open Sans" pitchFamily="34" charset="-120"/>
              </a:rPr>
              <a:t>②  Then actually listen.      </a:t>
            </a:r>
            <a:pPr indent="0" marL="0">
              <a:lnSpc>
                <a:spcPct val="115000"/>
              </a:lnSpc>
              <a:buNone/>
            </a:pPr>
            <a:r>
              <a:rPr lang="en-US" sz="1250" b="1" dirty="0">
                <a:solidFill>
                  <a:srgbClr val="FFFFFF"/>
                </a:solidFill>
                <a:latin typeface="Open Sans" pitchFamily="34" charset="0"/>
                <a:ea typeface="Open Sans" pitchFamily="34" charset="-122"/>
                <a:cs typeface="Open Sans" pitchFamily="34" charset="-120"/>
              </a:rPr>
              <a:t>③  When it's someone else's turn, spot the confounder they didn't see.</a:t>
            </a:r>
            <a:endParaRPr lang="en-US" sz="1250" dirty="0"/>
          </a:p>
        </p:txBody>
      </p:sp>
      <p:sp>
        <p:nvSpPr>
          <p:cNvPr id="24" name="Text 19"/>
          <p:cNvSpPr/>
          <p:nvPr/>
        </p:nvSpPr>
        <p:spPr>
          <a:xfrm>
            <a:off x="777240" y="5715000"/>
            <a:ext cx="10637215" cy="320040"/>
          </a:xfrm>
          <a:prstGeom prst="rect">
            <a:avLst/>
          </a:prstGeom>
          <a:noFill/>
          <a:ln/>
        </p:spPr>
        <p:txBody>
          <a:bodyPr wrap="square" lIns="0" tIns="0" rIns="0" bIns="0" rtlCol="0" anchor="ctr"/>
          <a:lstStyle/>
          <a:p>
            <a:pPr algn="ctr" indent="0" marL="0">
              <a:buNone/>
            </a:pPr>
            <a:r>
              <a:rPr lang="en-US" sz="1200" i="1" dirty="0">
                <a:solidFill>
                  <a:srgbClr val="008285"/>
                </a:solidFill>
                <a:latin typeface="Open Sans" pitchFamily="34" charset="0"/>
                <a:ea typeface="Open Sans" pitchFamily="34" charset="-122"/>
                <a:cs typeface="Open Sans" pitchFamily="34" charset="-120"/>
              </a:rPr>
              <a:t>The best thing that can happen today: a classmate finds the hole in your design while it's still cheap to fix.</a:t>
            </a:r>
            <a:endParaRPr lang="en-US" sz="1200" dirty="0"/>
          </a:p>
        </p:txBody>
      </p:sp>
      <p:sp>
        <p:nvSpPr>
          <p:cNvPr id="25" name="Text 20"/>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26" name="Text 21"/>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4F2"/>
        </a:solidFill>
      </p:bgPr>
    </p:bg>
    <p:spTree>
      <p:nvGrpSpPr>
        <p:cNvPr id="1" name=""/>
        <p:cNvGrpSpPr/>
        <p:nvPr/>
      </p:nvGrpSpPr>
      <p:grpSpPr>
        <a:xfrm>
          <a:off x="0" y="0"/>
          <a:ext cx="0" cy="0"/>
          <a:chOff x="0" y="0"/>
          <a:chExt cx="0" cy="0"/>
        </a:xfrm>
      </p:grpSpPr>
      <p:sp>
        <p:nvSpPr>
          <p:cNvPr id="2" name="Shape 0"/>
          <p:cNvSpPr/>
          <p:nvPr/>
        </p:nvSpPr>
        <p:spPr>
          <a:xfrm>
            <a:off x="777240" y="566928"/>
            <a:ext cx="146304" cy="146304"/>
          </a:xfrm>
          <a:prstGeom prst="rect">
            <a:avLst/>
          </a:prstGeom>
          <a:solidFill>
            <a:srgbClr val="008285"/>
          </a:solidFill>
          <a:ln/>
        </p:spPr>
      </p:sp>
      <p:sp>
        <p:nvSpPr>
          <p:cNvPr id="3" name="Text 1"/>
          <p:cNvSpPr/>
          <p:nvPr/>
        </p:nvSpPr>
        <p:spPr>
          <a:xfrm>
            <a:off x="1033272" y="502920"/>
            <a:ext cx="9601200" cy="292608"/>
          </a:xfrm>
          <a:prstGeom prst="rect">
            <a:avLst/>
          </a:prstGeom>
          <a:noFill/>
          <a:ln/>
        </p:spPr>
        <p:txBody>
          <a:bodyPr wrap="square" lIns="0" tIns="0" rIns="0" bIns="0" rtlCol="0" anchor="ctr"/>
          <a:lstStyle/>
          <a:p>
            <a:pPr algn="l" indent="0" marL="0">
              <a:buNone/>
            </a:pPr>
            <a:r>
              <a:rPr lang="en-US" sz="1250" b="1" spc="250" kern="0" dirty="0">
                <a:solidFill>
                  <a:srgbClr val="008285"/>
                </a:solidFill>
                <a:latin typeface="Open Sans" pitchFamily="34" charset="0"/>
                <a:ea typeface="Open Sans" pitchFamily="34" charset="-122"/>
                <a:cs typeface="Open Sans" pitchFamily="34" charset="-120"/>
              </a:rPr>
              <a:t>WRAP-UP</a:t>
            </a:r>
            <a:endParaRPr lang="en-US" sz="1250" dirty="0"/>
          </a:p>
        </p:txBody>
      </p:sp>
      <p:sp>
        <p:nvSpPr>
          <p:cNvPr id="4" name="Text 2"/>
          <p:cNvSpPr/>
          <p:nvPr/>
        </p:nvSpPr>
        <p:spPr>
          <a:xfrm>
            <a:off x="777240" y="841248"/>
            <a:ext cx="10637215" cy="777240"/>
          </a:xfrm>
          <a:prstGeom prst="rect">
            <a:avLst/>
          </a:prstGeom>
          <a:noFill/>
          <a:ln/>
        </p:spPr>
        <p:txBody>
          <a:bodyPr wrap="square" lIns="0" tIns="0" rIns="0" bIns="0" rtlCol="0" anchor="ctr"/>
          <a:lstStyle/>
          <a:p>
            <a:pPr algn="l" indent="0" marL="0">
              <a:buNone/>
            </a:pPr>
            <a:r>
              <a:rPr lang="en-US" sz="3000" b="1" dirty="0">
                <a:solidFill>
                  <a:srgbClr val="005239"/>
                </a:solidFill>
                <a:latin typeface="Poppins" pitchFamily="34" charset="0"/>
                <a:ea typeface="Poppins" pitchFamily="34" charset="-122"/>
                <a:cs typeface="Poppins" pitchFamily="34" charset="-120"/>
              </a:rPr>
              <a:t>This week's deliverable &amp; the look-ahead</a:t>
            </a:r>
            <a:endParaRPr lang="en-US" sz="3000" dirty="0"/>
          </a:p>
        </p:txBody>
      </p:sp>
      <p:sp>
        <p:nvSpPr>
          <p:cNvPr id="5" name="Shape 3"/>
          <p:cNvSpPr/>
          <p:nvPr/>
        </p:nvSpPr>
        <p:spPr>
          <a:xfrm>
            <a:off x="777240" y="1783080"/>
            <a:ext cx="6400800" cy="3246120"/>
          </a:xfrm>
          <a:prstGeom prst="rect">
            <a:avLst/>
          </a:prstGeom>
          <a:solidFill>
            <a:srgbClr val="FFFFFF"/>
          </a:solidFill>
          <a:ln w="19050">
            <a:solidFill>
              <a:srgbClr val="008285"/>
            </a:solidFill>
            <a:prstDash val="solid"/>
          </a:ln>
          <a:effectLst>
            <a:outerShdw sx="100000" sy="100000" kx="0" ky="0" algn="bl" rotWithShape="0" blurRad="88900" dist="38100" dir="5400000">
              <a:srgbClr val="9A9488">
                <a:alpha val="22000"/>
              </a:srgbClr>
            </a:outerShdw>
          </a:effectLst>
        </p:spPr>
      </p:sp>
      <p:sp>
        <p:nvSpPr>
          <p:cNvPr id="6" name="Shape 4"/>
          <p:cNvSpPr/>
          <p:nvPr/>
        </p:nvSpPr>
        <p:spPr>
          <a:xfrm>
            <a:off x="777240" y="1783080"/>
            <a:ext cx="6400800" cy="548640"/>
          </a:xfrm>
          <a:prstGeom prst="rect">
            <a:avLst/>
          </a:prstGeom>
          <a:solidFill>
            <a:srgbClr val="008285"/>
          </a:solidFill>
          <a:ln/>
        </p:spPr>
      </p:sp>
      <p:sp>
        <p:nvSpPr>
          <p:cNvPr id="7" name="Text 5"/>
          <p:cNvSpPr/>
          <p:nvPr/>
        </p:nvSpPr>
        <p:spPr>
          <a:xfrm>
            <a:off x="1051560" y="1783080"/>
            <a:ext cx="5852160" cy="548640"/>
          </a:xfrm>
          <a:prstGeom prst="rect">
            <a:avLst/>
          </a:prstGeom>
          <a:noFill/>
          <a:ln/>
        </p:spPr>
        <p:txBody>
          <a:bodyPr wrap="square" lIns="0" tIns="0" rIns="0" bIns="0" rtlCol="0" anchor="ctr"/>
          <a:lstStyle/>
          <a:p>
            <a:pPr indent="0" marL="0">
              <a:buNone/>
            </a:pPr>
            <a:r>
              <a:rPr lang="en-US" sz="1400" b="1" dirty="0">
                <a:solidFill>
                  <a:srgbClr val="FFFFFF"/>
                </a:solidFill>
                <a:latin typeface="Poppins" pitchFamily="34" charset="0"/>
                <a:ea typeface="Poppins" pitchFamily="34" charset="-122"/>
                <a:cs typeface="Poppins" pitchFamily="34" charset="-120"/>
              </a:rPr>
              <a:t>DELIVERABLE — Pre-Analysis Plan + Identification Memo</a:t>
            </a:r>
            <a:endParaRPr lang="en-US" sz="1400" dirty="0"/>
          </a:p>
        </p:txBody>
      </p:sp>
      <p:sp>
        <p:nvSpPr>
          <p:cNvPr id="8" name="Text 6"/>
          <p:cNvSpPr/>
          <p:nvPr/>
        </p:nvSpPr>
        <p:spPr>
          <a:xfrm>
            <a:off x="1051560" y="2487168"/>
            <a:ext cx="320040" cy="365760"/>
          </a:xfrm>
          <a:prstGeom prst="rect">
            <a:avLst/>
          </a:prstGeom>
          <a:noFill/>
          <a:ln/>
        </p:spPr>
        <p:txBody>
          <a:bodyPr wrap="square" lIns="0" tIns="0" rIns="0" bIns="0" rtlCol="0" anchor="ctr"/>
          <a:lstStyle/>
          <a:p>
            <a:pPr indent="0" marL="0">
              <a:buNone/>
            </a:pPr>
            <a:r>
              <a:rPr lang="en-US" sz="1400" b="1" dirty="0">
                <a:solidFill>
                  <a:srgbClr val="008285"/>
                </a:solidFill>
                <a:latin typeface="Poppins" pitchFamily="34" charset="0"/>
                <a:ea typeface="Poppins" pitchFamily="34" charset="-122"/>
                <a:cs typeface="Poppins" pitchFamily="34" charset="-120"/>
              </a:rPr>
              <a:t>1</a:t>
            </a:r>
            <a:endParaRPr lang="en-US" sz="1400" dirty="0"/>
          </a:p>
        </p:txBody>
      </p:sp>
      <p:sp>
        <p:nvSpPr>
          <p:cNvPr id="9" name="Text 7"/>
          <p:cNvSpPr/>
          <p:nvPr/>
        </p:nvSpPr>
        <p:spPr>
          <a:xfrm>
            <a:off x="1435608" y="2487168"/>
            <a:ext cx="5486400" cy="457200"/>
          </a:xfrm>
          <a:prstGeom prst="rect">
            <a:avLst/>
          </a:prstGeom>
          <a:noFill/>
          <a:ln/>
        </p:spPr>
        <p:txBody>
          <a:bodyPr wrap="square" lIns="0" tIns="0" rIns="0" bIns="0" rtlCol="0" anchor="t"/>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The identifying-assumption sentence for your own project.</a:t>
            </a:r>
            <a:endParaRPr lang="en-US" sz="1150" dirty="0"/>
          </a:p>
        </p:txBody>
      </p:sp>
      <p:sp>
        <p:nvSpPr>
          <p:cNvPr id="10" name="Text 8"/>
          <p:cNvSpPr/>
          <p:nvPr/>
        </p:nvSpPr>
        <p:spPr>
          <a:xfrm>
            <a:off x="1051560" y="2907792"/>
            <a:ext cx="320040" cy="365760"/>
          </a:xfrm>
          <a:prstGeom prst="rect">
            <a:avLst/>
          </a:prstGeom>
          <a:noFill/>
          <a:ln/>
        </p:spPr>
        <p:txBody>
          <a:bodyPr wrap="square" lIns="0" tIns="0" rIns="0" bIns="0" rtlCol="0" anchor="ctr"/>
          <a:lstStyle/>
          <a:p>
            <a:pPr indent="0" marL="0">
              <a:buNone/>
            </a:pPr>
            <a:r>
              <a:rPr lang="en-US" sz="1400" b="1" dirty="0">
                <a:solidFill>
                  <a:srgbClr val="008285"/>
                </a:solidFill>
                <a:latin typeface="Poppins" pitchFamily="34" charset="0"/>
                <a:ea typeface="Poppins" pitchFamily="34" charset="-122"/>
                <a:cs typeface="Poppins" pitchFamily="34" charset="-120"/>
              </a:rPr>
              <a:t>2</a:t>
            </a:r>
            <a:endParaRPr lang="en-US" sz="1400" dirty="0"/>
          </a:p>
        </p:txBody>
      </p:sp>
      <p:sp>
        <p:nvSpPr>
          <p:cNvPr id="11" name="Text 9"/>
          <p:cNvSpPr/>
          <p:nvPr/>
        </p:nvSpPr>
        <p:spPr>
          <a:xfrm>
            <a:off x="1435608" y="2907792"/>
            <a:ext cx="5486400" cy="457200"/>
          </a:xfrm>
          <a:prstGeom prst="rect">
            <a:avLst/>
          </a:prstGeom>
          <a:noFill/>
          <a:ln/>
        </p:spPr>
        <p:txBody>
          <a:bodyPr wrap="square" lIns="0" tIns="0" rIns="0" bIns="0" rtlCol="0" anchor="t"/>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A threats-and-responses table (referee yourself).</a:t>
            </a:r>
            <a:endParaRPr lang="en-US" sz="1150" dirty="0"/>
          </a:p>
        </p:txBody>
      </p:sp>
      <p:sp>
        <p:nvSpPr>
          <p:cNvPr id="12" name="Text 10"/>
          <p:cNvSpPr/>
          <p:nvPr/>
        </p:nvSpPr>
        <p:spPr>
          <a:xfrm>
            <a:off x="1051560" y="3328416"/>
            <a:ext cx="320040" cy="365760"/>
          </a:xfrm>
          <a:prstGeom prst="rect">
            <a:avLst/>
          </a:prstGeom>
          <a:noFill/>
          <a:ln/>
        </p:spPr>
        <p:txBody>
          <a:bodyPr wrap="square" lIns="0" tIns="0" rIns="0" bIns="0" rtlCol="0" anchor="ctr"/>
          <a:lstStyle/>
          <a:p>
            <a:pPr indent="0" marL="0">
              <a:buNone/>
            </a:pPr>
            <a:r>
              <a:rPr lang="en-US" sz="1400" b="1" dirty="0">
                <a:solidFill>
                  <a:srgbClr val="008285"/>
                </a:solidFill>
                <a:latin typeface="Poppins" pitchFamily="34" charset="0"/>
                <a:ea typeface="Poppins" pitchFamily="34" charset="-122"/>
                <a:cs typeface="Poppins" pitchFamily="34" charset="-120"/>
              </a:rPr>
              <a:t>3</a:t>
            </a:r>
            <a:endParaRPr lang="en-US" sz="1400" dirty="0"/>
          </a:p>
        </p:txBody>
      </p:sp>
      <p:sp>
        <p:nvSpPr>
          <p:cNvPr id="13" name="Text 11"/>
          <p:cNvSpPr/>
          <p:nvPr/>
        </p:nvSpPr>
        <p:spPr>
          <a:xfrm>
            <a:off x="1435608" y="3328416"/>
            <a:ext cx="5486400" cy="457200"/>
          </a:xfrm>
          <a:prstGeom prst="rect">
            <a:avLst/>
          </a:prstGeom>
          <a:noFill/>
          <a:ln/>
        </p:spPr>
        <p:txBody>
          <a:bodyPr wrap="square" lIns="0" tIns="0" rIns="0" bIns="0" rtlCol="0" anchor="t"/>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The primary specification — every part named.</a:t>
            </a:r>
            <a:endParaRPr lang="en-US" sz="1150" dirty="0"/>
          </a:p>
        </p:txBody>
      </p:sp>
      <p:sp>
        <p:nvSpPr>
          <p:cNvPr id="14" name="Text 12"/>
          <p:cNvSpPr/>
          <p:nvPr/>
        </p:nvSpPr>
        <p:spPr>
          <a:xfrm>
            <a:off x="1051560" y="3749040"/>
            <a:ext cx="320040" cy="365760"/>
          </a:xfrm>
          <a:prstGeom prst="rect">
            <a:avLst/>
          </a:prstGeom>
          <a:noFill/>
          <a:ln/>
        </p:spPr>
        <p:txBody>
          <a:bodyPr wrap="square" lIns="0" tIns="0" rIns="0" bIns="0" rtlCol="0" anchor="ctr"/>
          <a:lstStyle/>
          <a:p>
            <a:pPr indent="0" marL="0">
              <a:buNone/>
            </a:pPr>
            <a:r>
              <a:rPr lang="en-US" sz="1400" b="1" dirty="0">
                <a:solidFill>
                  <a:srgbClr val="008285"/>
                </a:solidFill>
                <a:latin typeface="Poppins" pitchFamily="34" charset="0"/>
                <a:ea typeface="Poppins" pitchFamily="34" charset="-122"/>
                <a:cs typeface="Poppins" pitchFamily="34" charset="-120"/>
              </a:rPr>
              <a:t>4</a:t>
            </a:r>
            <a:endParaRPr lang="en-US" sz="1400" dirty="0"/>
          </a:p>
        </p:txBody>
      </p:sp>
      <p:sp>
        <p:nvSpPr>
          <p:cNvPr id="15" name="Text 13"/>
          <p:cNvSpPr/>
          <p:nvPr/>
        </p:nvSpPr>
        <p:spPr>
          <a:xfrm>
            <a:off x="1435608" y="3749040"/>
            <a:ext cx="5486400" cy="457200"/>
          </a:xfrm>
          <a:prstGeom prst="rect">
            <a:avLst/>
          </a:prstGeom>
          <a:noFill/>
          <a:ln/>
        </p:spPr>
        <p:txBody>
          <a:bodyPr wrap="square" lIns="0" tIns="0" rIns="0" bIns="0" rtlCol="0" anchor="t"/>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Directional hypotheses + falsification / placebo tests.</a:t>
            </a:r>
            <a:endParaRPr lang="en-US" sz="1150" dirty="0"/>
          </a:p>
        </p:txBody>
      </p:sp>
      <p:sp>
        <p:nvSpPr>
          <p:cNvPr id="16" name="Text 14"/>
          <p:cNvSpPr/>
          <p:nvPr/>
        </p:nvSpPr>
        <p:spPr>
          <a:xfrm>
            <a:off x="1051560" y="4169664"/>
            <a:ext cx="320040" cy="365760"/>
          </a:xfrm>
          <a:prstGeom prst="rect">
            <a:avLst/>
          </a:prstGeom>
          <a:noFill/>
          <a:ln/>
        </p:spPr>
        <p:txBody>
          <a:bodyPr wrap="square" lIns="0" tIns="0" rIns="0" bIns="0" rtlCol="0" anchor="ctr"/>
          <a:lstStyle/>
          <a:p>
            <a:pPr indent="0" marL="0">
              <a:buNone/>
            </a:pPr>
            <a:r>
              <a:rPr lang="en-US" sz="1400" b="1" dirty="0">
                <a:solidFill>
                  <a:srgbClr val="008285"/>
                </a:solidFill>
                <a:latin typeface="Poppins" pitchFamily="34" charset="0"/>
                <a:ea typeface="Poppins" pitchFamily="34" charset="-122"/>
                <a:cs typeface="Poppins" pitchFamily="34" charset="-120"/>
              </a:rPr>
              <a:t>5</a:t>
            </a:r>
            <a:endParaRPr lang="en-US" sz="1400" dirty="0"/>
          </a:p>
        </p:txBody>
      </p:sp>
      <p:sp>
        <p:nvSpPr>
          <p:cNvPr id="17" name="Text 15"/>
          <p:cNvSpPr/>
          <p:nvPr/>
        </p:nvSpPr>
        <p:spPr>
          <a:xfrm>
            <a:off x="1435608" y="4169664"/>
            <a:ext cx="5486400" cy="457200"/>
          </a:xfrm>
          <a:prstGeom prst="rect">
            <a:avLst/>
          </a:prstGeom>
          <a:noFill/>
          <a:ln/>
        </p:spPr>
        <p:txBody>
          <a:bodyPr wrap="square" lIns="0" tIns="0" rIns="0" bIns="0" rtlCol="0" anchor="t"/>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A reproducible data-pull plan (source · vintage · log).</a:t>
            </a:r>
            <a:endParaRPr lang="en-US" sz="1150" dirty="0"/>
          </a:p>
        </p:txBody>
      </p:sp>
      <p:sp>
        <p:nvSpPr>
          <p:cNvPr id="18" name="Text 16"/>
          <p:cNvSpPr/>
          <p:nvPr/>
        </p:nvSpPr>
        <p:spPr>
          <a:xfrm>
            <a:off x="1051560" y="4590288"/>
            <a:ext cx="320040" cy="365760"/>
          </a:xfrm>
          <a:prstGeom prst="rect">
            <a:avLst/>
          </a:prstGeom>
          <a:noFill/>
          <a:ln/>
        </p:spPr>
        <p:txBody>
          <a:bodyPr wrap="square" lIns="0" tIns="0" rIns="0" bIns="0" rtlCol="0" anchor="ctr"/>
          <a:lstStyle/>
          <a:p>
            <a:pPr indent="0" marL="0">
              <a:buNone/>
            </a:pPr>
            <a:r>
              <a:rPr lang="en-US" sz="1400" b="1" dirty="0">
                <a:solidFill>
                  <a:srgbClr val="008285"/>
                </a:solidFill>
                <a:latin typeface="Poppins" pitchFamily="34" charset="0"/>
                <a:ea typeface="Poppins" pitchFamily="34" charset="-122"/>
                <a:cs typeface="Poppins" pitchFamily="34" charset="-120"/>
              </a:rPr>
              <a:t>6</a:t>
            </a:r>
            <a:endParaRPr lang="en-US" sz="1400" dirty="0"/>
          </a:p>
        </p:txBody>
      </p:sp>
      <p:sp>
        <p:nvSpPr>
          <p:cNvPr id="19" name="Text 17"/>
          <p:cNvSpPr/>
          <p:nvPr/>
        </p:nvSpPr>
        <p:spPr>
          <a:xfrm>
            <a:off x="1435608" y="4590288"/>
            <a:ext cx="5486400" cy="457200"/>
          </a:xfrm>
          <a:prstGeom prst="rect">
            <a:avLst/>
          </a:prstGeom>
          <a:noFill/>
          <a:ln/>
        </p:spPr>
        <p:txBody>
          <a:bodyPr wrap="square" lIns="0" tIns="0" rIns="0" bIns="0" rtlCol="0" anchor="t"/>
          <a:lstStyle/>
          <a:p>
            <a:pPr indent="0" marL="0">
              <a:lnSpc>
                <a:spcPct val="100000"/>
              </a:lnSpc>
              <a:buNone/>
            </a:pPr>
            <a:r>
              <a:rPr lang="en-US" sz="1150" dirty="0">
                <a:solidFill>
                  <a:srgbClr val="333333"/>
                </a:solidFill>
                <a:latin typeface="Open Sans" pitchFamily="34" charset="0"/>
                <a:ea typeface="Open Sans" pitchFamily="34" charset="-122"/>
                <a:cs typeface="Open Sans" pitchFamily="34" charset="-120"/>
              </a:rPr>
              <a:t>Keep it tight: 1–2 pages. Commitment, not length.</a:t>
            </a:r>
            <a:endParaRPr lang="en-US" sz="1150" dirty="0"/>
          </a:p>
        </p:txBody>
      </p:sp>
      <p:sp>
        <p:nvSpPr>
          <p:cNvPr id="20" name="Shape 18"/>
          <p:cNvSpPr/>
          <p:nvPr/>
        </p:nvSpPr>
        <p:spPr>
          <a:xfrm>
            <a:off x="1051560" y="4645152"/>
            <a:ext cx="5852160" cy="292608"/>
          </a:xfrm>
          <a:prstGeom prst="rect">
            <a:avLst/>
          </a:prstGeom>
          <a:solidFill>
            <a:srgbClr val="EAF1EF"/>
          </a:solidFill>
          <a:ln/>
        </p:spPr>
      </p:sp>
      <p:sp>
        <p:nvSpPr>
          <p:cNvPr id="21" name="Text 19"/>
          <p:cNvSpPr/>
          <p:nvPr/>
        </p:nvSpPr>
        <p:spPr>
          <a:xfrm>
            <a:off x="1143000" y="4645152"/>
            <a:ext cx="5669280" cy="292608"/>
          </a:xfrm>
          <a:prstGeom prst="rect">
            <a:avLst/>
          </a:prstGeom>
          <a:noFill/>
          <a:ln/>
        </p:spPr>
        <p:txBody>
          <a:bodyPr wrap="square" lIns="0" tIns="0" rIns="0" bIns="0" rtlCol="0" anchor="ctr"/>
          <a:lstStyle/>
          <a:p>
            <a:pPr indent="0" marL="0">
              <a:buNone/>
            </a:pPr>
            <a:r>
              <a:rPr lang="en-US" sz="1100" b="1" dirty="0">
                <a:solidFill>
                  <a:srgbClr val="008285"/>
                </a:solidFill>
                <a:latin typeface="Open Sans" pitchFamily="34" charset="0"/>
                <a:ea typeface="Open Sans" pitchFamily="34" charset="-122"/>
                <a:cs typeface="Open Sans" pitchFamily="34" charset="-120"/>
              </a:rPr>
              <a:t>DUE before the Week-8 session — Friday, August 14, 2026. </a:t>
            </a:r>
            <a:pPr indent="0" marL="0">
              <a:buNone/>
            </a:pPr>
            <a:r>
              <a:rPr lang="en-US" sz="1100" i="1" dirty="0">
                <a:solidFill>
                  <a:srgbClr val="333333"/>
                </a:solidFill>
                <a:latin typeface="Open Sans" pitchFamily="34" charset="0"/>
                <a:ea typeface="Open Sans" pitchFamily="34" charset="-122"/>
                <a:cs typeface="Open Sans" pitchFamily="34" charset="-120"/>
              </a:rPr>
              <a:t>Commit it before you peek.</a:t>
            </a:r>
            <a:endParaRPr lang="en-US" sz="1100" dirty="0"/>
          </a:p>
        </p:txBody>
      </p:sp>
      <p:sp>
        <p:nvSpPr>
          <p:cNvPr id="22" name="Shape 20"/>
          <p:cNvSpPr/>
          <p:nvPr/>
        </p:nvSpPr>
        <p:spPr>
          <a:xfrm>
            <a:off x="7452360" y="1783080"/>
            <a:ext cx="3962095" cy="1417320"/>
          </a:xfrm>
          <a:prstGeom prst="rect">
            <a:avLst/>
          </a:prstGeom>
          <a:solidFill>
            <a:srgbClr val="FFFFFF"/>
          </a:solidFill>
          <a:ln w="12700">
            <a:solidFill>
              <a:srgbClr val="E2E1DC"/>
            </a:solidFill>
            <a:prstDash val="solid"/>
          </a:ln>
          <a:effectLst>
            <a:outerShdw sx="100000" sy="100000" kx="0" ky="0" algn="bl" rotWithShape="0" blurRad="88900" dist="38100" dir="5400000">
              <a:srgbClr val="9A9488">
                <a:alpha val="22000"/>
              </a:srgbClr>
            </a:outerShdw>
          </a:effectLst>
        </p:spPr>
      </p:sp>
      <p:sp>
        <p:nvSpPr>
          <p:cNvPr id="23" name="Text 21"/>
          <p:cNvSpPr/>
          <p:nvPr/>
        </p:nvSpPr>
        <p:spPr>
          <a:xfrm>
            <a:off x="7726680" y="1920240"/>
            <a:ext cx="3413455" cy="274320"/>
          </a:xfrm>
          <a:prstGeom prst="rect">
            <a:avLst/>
          </a:prstGeom>
          <a:noFill/>
          <a:ln/>
        </p:spPr>
        <p:txBody>
          <a:bodyPr wrap="square" lIns="0" tIns="0" rIns="0" bIns="0" rtlCol="0" anchor="ctr"/>
          <a:lstStyle/>
          <a:p>
            <a:pPr indent="0" marL="0">
              <a:buNone/>
            </a:pPr>
            <a:r>
              <a:rPr lang="en-US" sz="1100" b="1" spc="150" kern="0" dirty="0">
                <a:solidFill>
                  <a:srgbClr val="004F71"/>
                </a:solidFill>
                <a:latin typeface="Open Sans" pitchFamily="34" charset="0"/>
                <a:ea typeface="Open Sans" pitchFamily="34" charset="-122"/>
                <a:cs typeface="Open Sans" pitchFamily="34" charset="-120"/>
              </a:rPr>
              <a:t>THE DESIGN HALF</a:t>
            </a:r>
            <a:endParaRPr lang="en-US" sz="1100" dirty="0"/>
          </a:p>
        </p:txBody>
      </p:sp>
      <p:sp>
        <p:nvSpPr>
          <p:cNvPr id="24" name="Text 22"/>
          <p:cNvSpPr/>
          <p:nvPr/>
        </p:nvSpPr>
        <p:spPr>
          <a:xfrm>
            <a:off x="7726680" y="2212848"/>
            <a:ext cx="3413455" cy="914400"/>
          </a:xfrm>
          <a:prstGeom prst="rect">
            <a:avLst/>
          </a:prstGeom>
          <a:noFill/>
          <a:ln/>
        </p:spPr>
        <p:txBody>
          <a:bodyPr wrap="square" lIns="0" tIns="0" rIns="0" bIns="0" rtlCol="0" anchor="t"/>
          <a:lstStyle/>
          <a:p>
            <a:pPr indent="0" marL="0">
              <a:lnSpc>
                <a:spcPct val="105000"/>
              </a:lnSpc>
              <a:buNone/>
            </a:pPr>
            <a:r>
              <a:rPr lang="en-US" sz="1150" dirty="0">
                <a:solidFill>
                  <a:srgbClr val="333333"/>
                </a:solidFill>
                <a:latin typeface="Open Sans" pitchFamily="34" charset="0"/>
                <a:ea typeface="Open Sans" pitchFamily="34" charset="-122"/>
                <a:cs typeface="Open Sans" pitchFamily="34" charset="-120"/>
              </a:rPr>
              <a:t>This plan is the design half of the capstone paper due August 15 — it's what you commit to before you see a single result.</a:t>
            </a:r>
            <a:endParaRPr lang="en-US" sz="1150" dirty="0"/>
          </a:p>
        </p:txBody>
      </p:sp>
      <p:sp>
        <p:nvSpPr>
          <p:cNvPr id="25" name="Shape 23"/>
          <p:cNvSpPr/>
          <p:nvPr/>
        </p:nvSpPr>
        <p:spPr>
          <a:xfrm>
            <a:off x="7452360" y="3337560"/>
            <a:ext cx="3962095" cy="1691640"/>
          </a:xfrm>
          <a:prstGeom prst="rect">
            <a:avLst/>
          </a:prstGeom>
          <a:solidFill>
            <a:srgbClr val="005239"/>
          </a:solidFill>
          <a:ln/>
          <a:effectLst>
            <a:outerShdw sx="100000" sy="100000" kx="0" ky="0" algn="bl" rotWithShape="0" blurRad="88900" dist="38100" dir="5400000">
              <a:srgbClr val="9A9488">
                <a:alpha val="22000"/>
              </a:srgbClr>
            </a:outerShdw>
          </a:effectLst>
        </p:spPr>
      </p:sp>
      <p:sp>
        <p:nvSpPr>
          <p:cNvPr id="26" name="Text 24"/>
          <p:cNvSpPr/>
          <p:nvPr/>
        </p:nvSpPr>
        <p:spPr>
          <a:xfrm>
            <a:off x="7726680" y="3474720"/>
            <a:ext cx="3413455" cy="274320"/>
          </a:xfrm>
          <a:prstGeom prst="rect">
            <a:avLst/>
          </a:prstGeom>
          <a:noFill/>
          <a:ln/>
        </p:spPr>
        <p:txBody>
          <a:bodyPr wrap="square" lIns="0" tIns="0" rIns="0" bIns="0" rtlCol="0" anchor="ctr"/>
          <a:lstStyle/>
          <a:p>
            <a:pPr indent="0" marL="0">
              <a:buNone/>
            </a:pPr>
            <a:r>
              <a:rPr lang="en-US" sz="1100" b="1" spc="150" kern="0" dirty="0">
                <a:solidFill>
                  <a:srgbClr val="FFC733"/>
                </a:solidFill>
                <a:latin typeface="Open Sans" pitchFamily="34" charset="0"/>
                <a:ea typeface="Open Sans" pitchFamily="34" charset="-122"/>
                <a:cs typeface="Open Sans" pitchFamily="34" charset="-120"/>
              </a:rPr>
              <a:t>NEXT WEEK — WEEK 8</a:t>
            </a:r>
            <a:endParaRPr lang="en-US" sz="1100" dirty="0"/>
          </a:p>
        </p:txBody>
      </p:sp>
      <p:sp>
        <p:nvSpPr>
          <p:cNvPr id="27" name="Text 25"/>
          <p:cNvSpPr/>
          <p:nvPr/>
        </p:nvSpPr>
        <p:spPr>
          <a:xfrm>
            <a:off x="7726680" y="3749040"/>
            <a:ext cx="3413455" cy="457200"/>
          </a:xfrm>
          <a:prstGeom prst="rect">
            <a:avLst/>
          </a:prstGeom>
          <a:noFill/>
          <a:ln/>
        </p:spPr>
        <p:txBody>
          <a:bodyPr wrap="square" lIns="0" tIns="0" rIns="0" bIns="0" rtlCol="0" anchor="ctr"/>
          <a:lstStyle/>
          <a:p>
            <a:pPr indent="0" marL="0">
              <a:buNone/>
            </a:pPr>
            <a:r>
              <a:rPr lang="en-US" sz="2000" b="1" dirty="0">
                <a:solidFill>
                  <a:srgbClr val="FFFFFF"/>
                </a:solidFill>
                <a:latin typeface="Poppins" pitchFamily="34" charset="0"/>
                <a:ea typeface="Poppins" pitchFamily="34" charset="-122"/>
                <a:cs typeface="Poppins" pitchFamily="34" charset="-120"/>
              </a:rPr>
              <a:t>Research Project II</a:t>
            </a:r>
            <a:endParaRPr lang="en-US" sz="2000" dirty="0"/>
          </a:p>
        </p:txBody>
      </p:sp>
      <p:sp>
        <p:nvSpPr>
          <p:cNvPr id="28" name="Text 26"/>
          <p:cNvSpPr/>
          <p:nvPr/>
        </p:nvSpPr>
        <p:spPr>
          <a:xfrm>
            <a:off x="7726680" y="4224528"/>
            <a:ext cx="3413455" cy="777240"/>
          </a:xfrm>
          <a:prstGeom prst="rect">
            <a:avLst/>
          </a:prstGeom>
          <a:noFill/>
          <a:ln/>
        </p:spPr>
        <p:txBody>
          <a:bodyPr wrap="square" lIns="0" tIns="0" rIns="0" bIns="0" rtlCol="0" anchor="t"/>
          <a:lstStyle/>
          <a:p>
            <a:pPr indent="0" marL="0">
              <a:lnSpc>
                <a:spcPct val="105000"/>
              </a:lnSpc>
              <a:buNone/>
            </a:pPr>
            <a:r>
              <a:rPr lang="en-US" sz="1150" dirty="0">
                <a:solidFill>
                  <a:srgbClr val="CFE0D8"/>
                </a:solidFill>
                <a:latin typeface="Open Sans" pitchFamily="34" charset="0"/>
                <a:ea typeface="Open Sans" pitchFamily="34" charset="-122"/>
                <a:cs typeface="Open Sans" pitchFamily="34" charset="-120"/>
              </a:rPr>
              <a:t>You execute this exact plan — pull the data, run the primary spec, run the falsification tests, and write up whatever you find.</a:t>
            </a:r>
            <a:endParaRPr lang="en-US" sz="1150" dirty="0"/>
          </a:p>
        </p:txBody>
      </p:sp>
      <p:sp>
        <p:nvSpPr>
          <p:cNvPr id="29" name="Text 27"/>
          <p:cNvSpPr/>
          <p:nvPr/>
        </p:nvSpPr>
        <p:spPr>
          <a:xfrm>
            <a:off x="777240" y="5257800"/>
            <a:ext cx="10637215" cy="548640"/>
          </a:xfrm>
          <a:prstGeom prst="rect">
            <a:avLst/>
          </a:prstGeom>
          <a:noFill/>
          <a:ln/>
        </p:spPr>
        <p:txBody>
          <a:bodyPr wrap="square" lIns="0" tIns="0" rIns="0" bIns="0" rtlCol="0" anchor="ctr"/>
          <a:lstStyle/>
          <a:p>
            <a:pPr algn="ctr" indent="0" marL="0">
              <a:lnSpc>
                <a:spcPct val="105000"/>
              </a:lnSpc>
              <a:buNone/>
            </a:pPr>
            <a:r>
              <a:rPr lang="en-US" sz="1250" i="1" dirty="0">
                <a:solidFill>
                  <a:srgbClr val="727579"/>
                </a:solidFill>
                <a:latin typeface="Open Sans" pitchFamily="34" charset="0"/>
                <a:ea typeface="Open Sans" pitchFamily="34" charset="-122"/>
                <a:cs typeface="Open Sans" pitchFamily="34" charset="-120"/>
              </a:rPr>
              <a:t>Everything has been pointing here. Go plant your flag, commit your plan before you peek, and bring me a design you'd defend to a skeptic.</a:t>
            </a:r>
            <a:endParaRPr lang="en-US" sz="1250" dirty="0"/>
          </a:p>
        </p:txBody>
      </p:sp>
      <p:sp>
        <p:nvSpPr>
          <p:cNvPr id="30" name="Text 28"/>
          <p:cNvSpPr/>
          <p:nvPr/>
        </p:nvSpPr>
        <p:spPr>
          <a:xfrm>
            <a:off x="777240" y="6455664"/>
            <a:ext cx="7315200" cy="274320"/>
          </a:xfrm>
          <a:prstGeom prst="rect">
            <a:avLst/>
          </a:prstGeom>
          <a:noFill/>
          <a:ln/>
        </p:spPr>
        <p:txBody>
          <a:bodyPr wrap="square" lIns="0" tIns="0" rIns="0" bIns="0" rtlCol="0" anchor="ctr"/>
          <a:lstStyle/>
          <a:p>
            <a:pPr algn="l" indent="0" marL="0">
              <a:buNone/>
            </a:pPr>
            <a:r>
              <a:rPr lang="en-US" sz="900" dirty="0">
                <a:solidFill>
                  <a:srgbClr val="727579"/>
                </a:solidFill>
                <a:latin typeface="Open Sans" pitchFamily="34" charset="0"/>
                <a:ea typeface="Open Sans" pitchFamily="34" charset="-122"/>
                <a:cs typeface="Open Sans" pitchFamily="34" charset="-120"/>
              </a:rPr>
              <a:t>NextGen Empirical Finance Research Camp  ·  Week 7</a:t>
            </a:r>
            <a:endParaRPr lang="en-US" sz="900" dirty="0"/>
          </a:p>
        </p:txBody>
      </p:sp>
      <p:sp>
        <p:nvSpPr>
          <p:cNvPr id="31" name="Text 29"/>
          <p:cNvSpPr/>
          <p:nvPr/>
        </p:nvSpPr>
        <p:spPr>
          <a:xfrm>
            <a:off x="10865815" y="6455664"/>
            <a:ext cx="548640" cy="274320"/>
          </a:xfrm>
          <a:prstGeom prst="rect">
            <a:avLst/>
          </a:prstGeom>
          <a:noFill/>
          <a:ln/>
        </p:spPr>
        <p:txBody>
          <a:bodyPr wrap="square" lIns="0" tIns="0" rIns="0" bIns="0" rtlCol="0" anchor="ctr"/>
          <a:lstStyle/>
          <a:p>
            <a:pPr algn="r" indent="0" marL="0">
              <a:buNone/>
            </a:pPr>
            <a:r>
              <a:rPr lang="en-US" sz="900" dirty="0">
                <a:solidFill>
                  <a:srgbClr val="727579"/>
                </a:solidFill>
                <a:latin typeface="Open Sans" pitchFamily="34" charset="0"/>
                <a:ea typeface="Open Sans" pitchFamily="34" charset="-122"/>
                <a:cs typeface="Open San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5239"/>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FFC733"/>
          </a:solidFill>
          <a:ln/>
        </p:spPr>
      </p:sp>
      <p:sp>
        <p:nvSpPr>
          <p:cNvPr id="3" name="Text 1"/>
          <p:cNvSpPr/>
          <p:nvPr/>
        </p:nvSpPr>
        <p:spPr>
          <a:xfrm>
            <a:off x="1005840" y="1325880"/>
            <a:ext cx="10058400" cy="457200"/>
          </a:xfrm>
          <a:prstGeom prst="rect">
            <a:avLst/>
          </a:prstGeom>
          <a:noFill/>
          <a:ln/>
        </p:spPr>
        <p:txBody>
          <a:bodyPr wrap="square" lIns="0" tIns="0" rIns="0" bIns="0" rtlCol="0" anchor="ctr"/>
          <a:lstStyle/>
          <a:p>
            <a:pPr indent="0" marL="0">
              <a:buNone/>
            </a:pPr>
            <a:r>
              <a:rPr lang="en-US" sz="1600" b="1" dirty="0">
                <a:solidFill>
                  <a:srgbClr val="FFC733"/>
                </a:solidFill>
                <a:latin typeface="Open Sans" pitchFamily="34" charset="0"/>
                <a:ea typeface="Open Sans" pitchFamily="34" charset="-122"/>
                <a:cs typeface="Open Sans" pitchFamily="34" charset="-120"/>
              </a:rPr>
              <a:t>The through-line of Week 7:</a:t>
            </a:r>
            <a:endParaRPr lang="en-US" sz="1600" dirty="0"/>
          </a:p>
        </p:txBody>
      </p:sp>
      <p:sp>
        <p:nvSpPr>
          <p:cNvPr id="4" name="Text 2"/>
          <p:cNvSpPr/>
          <p:nvPr/>
        </p:nvSpPr>
        <p:spPr>
          <a:xfrm>
            <a:off x="987552" y="1783080"/>
            <a:ext cx="10424160" cy="1280160"/>
          </a:xfrm>
          <a:prstGeom prst="rect">
            <a:avLst/>
          </a:prstGeom>
          <a:noFill/>
          <a:ln/>
        </p:spPr>
        <p:txBody>
          <a:bodyPr wrap="square" lIns="0" tIns="0" rIns="0" bIns="0" rtlCol="0" anchor="t"/>
          <a:lstStyle/>
          <a:p>
            <a:pPr indent="0" marL="0">
              <a:lnSpc>
                <a:spcPct val="110000"/>
              </a:lnSpc>
              <a:buNone/>
            </a:pPr>
            <a:r>
              <a:rPr lang="en-US" sz="3000" b="1" dirty="0">
                <a:solidFill>
                  <a:srgbClr val="FFFFFF"/>
                </a:solidFill>
                <a:latin typeface="Poppins" pitchFamily="34" charset="0"/>
                <a:ea typeface="Poppins" pitchFamily="34" charset="-122"/>
                <a:cs typeface="Poppins" pitchFamily="34" charset="-120"/>
              </a:rPr>
              <a:t>A design you'd defend to a skeptic —</a:t>
            </a:r>
            <a:endParaRPr lang="en-US" sz="3000" dirty="0"/>
          </a:p>
          <a:p>
            <a:pPr indent="0" marL="0">
              <a:lnSpc>
                <a:spcPct val="110000"/>
              </a:lnSpc>
              <a:buNone/>
            </a:pPr>
            <a:r>
              <a:rPr lang="en-US" sz="3000" b="1" dirty="0">
                <a:solidFill>
                  <a:srgbClr val="FFFFFF"/>
                </a:solidFill>
                <a:latin typeface="Poppins" pitchFamily="34" charset="0"/>
                <a:ea typeface="Poppins" pitchFamily="34" charset="-122"/>
                <a:cs typeface="Poppins" pitchFamily="34" charset="-120"/>
              </a:rPr>
              <a:t>filed before you saw the answer.</a:t>
            </a:r>
            <a:endParaRPr lang="en-US" sz="3000" dirty="0"/>
          </a:p>
        </p:txBody>
      </p:sp>
      <p:sp>
        <p:nvSpPr>
          <p:cNvPr id="5" name="Text 3"/>
          <p:cNvSpPr/>
          <p:nvPr/>
        </p:nvSpPr>
        <p:spPr>
          <a:xfrm>
            <a:off x="1005840" y="3063240"/>
            <a:ext cx="10332720" cy="365760"/>
          </a:xfrm>
          <a:prstGeom prst="rect">
            <a:avLst/>
          </a:prstGeom>
          <a:noFill/>
          <a:ln/>
        </p:spPr>
        <p:txBody>
          <a:bodyPr wrap="square" lIns="0" tIns="0" rIns="0" bIns="0" rtlCol="0" anchor="ctr"/>
          <a:lstStyle/>
          <a:p>
            <a:pPr indent="0" marL="0">
              <a:buNone/>
            </a:pPr>
            <a:r>
              <a:rPr lang="en-US" sz="1400" i="1" dirty="0">
                <a:solidFill>
                  <a:srgbClr val="CFE0D8"/>
                </a:solidFill>
                <a:latin typeface="Open Sans" pitchFamily="34" charset="0"/>
                <a:ea typeface="Open Sans" pitchFamily="34" charset="-122"/>
                <a:cs typeface="Open Sans" pitchFamily="34" charset="-120"/>
              </a:rPr>
              <a:t>Whether your result comes back a big effect or a flat null. That's the standard, and it's set before the first regression.</a:t>
            </a:r>
            <a:endParaRPr lang="en-US" sz="1400" dirty="0"/>
          </a:p>
        </p:txBody>
      </p:sp>
      <p:sp>
        <p:nvSpPr>
          <p:cNvPr id="6" name="Shape 4"/>
          <p:cNvSpPr/>
          <p:nvPr/>
        </p:nvSpPr>
        <p:spPr>
          <a:xfrm>
            <a:off x="1024128" y="3611880"/>
            <a:ext cx="3108960" cy="0"/>
          </a:xfrm>
          <a:prstGeom prst="line">
            <a:avLst/>
          </a:prstGeom>
          <a:noFill/>
          <a:ln w="19050">
            <a:solidFill>
              <a:srgbClr val="004F71"/>
            </a:solidFill>
            <a:prstDash val="solid"/>
          </a:ln>
        </p:spPr>
      </p:sp>
      <p:sp>
        <p:nvSpPr>
          <p:cNvPr id="7" name="Text 5"/>
          <p:cNvSpPr/>
          <p:nvPr/>
        </p:nvSpPr>
        <p:spPr>
          <a:xfrm>
            <a:off x="1005840" y="3794760"/>
            <a:ext cx="10058400" cy="274320"/>
          </a:xfrm>
          <a:prstGeom prst="rect">
            <a:avLst/>
          </a:prstGeom>
          <a:noFill/>
          <a:ln/>
        </p:spPr>
        <p:txBody>
          <a:bodyPr wrap="square" lIns="0" tIns="0" rIns="0" bIns="0" rtlCol="0" anchor="ctr"/>
          <a:lstStyle/>
          <a:p>
            <a:pPr indent="0" marL="0">
              <a:buNone/>
            </a:pPr>
            <a:r>
              <a:rPr lang="en-US" sz="1200" b="1" spc="150" kern="0" dirty="0">
                <a:solidFill>
                  <a:srgbClr val="CFE0D8"/>
                </a:solidFill>
                <a:latin typeface="Open Sans" pitchFamily="34" charset="0"/>
                <a:ea typeface="Open Sans" pitchFamily="34" charset="-122"/>
                <a:cs typeface="Open Sans" pitchFamily="34" charset="-120"/>
              </a:rPr>
              <a:t>References — the verified anchors</a:t>
            </a:r>
            <a:endParaRPr lang="en-US" sz="1200" dirty="0"/>
          </a:p>
        </p:txBody>
      </p:sp>
      <p:sp>
        <p:nvSpPr>
          <p:cNvPr id="8" name="Text 6"/>
          <p:cNvSpPr/>
          <p:nvPr/>
        </p:nvSpPr>
        <p:spPr>
          <a:xfrm>
            <a:off x="1005840" y="4087368"/>
            <a:ext cx="10332720" cy="1463040"/>
          </a:xfrm>
          <a:prstGeom prst="rect">
            <a:avLst/>
          </a:prstGeom>
          <a:noFill/>
          <a:ln/>
        </p:spPr>
        <p:txBody>
          <a:bodyPr wrap="square" lIns="0" tIns="0" rIns="0" bIns="0" rtlCol="0" anchor="t"/>
          <a:lstStyle/>
          <a:p>
            <a:pPr indent="0" marL="0">
              <a:lnSpc>
                <a:spcPct val="122000"/>
              </a:lnSpc>
              <a:buNone/>
            </a:pPr>
            <a:r>
              <a:rPr lang="en-US" sz="1100" dirty="0">
                <a:solidFill>
                  <a:srgbClr val="CFE0D8"/>
                </a:solidFill>
                <a:latin typeface="Open Sans" pitchFamily="34" charset="0"/>
                <a:ea typeface="Open Sans" pitchFamily="34" charset="-122"/>
                <a:cs typeface="Open Sans" pitchFamily="34" charset="-120"/>
              </a:rPr>
              <a:t>Olken, B. (2015), “Promises and Perils of Pre-Analysis Plans,” Journal of Economic Perspectives 29(3):61–80  ·  Callaway, B. &amp; Sant'Anna, P. (2021), “Difference-in-Differences with Multiple Time Periods,” Journal of Econometrics 225(2):200–230  ·  Gao, Liu &amp; Wang, The Rainbow of Municipal Credit (staggered DiD; same-sex-marriage bans &amp; municipal borrowing costs)  ·  Gao &amp; Sun (2019), PNAS 116(19):9293–9302 (fair lending)  ·  Deng, Gao &amp; Kim (2020), Journal of Corporate Finance (Reg SHO natural experiment).</a:t>
            </a:r>
            <a:endParaRPr lang="en-US" sz="1100" dirty="0"/>
          </a:p>
        </p:txBody>
      </p:sp>
      <p:sp>
        <p:nvSpPr>
          <p:cNvPr id="9" name="Text 7"/>
          <p:cNvSpPr/>
          <p:nvPr/>
        </p:nvSpPr>
        <p:spPr>
          <a:xfrm>
            <a:off x="1005840" y="6217920"/>
            <a:ext cx="10332720" cy="365760"/>
          </a:xfrm>
          <a:prstGeom prst="rect">
            <a:avLst/>
          </a:prstGeom>
          <a:noFill/>
          <a:ln/>
        </p:spPr>
        <p:txBody>
          <a:bodyPr wrap="square" lIns="0" tIns="0" rIns="0" bIns="0" rtlCol="0" anchor="ctr"/>
          <a:lstStyle/>
          <a:p>
            <a:pPr indent="0" marL="0">
              <a:buNone/>
            </a:pPr>
            <a:r>
              <a:rPr lang="en-US" sz="1200" i="1" dirty="0">
                <a:solidFill>
                  <a:srgbClr val="8AA396"/>
                </a:solidFill>
                <a:latin typeface="Open Sans" pitchFamily="34" charset="0"/>
                <a:ea typeface="Open Sans" pitchFamily="34" charset="-122"/>
                <a:cs typeface="Open Sans" pitchFamily="34" charset="-120"/>
              </a:rPr>
              <a:t>Prof. Lei Gao  ·  George Mason University  ·  Bring your Pre-Analysis Plan + Identification Memo Friday, August 14 — ready to execute.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NGN Week 7 — Independent Research Project I</dc:title>
  <dc:subject>PptxGenJS Presentation</dc:subject>
  <dc:creator>Prof. Lei Gao</dc:creator>
  <cp:lastModifiedBy>Prof. Lei Gao</cp:lastModifiedBy>
  <cp:revision>1</cp:revision>
  <dcterms:created xsi:type="dcterms:W3CDTF">2026-08-06T00:05:57Z</dcterms:created>
  <dcterms:modified xsi:type="dcterms:W3CDTF">2026-08-06T00:05:57Z</dcterms:modified>
</cp:coreProperties>
</file>